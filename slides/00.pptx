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69" r:id="rId16"/>
    <p:sldId id="270" r:id="rId17"/>
    <p:sldId id="271" r:id="rId18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/>
    <p:restoredTop sz="94658"/>
  </p:normalViewPr>
  <p:slideViewPr>
    <p:cSldViewPr snapToGrid="0">
      <p:cViewPr varScale="1">
        <p:scale>
          <a:sx n="119" d="100"/>
          <a:sy n="119" d="100"/>
        </p:scale>
        <p:origin x="2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D8E939-9ECB-9C46-A248-99A4B8126363}" type="datetimeFigureOut">
              <a:rPr lang="en-JP" smtClean="0"/>
              <a:t>2025/12/04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222822-2BA0-D548-8268-B2F1F6F289DC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05368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72F3E-78FD-FD56-D1E8-8845D482AE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BE503B-E283-FFB5-1C3D-26923B6D11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78AD4-1B15-82C6-CFBE-DFBC54545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5A450-B214-F843-90D3-43D45AB970BF}" type="datetime1">
              <a:rPr lang="en-US" smtClean="0"/>
              <a:t>12/4/25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C26DA0-1CF1-557D-2569-C62B32069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D919E-D7F9-7E66-64FC-4B1F96E58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94434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03845-87DE-5239-2126-94B15D13E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JP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0D30C-3C6E-2CEC-A0F7-E1B2F03BB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DA00A-D67F-88A4-AB93-E71BAD1D8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56E53-50F3-8B41-827D-E71E7A78D7C8}" type="datetime1">
              <a:rPr lang="en-US" smtClean="0"/>
              <a:t>12/4/25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4ACBC-FE6A-82FC-664B-EA7F07A57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26C8E8-3B9B-2C84-C763-F5626F0DD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56683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15A0C-5984-7DC3-DFD1-008E94149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C864F6-E78D-241C-3CE4-080DF997C8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FAE3C-7671-4CA8-500E-7FDFF9EBB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F61-4B41-B048-9345-533AA47C1AFA}" type="datetime1">
              <a:rPr lang="en-US" smtClean="0"/>
              <a:t>12/4/25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35D76-BDD2-DB71-9EA0-095A1E822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F232C-ACA5-8713-0E4C-81477E894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17704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8FC0B-4775-29A3-250F-DCE0788DD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A0DD5-713E-3C65-7468-8F069DE34F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F1EF51-56F2-1B76-E13F-BEF3E924CF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F08EE-038C-EF72-7BBF-797710BCE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C3DDA-75D5-FE45-B27F-09B23348A3CF}" type="datetime1">
              <a:rPr lang="en-US" smtClean="0"/>
              <a:t>12/4/25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35B4C-E759-AA04-7D6A-20943A314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876B68-13A6-CCDE-506D-85249F3EE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44411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DA8AC-5AA9-5062-A3A4-4E35BD53C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8F3058-565A-69F2-D8F4-C4B1B7471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D6A44D-0BAC-460C-CD3D-048B838477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769FC2-836D-5A96-8D78-D574A51604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F544CB-0E5D-DD44-FA09-007B8EF272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9F2551-C822-804E-10CF-460C633C6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16E66-205B-D348-AF09-8C13DA8BDFF9}" type="datetime1">
              <a:rPr lang="en-US" smtClean="0"/>
              <a:t>12/4/25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F0376C-6FEF-7E0C-652E-ADDA981D2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B55E25-6D98-417E-913C-AE1F4DCC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70870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71B3-87A6-6720-9C0D-47E1636C2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CB4BEB-3999-B2BE-620C-682FDA13E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CE9F2-560E-4648-82A4-0C4186C23AAC}" type="datetime1">
              <a:rPr lang="en-US" smtClean="0"/>
              <a:t>12/4/25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A82BF-3A16-D0FC-10A9-F98ED63D9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B7616D-5E5E-1CC0-666D-6B15C9EF3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62765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2D9B6A-053D-BF97-A84A-E96958D5A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4F908-ED62-3949-B616-21C7C363772F}" type="datetime1">
              <a:rPr lang="en-US" smtClean="0"/>
              <a:t>12/4/25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D866BB-7A37-43CC-D6A7-D27952FD7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4629B-456D-1B46-8351-245B048C9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58967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F948F-B182-A67B-2C1B-1DDB25678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9538B-FBE2-988C-0B0C-413117A8AC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32B8AB-DE97-44D1-0C0B-739322A37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D1FC6-4B33-15D6-4C3E-3EBE95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0A505-8893-D540-9413-F8B9ED1E178A}" type="datetime1">
              <a:rPr lang="en-US" smtClean="0"/>
              <a:t>12/4/25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ECC02F-4455-E82C-5E60-DC17F7829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30B19-1665-92A1-A546-81904D12A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8149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5DC14-2F7B-B311-BB01-C62AE6C06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7190FC-485D-54E4-A4C4-88E1E66D4C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F2E8CB-553B-2886-37D1-2EDBC82A63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D2CEED-2F48-ECAB-564B-BCCC9345E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D7CE6-B77F-5744-9AB9-6E4139649818}" type="datetime1">
              <a:rPr lang="en-US" smtClean="0"/>
              <a:t>12/4/25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2B454-A1A8-AB13-B375-1DD06369B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7E627-AD7C-04EA-79D6-B8560C7A2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7831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DF566-5383-88B1-ED4A-8EF998BFE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E97042-728A-D0A9-BA5D-46F1B9D207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8679-B852-A33E-1F73-F70CCA315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6076C-7478-7547-8EE6-BBCC8E0F5965}" type="datetime1">
              <a:rPr lang="en-US" smtClean="0"/>
              <a:t>12/4/25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1B2D1-0458-7A70-2AA3-33C91AED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F1C86-41ED-97A0-ED74-9438101C5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934312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5D9271-2AAE-E625-FFDE-5FD3F3D619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5FD438-20B8-5B97-C1EA-8D516544B9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1AF5A-A8A8-2166-2476-69095BF6B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D9DBC-B76F-1F49-9ACB-B3C63B260788}" type="datetime1">
              <a:rPr lang="en-US" smtClean="0"/>
              <a:t>12/4/25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3963ED-FABA-FB35-D697-F8A2227D4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20B038-D4F7-D703-AE68-6908D8EC4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0855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3C3EBD-729D-51A4-2C88-C8116EC7D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JP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369F51-F6FC-062B-E0ED-86B48482F9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E86B1-5092-EB7F-15F2-DB788D5970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28B759-A9A1-7B41-B30F-900953345635}" type="datetime1">
              <a:rPr lang="en-US" smtClean="0"/>
              <a:t>12/4/25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33BE6A-0849-53E6-3442-9AB85FE5D9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DDE0E-8F82-58EA-0EF1-2252390EBD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B73B5B-4D98-3640-AE9D-0B488B8E4F8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7666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MS PGothic" panose="020B0600070205080204" pitchFamily="34" charset="-128"/>
          <a:ea typeface="MS PGothic" panose="020B0600070205080204" pitchFamily="34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S PGothic" panose="020B0600070205080204" pitchFamily="34" charset="-128"/>
          <a:ea typeface="MS PGothic" panose="020B0600070205080204" pitchFamily="34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S PGothic" panose="020B0600070205080204" pitchFamily="34" charset="-128"/>
          <a:ea typeface="MS PGothic" panose="020B0600070205080204" pitchFamily="34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S PGothic" panose="020B0600070205080204" pitchFamily="34" charset="-128"/>
          <a:ea typeface="MS PGothic" panose="020B0600070205080204" pitchFamily="34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S PGothic" panose="020B0600070205080204" pitchFamily="34" charset="-128"/>
          <a:ea typeface="MS PGothic" panose="020B0600070205080204" pitchFamily="34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S PGothic" panose="020B0600070205080204" pitchFamily="34" charset="-128"/>
          <a:ea typeface="MS PGothic" panose="020B0600070205080204" pitchFamily="34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C8BFA-9907-583B-C845-26862BF494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序章</a:t>
            </a:r>
            <a:br>
              <a:rPr lang="en-US" altLang="ja-JP" dirty="0">
                <a:latin typeface="MS PGothic" panose="020B0600070205080204" pitchFamily="34" charset="-128"/>
                <a:ea typeface="MS PGothic" panose="020B0600070205080204" pitchFamily="34" charset="-128"/>
              </a:rPr>
            </a:br>
            <a:r>
              <a:rPr lang="ja-JP" altLang="en-US">
                <a:latin typeface="MS PGothic" panose="020B0600070205080204" pitchFamily="34" charset="-128"/>
                <a:ea typeface="MS PGothic" panose="020B0600070205080204" pitchFamily="34" charset="-128"/>
              </a:rPr>
              <a:t>国際経済学は</a:t>
            </a:r>
            <a:br>
              <a:rPr lang="ja-JP" altLang="en-US">
                <a:latin typeface="MS PGothic" panose="020B0600070205080204" pitchFamily="34" charset="-128"/>
                <a:ea typeface="MS PGothic" panose="020B0600070205080204" pitchFamily="34" charset="-128"/>
              </a:rPr>
            </a:br>
            <a:r>
              <a:rPr lang="ja-JP" altLang="en-US">
                <a:latin typeface="MS PGothic" panose="020B0600070205080204" pitchFamily="34" charset="-128"/>
                <a:ea typeface="MS PGothic" panose="020B0600070205080204" pitchFamily="34" charset="-128"/>
              </a:rPr>
              <a:t>社会にどう役立つか</a:t>
            </a:r>
            <a:endParaRPr lang="en-JP" dirty="0">
              <a:latin typeface="MS PGothic" panose="020B0600070205080204" pitchFamily="34" charset="-128"/>
              <a:ea typeface="MS PGothic" panose="020B0600070205080204" pitchFamily="34" charset="-128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9DB6E-69F3-D12C-E622-BD81B5440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09272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DFFA-EB5F-E743-0A01-1DD9D04B6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1</a:t>
            </a:r>
            <a:r>
              <a:rPr lang="ja-JP" altLang="en-US"/>
              <a:t>　グローバル</a:t>
            </a:r>
            <a:r>
              <a:rPr lang="zh-CN" altLang="en-US" dirty="0"/>
              <a:t>化</a:t>
            </a:r>
            <a:r>
              <a:rPr lang="ja-JP" altLang="en-US"/>
              <a:t>とは</a:t>
            </a:r>
            <a:endParaRPr lang="en-JP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5E98F-34C9-A85F-F507-D8A6F99F00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私</a:t>
            </a:r>
            <a:r>
              <a:rPr lang="ja-JP" altLang="en-US"/>
              <a:t>たちの</a:t>
            </a:r>
            <a:r>
              <a:rPr lang="zh-CN" altLang="en-US" dirty="0"/>
              <a:t>身</a:t>
            </a:r>
            <a:r>
              <a:rPr lang="ja-JP" altLang="en-US"/>
              <a:t>の</a:t>
            </a:r>
            <a:r>
              <a:rPr lang="zh-CN" altLang="en-US" dirty="0"/>
              <a:t>回</a:t>
            </a:r>
            <a:r>
              <a:rPr lang="ja-JP" altLang="en-US"/>
              <a:t>りの</a:t>
            </a:r>
            <a:r>
              <a:rPr lang="zh-CN" altLang="en-US" dirty="0"/>
              <a:t>製品</a:t>
            </a:r>
            <a:r>
              <a:rPr lang="ja-JP" altLang="en-US"/>
              <a:t>の</a:t>
            </a:r>
            <a:r>
              <a:rPr lang="zh-CN" altLang="en-US" dirty="0"/>
              <a:t>多</a:t>
            </a:r>
            <a:r>
              <a:rPr lang="ja-JP" altLang="en-US"/>
              <a:t>くは</a:t>
            </a:r>
            <a:r>
              <a:rPr lang="zh-CN" altLang="en-US" dirty="0"/>
              <a:t>他国</a:t>
            </a:r>
            <a:r>
              <a:rPr lang="ja-JP" altLang="en-US"/>
              <a:t>と</a:t>
            </a:r>
            <a:r>
              <a:rPr lang="zh-CN" altLang="en-US" dirty="0"/>
              <a:t>貿易</a:t>
            </a:r>
            <a:r>
              <a:rPr lang="ja-JP" altLang="en-US"/>
              <a:t>されている。</a:t>
            </a:r>
            <a:endParaRPr lang="en-US" altLang="ja-JP" dirty="0"/>
          </a:p>
          <a:p>
            <a:pPr lvl="1"/>
            <a:r>
              <a:rPr lang="zh-CN" altLang="en-US" dirty="0"/>
              <a:t>衣服</a:t>
            </a:r>
            <a:r>
              <a:rPr lang="ja-JP" altLang="en-US"/>
              <a:t>や</a:t>
            </a:r>
            <a:r>
              <a:rPr lang="zh-CN" altLang="en-US" dirty="0"/>
              <a:t>靴、食品</a:t>
            </a:r>
            <a:r>
              <a:rPr lang="ja-JP" altLang="en-US"/>
              <a:t>，</a:t>
            </a:r>
            <a:endParaRPr lang="en-US" altLang="ja-JP" dirty="0"/>
          </a:p>
          <a:p>
            <a:r>
              <a:rPr lang="zh-CN" altLang="en-US" dirty="0"/>
              <a:t>国産</a:t>
            </a:r>
            <a:r>
              <a:rPr lang="ja-JP" altLang="en-US"/>
              <a:t>の</a:t>
            </a:r>
            <a:r>
              <a:rPr lang="zh-CN" altLang="en-US" dirty="0"/>
              <a:t>製品</a:t>
            </a:r>
            <a:r>
              <a:rPr lang="ja-JP" altLang="en-US"/>
              <a:t>であっても</a:t>
            </a:r>
            <a:r>
              <a:rPr lang="zh-CN" altLang="en-US" dirty="0"/>
              <a:t>使用</a:t>
            </a:r>
            <a:r>
              <a:rPr lang="ja-JP" altLang="en-US"/>
              <a:t>されている</a:t>
            </a:r>
            <a:r>
              <a:rPr lang="zh-CN" altLang="en-US" dirty="0"/>
              <a:t>部品</a:t>
            </a:r>
            <a:r>
              <a:rPr lang="ja-JP" altLang="en-US"/>
              <a:t>が</a:t>
            </a:r>
            <a:r>
              <a:rPr lang="zh-CN" altLang="en-US" dirty="0"/>
              <a:t>外国産</a:t>
            </a:r>
            <a:endParaRPr lang="en-US" altLang="zh-CN" dirty="0"/>
          </a:p>
          <a:p>
            <a:pPr lvl="1"/>
            <a:r>
              <a:rPr lang="zh-CN" altLang="en-US" dirty="0"/>
              <a:t>た</a:t>
            </a:r>
            <a:r>
              <a:rPr lang="ja-JP" altLang="en-US"/>
              <a:t>とえば，</a:t>
            </a:r>
            <a:r>
              <a:rPr lang="zh-CN" altLang="en-US" dirty="0"/>
              <a:t>ス</a:t>
            </a:r>
            <a:r>
              <a:rPr lang="ja-JP" altLang="en-US"/>
              <a:t>マートフォン</a:t>
            </a:r>
            <a:endParaRPr lang="en-US" altLang="ja-JP" dirty="0"/>
          </a:p>
          <a:p>
            <a:r>
              <a:rPr lang="ja-JP" altLang="en-US"/>
              <a:t>すべて</a:t>
            </a:r>
            <a:r>
              <a:rPr lang="zh-CN" altLang="en-US" dirty="0"/>
              <a:t>国産品</a:t>
            </a:r>
            <a:r>
              <a:rPr lang="ja-JP" altLang="en-US"/>
              <a:t>でまかなおうとすると，</a:t>
            </a:r>
            <a:r>
              <a:rPr lang="zh-CN" altLang="en-US" dirty="0"/>
              <a:t>生産</a:t>
            </a:r>
            <a:r>
              <a:rPr lang="ja-JP" altLang="en-US"/>
              <a:t>コストが</a:t>
            </a:r>
            <a:r>
              <a:rPr lang="zh-CN" altLang="en-US" dirty="0"/>
              <a:t>上</a:t>
            </a:r>
            <a:r>
              <a:rPr lang="ja-JP" altLang="en-US"/>
              <a:t>がったり，なかには</a:t>
            </a:r>
            <a:r>
              <a:rPr lang="zh-CN" altLang="en-US" dirty="0"/>
              <a:t>国産</a:t>
            </a:r>
            <a:r>
              <a:rPr lang="ja-JP" altLang="en-US"/>
              <a:t>でまかなうことが</a:t>
            </a:r>
            <a:r>
              <a:rPr lang="zh-CN" altLang="en-US" dirty="0"/>
              <a:t>困難</a:t>
            </a:r>
            <a:r>
              <a:rPr lang="ja-JP" altLang="en-US"/>
              <a:t>な</a:t>
            </a:r>
            <a:r>
              <a:rPr lang="zh-CN" altLang="en-US" dirty="0"/>
              <a:t>原材料</a:t>
            </a:r>
            <a:r>
              <a:rPr lang="ja-JP" altLang="en-US"/>
              <a:t>や</a:t>
            </a:r>
            <a:r>
              <a:rPr lang="zh-CN" altLang="en-US" dirty="0"/>
              <a:t>部品</a:t>
            </a:r>
            <a:r>
              <a:rPr lang="ja-JP" altLang="en-US"/>
              <a:t>も</a:t>
            </a:r>
            <a:r>
              <a:rPr lang="zh-CN" altLang="en-US" dirty="0"/>
              <a:t>存在</a:t>
            </a:r>
            <a:r>
              <a:rPr lang="ja-JP" altLang="en-US"/>
              <a:t>。</a:t>
            </a:r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B8CA9-B7AF-AB66-57A9-B508B960E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8639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0C92C-38B9-9EDA-8D83-EEA012B28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/>
              <a:t>多様な財の消費を可能にするグローバル化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AC632-C64A-969E-9167-51D99A564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同</a:t>
            </a:r>
            <a:r>
              <a:rPr lang="ja-JP" altLang="en-US"/>
              <a:t>じ</a:t>
            </a:r>
            <a:r>
              <a:rPr lang="zh-CN" altLang="en-US" dirty="0"/>
              <a:t>商品</a:t>
            </a:r>
            <a:r>
              <a:rPr lang="ja-JP" altLang="en-US"/>
              <a:t>であっても，</a:t>
            </a:r>
            <a:r>
              <a:rPr lang="zh-CN" altLang="en-US" dirty="0"/>
              <a:t>国</a:t>
            </a:r>
            <a:r>
              <a:rPr lang="ja-JP" altLang="en-US"/>
              <a:t>やブラン ドによって</a:t>
            </a:r>
            <a:r>
              <a:rPr lang="zh-CN" altLang="en-US" dirty="0"/>
              <a:t>異</a:t>
            </a:r>
            <a:r>
              <a:rPr lang="ja-JP" altLang="en-US"/>
              <a:t>なる</a:t>
            </a:r>
            <a:r>
              <a:rPr lang="zh-CN" altLang="en-US" dirty="0"/>
              <a:t>商品</a:t>
            </a:r>
            <a:r>
              <a:rPr lang="ja-JP" altLang="en-US"/>
              <a:t>ラインアップがあった</a:t>
            </a:r>
            <a:r>
              <a:rPr lang="zh-CN" altLang="en-US" dirty="0"/>
              <a:t>方</a:t>
            </a:r>
            <a:r>
              <a:rPr lang="ja-JP" altLang="en-US"/>
              <a:t>が</a:t>
            </a:r>
            <a:r>
              <a:rPr lang="zh-CN" altLang="en-US" dirty="0"/>
              <a:t>消費者</a:t>
            </a:r>
            <a:r>
              <a:rPr lang="ja-JP" altLang="en-US"/>
              <a:t>は</a:t>
            </a:r>
            <a:r>
              <a:rPr lang="zh-CN" altLang="en-US" dirty="0"/>
              <a:t>豊</a:t>
            </a:r>
            <a:r>
              <a:rPr lang="ja-JP" altLang="en-US"/>
              <a:t>かに</a:t>
            </a:r>
            <a:r>
              <a:rPr lang="zh-CN" altLang="en-US" dirty="0"/>
              <a:t>感</a:t>
            </a:r>
            <a:r>
              <a:rPr lang="ja-JP" altLang="en-US"/>
              <a:t>じるはずである。</a:t>
            </a:r>
            <a:endParaRPr lang="en-US" altLang="ja-JP" dirty="0"/>
          </a:p>
          <a:p>
            <a:pPr lvl="1"/>
            <a:r>
              <a:rPr lang="ja-JP" altLang="en-US"/>
              <a:t>カルディコーヒーファーム</a:t>
            </a:r>
            <a:endParaRPr lang="en-US" altLang="ja-JP" dirty="0"/>
          </a:p>
          <a:p>
            <a:pPr lvl="2"/>
            <a:r>
              <a:rPr lang="ja-JP" altLang="en-US"/>
              <a:t>コーヒーやワインをはじめ</a:t>
            </a:r>
            <a:r>
              <a:rPr lang="zh-CN" altLang="en-US" dirty="0"/>
              <a:t>調味料</a:t>
            </a:r>
            <a:r>
              <a:rPr lang="ja-JP" altLang="en-US"/>
              <a:t>などさ まざまな</a:t>
            </a:r>
            <a:r>
              <a:rPr lang="zh-CN" altLang="en-US" dirty="0"/>
              <a:t>国</a:t>
            </a:r>
            <a:r>
              <a:rPr lang="ja-JP" altLang="en-US"/>
              <a:t>のバラエティ</a:t>
            </a:r>
            <a:r>
              <a:rPr lang="zh-CN" altLang="en-US" dirty="0"/>
              <a:t>豊</a:t>
            </a:r>
            <a:r>
              <a:rPr lang="ja-JP" altLang="en-US"/>
              <a:t>かな</a:t>
            </a:r>
            <a:r>
              <a:rPr lang="zh-CN" altLang="en-US" dirty="0"/>
              <a:t>商品</a:t>
            </a:r>
            <a:endParaRPr lang="en-US" altLang="zh-CN" dirty="0"/>
          </a:p>
          <a:p>
            <a:r>
              <a:rPr lang="ja-JP" altLang="en-US"/>
              <a:t>サービスの輸入</a:t>
            </a:r>
            <a:endParaRPr lang="en-US" altLang="ja-JP" dirty="0"/>
          </a:p>
          <a:p>
            <a:pPr lvl="1"/>
            <a:r>
              <a:rPr lang="ja-JP" altLang="en-US"/>
              <a:t>ハンバーガー・ ショップのシェイクシャック（アメリカ）での外食</a:t>
            </a:r>
            <a:endParaRPr lang="en-US" altLang="ja-JP" dirty="0"/>
          </a:p>
          <a:p>
            <a:r>
              <a:rPr lang="ja-JP" altLang="en-US"/>
              <a:t>デジタル</a:t>
            </a:r>
            <a:r>
              <a:rPr lang="zh-CN" altLang="en-US" dirty="0"/>
              <a:t>経済</a:t>
            </a:r>
            <a:r>
              <a:rPr lang="ja-JP" altLang="en-US"/>
              <a:t>の</a:t>
            </a:r>
            <a:r>
              <a:rPr lang="zh-CN" altLang="en-US" dirty="0"/>
              <a:t>進展</a:t>
            </a:r>
            <a:r>
              <a:rPr lang="ja-JP" altLang="en-US"/>
              <a:t>による</a:t>
            </a:r>
            <a:r>
              <a:rPr lang="zh-CN" altLang="en-US" dirty="0"/>
              <a:t>国境</a:t>
            </a:r>
            <a:r>
              <a:rPr lang="ja-JP" altLang="en-US"/>
              <a:t>を</a:t>
            </a:r>
            <a:r>
              <a:rPr lang="zh-CN" altLang="en-US" dirty="0"/>
              <a:t>越</a:t>
            </a:r>
            <a:r>
              <a:rPr lang="ja-JP" altLang="en-US"/>
              <a:t>えたデ ータ</a:t>
            </a:r>
            <a:r>
              <a:rPr lang="zh-CN" altLang="en-US" dirty="0"/>
              <a:t>移転</a:t>
            </a:r>
            <a:r>
              <a:rPr lang="ja-JP" altLang="en-US"/>
              <a:t>を</a:t>
            </a:r>
            <a:r>
              <a:rPr lang="zh-CN" altLang="en-US" dirty="0"/>
              <a:t>伴</a:t>
            </a:r>
            <a:r>
              <a:rPr lang="ja-JP" altLang="en-US"/>
              <a:t>う</a:t>
            </a:r>
            <a:r>
              <a:rPr lang="zh-CN" altLang="en-US" dirty="0"/>
              <a:t>新</a:t>
            </a:r>
            <a:r>
              <a:rPr lang="ja-JP" altLang="en-US"/>
              <a:t>しいサービス</a:t>
            </a:r>
            <a:endParaRPr lang="en-US" altLang="ja-JP" dirty="0"/>
          </a:p>
          <a:p>
            <a:pPr lvl="1"/>
            <a:r>
              <a:rPr lang="en-US" dirty="0"/>
              <a:t>Netflix </a:t>
            </a:r>
            <a:r>
              <a:rPr lang="ja-JP" altLang="en-US"/>
              <a:t>などで</a:t>
            </a:r>
            <a:r>
              <a:rPr lang="zh-CN" altLang="en-US" dirty="0"/>
              <a:t>動画視聴</a:t>
            </a:r>
            <a:r>
              <a:rPr lang="ja-JP" altLang="en-US"/>
              <a:t>サービス，スマホアプリを</a:t>
            </a:r>
            <a:r>
              <a:rPr lang="zh-CN" altLang="en-US" dirty="0"/>
              <a:t>利用</a:t>
            </a:r>
            <a:r>
              <a:rPr lang="ja-JP" altLang="en-US"/>
              <a:t>した</a:t>
            </a:r>
            <a:r>
              <a:rPr lang="zh-CN" altLang="en-US" dirty="0"/>
              <a:t>海外</a:t>
            </a:r>
            <a:r>
              <a:rPr lang="ja-JP" altLang="en-US"/>
              <a:t>のゲームやソフトウェア。</a:t>
            </a:r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08439-EF94-5CA9-1A0C-B3380FD1A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01770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7D8C6-00F2-E65B-E07F-116BE8CE7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グローバル</a:t>
            </a:r>
            <a:r>
              <a:rPr lang="zh-CN" altLang="en-US" dirty="0"/>
              <a:t>化</a:t>
            </a:r>
            <a:r>
              <a:rPr lang="ja-JP" altLang="en-US"/>
              <a:t>の</a:t>
            </a:r>
            <a:r>
              <a:rPr lang="zh-CN" altLang="en-US" dirty="0"/>
              <a:t>恩恵</a:t>
            </a:r>
            <a:endParaRPr lang="en-JP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DF80B-367A-584C-7275-0AA87F236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highlight>
                  <a:srgbClr val="FFFF00"/>
                </a:highlight>
              </a:rPr>
              <a:t>多</a:t>
            </a:r>
            <a:r>
              <a:rPr lang="ja-JP" altLang="en-US">
                <a:highlight>
                  <a:srgbClr val="FFFF00"/>
                </a:highlight>
              </a:rPr>
              <a:t>くの</a:t>
            </a:r>
            <a:r>
              <a:rPr lang="zh-CN" altLang="en-US" dirty="0">
                <a:highlight>
                  <a:srgbClr val="FFFF00"/>
                </a:highlight>
              </a:rPr>
              <a:t>人</a:t>
            </a:r>
            <a:r>
              <a:rPr lang="ja-JP" altLang="en-US">
                <a:highlight>
                  <a:srgbClr val="FFFF00"/>
                </a:highlight>
              </a:rPr>
              <a:t>がモノやサービスの</a:t>
            </a:r>
            <a:r>
              <a:rPr lang="zh-CN" altLang="en-US" dirty="0">
                <a:highlight>
                  <a:srgbClr val="FFFF00"/>
                </a:highlight>
              </a:rPr>
              <a:t>消費</a:t>
            </a:r>
            <a:r>
              <a:rPr lang="ja-JP" altLang="en-US">
                <a:highlight>
                  <a:srgbClr val="FFFF00"/>
                </a:highlight>
              </a:rPr>
              <a:t>を</a:t>
            </a:r>
            <a:r>
              <a:rPr lang="zh-CN" altLang="en-US" dirty="0">
                <a:highlight>
                  <a:srgbClr val="FFFF00"/>
                </a:highlight>
              </a:rPr>
              <a:t>通</a:t>
            </a:r>
            <a:r>
              <a:rPr lang="ja-JP" altLang="en-US">
                <a:highlight>
                  <a:srgbClr val="FFFF00"/>
                </a:highlight>
              </a:rPr>
              <a:t>じて</a:t>
            </a:r>
            <a:r>
              <a:rPr lang="zh-CN" altLang="en-US" dirty="0">
                <a:highlight>
                  <a:srgbClr val="FFFF00"/>
                </a:highlight>
              </a:rPr>
              <a:t>日常的</a:t>
            </a:r>
            <a:r>
              <a:rPr lang="ja-JP" altLang="en-US">
                <a:highlight>
                  <a:srgbClr val="FFFF00"/>
                </a:highlight>
              </a:rPr>
              <a:t>にグローバル</a:t>
            </a:r>
            <a:r>
              <a:rPr lang="zh-CN" altLang="en-US" dirty="0">
                <a:highlight>
                  <a:srgbClr val="FFFF00"/>
                </a:highlight>
              </a:rPr>
              <a:t>化</a:t>
            </a:r>
            <a:r>
              <a:rPr lang="ja-JP" altLang="en-US">
                <a:highlight>
                  <a:srgbClr val="FFFF00"/>
                </a:highlight>
              </a:rPr>
              <a:t>の</a:t>
            </a:r>
            <a:r>
              <a:rPr lang="zh-CN" altLang="en-US" dirty="0">
                <a:highlight>
                  <a:srgbClr val="FFFF00"/>
                </a:highlight>
              </a:rPr>
              <a:t>恩恵</a:t>
            </a:r>
            <a:r>
              <a:rPr lang="ja-JP" altLang="en-US"/>
              <a:t>を</a:t>
            </a:r>
            <a:r>
              <a:rPr lang="zh-CN" altLang="en-US" dirty="0"/>
              <a:t>受</a:t>
            </a:r>
            <a:r>
              <a:rPr lang="ja-JP" altLang="en-US"/>
              <a:t>けており，</a:t>
            </a:r>
            <a:r>
              <a:rPr lang="zh-CN" altLang="en-US" dirty="0"/>
              <a:t>消費者</a:t>
            </a:r>
            <a:r>
              <a:rPr lang="ja-JP" altLang="en-US"/>
              <a:t>の</a:t>
            </a:r>
            <a:r>
              <a:rPr lang="zh-CN" altLang="en-US" dirty="0"/>
              <a:t>利益</a:t>
            </a:r>
            <a:r>
              <a:rPr lang="ja-JP" altLang="en-US"/>
              <a:t>という</a:t>
            </a:r>
            <a:r>
              <a:rPr lang="zh-CN" altLang="en-US" dirty="0"/>
              <a:t>観点</a:t>
            </a:r>
            <a:r>
              <a:rPr lang="ja-JP" altLang="en-US"/>
              <a:t>からは，</a:t>
            </a:r>
            <a:r>
              <a:rPr lang="zh-CN" altLang="en-US" dirty="0"/>
              <a:t>外国</a:t>
            </a:r>
            <a:r>
              <a:rPr lang="ja-JP" altLang="en-US"/>
              <a:t>との</a:t>
            </a:r>
            <a:r>
              <a:rPr lang="zh-CN" altLang="en-US" dirty="0"/>
              <a:t>経済取引</a:t>
            </a:r>
            <a:r>
              <a:rPr lang="ja-JP" altLang="en-US"/>
              <a:t>が</a:t>
            </a:r>
            <a:r>
              <a:rPr lang="zh-CN" altLang="en-US" dirty="0"/>
              <a:t>自由</a:t>
            </a:r>
            <a:r>
              <a:rPr lang="ja-JP" altLang="en-US"/>
              <a:t>に</a:t>
            </a:r>
            <a:r>
              <a:rPr lang="zh-CN" altLang="en-US" dirty="0"/>
              <a:t>行</a:t>
            </a:r>
            <a:r>
              <a:rPr lang="ja-JP" altLang="en-US"/>
              <a:t>われることが</a:t>
            </a:r>
            <a:r>
              <a:rPr lang="zh-CN" altLang="en-US" dirty="0"/>
              <a:t>基本的</a:t>
            </a:r>
            <a:r>
              <a:rPr lang="ja-JP" altLang="en-US"/>
              <a:t>には</a:t>
            </a:r>
            <a:r>
              <a:rPr lang="zh-CN" altLang="en-US" dirty="0"/>
              <a:t>重要</a:t>
            </a:r>
            <a:r>
              <a:rPr lang="ja-JP" altLang="en-US"/>
              <a:t>。</a:t>
            </a:r>
            <a:endParaRPr lang="en-US" altLang="ja-JP" dirty="0"/>
          </a:p>
          <a:p>
            <a:r>
              <a:rPr lang="zh-CN" altLang="en-US" dirty="0">
                <a:highlight>
                  <a:srgbClr val="FFFF00"/>
                </a:highlight>
              </a:rPr>
              <a:t>国際経済学</a:t>
            </a:r>
            <a:r>
              <a:rPr lang="ja-JP" altLang="en-US"/>
              <a:t>でも，</a:t>
            </a:r>
            <a:r>
              <a:rPr lang="zh-CN" altLang="en-US" dirty="0"/>
              <a:t>多</a:t>
            </a:r>
            <a:r>
              <a:rPr lang="ja-JP" altLang="en-US"/>
              <a:t>くの</a:t>
            </a:r>
            <a:r>
              <a:rPr lang="zh-CN" altLang="en-US" dirty="0"/>
              <a:t>場合</a:t>
            </a:r>
            <a:r>
              <a:rPr lang="ja-JP" altLang="en-US"/>
              <a:t>に</a:t>
            </a:r>
            <a:r>
              <a:rPr lang="zh-CN" altLang="en-US" dirty="0">
                <a:highlight>
                  <a:srgbClr val="FFFF00"/>
                </a:highlight>
              </a:rPr>
              <a:t>自由貿易</a:t>
            </a:r>
            <a:r>
              <a:rPr lang="ja-JP" altLang="en-US">
                <a:highlight>
                  <a:srgbClr val="FFFF00"/>
                </a:highlight>
              </a:rPr>
              <a:t>が</a:t>
            </a:r>
            <a:r>
              <a:rPr lang="zh-CN" altLang="en-US" dirty="0">
                <a:highlight>
                  <a:srgbClr val="FFFF00"/>
                </a:highlight>
              </a:rPr>
              <a:t>望</a:t>
            </a:r>
            <a:r>
              <a:rPr lang="ja-JP" altLang="en-US">
                <a:highlight>
                  <a:srgbClr val="FFFF00"/>
                </a:highlight>
              </a:rPr>
              <a:t>ましい</a:t>
            </a:r>
            <a:r>
              <a:rPr lang="ja-JP" altLang="en-US"/>
              <a:t>ことが</a:t>
            </a:r>
            <a:r>
              <a:rPr lang="zh-CN" altLang="en-US" dirty="0"/>
              <a:t>理論的，実証的</a:t>
            </a:r>
            <a:r>
              <a:rPr lang="ja-JP" altLang="en-US"/>
              <a:t>に</a:t>
            </a:r>
            <a:r>
              <a:rPr lang="zh-CN" altLang="en-US" dirty="0"/>
              <a:t>示</a:t>
            </a:r>
            <a:r>
              <a:rPr lang="ja-JP" altLang="en-US"/>
              <a:t>されており，</a:t>
            </a:r>
            <a:r>
              <a:rPr lang="zh-CN" altLang="en-US" dirty="0"/>
              <a:t>経済学者</a:t>
            </a:r>
            <a:r>
              <a:rPr lang="ja-JP" altLang="en-US"/>
              <a:t>は</a:t>
            </a:r>
            <a:r>
              <a:rPr lang="zh-CN" altLang="en-US" dirty="0"/>
              <a:t>高</a:t>
            </a:r>
            <a:r>
              <a:rPr lang="ja-JP" altLang="en-US"/>
              <a:t>い</a:t>
            </a:r>
            <a:r>
              <a:rPr lang="zh-CN" altLang="en-US" dirty="0"/>
              <a:t>割合</a:t>
            </a:r>
            <a:r>
              <a:rPr lang="ja-JP" altLang="en-US"/>
              <a:t>で</a:t>
            </a:r>
            <a:r>
              <a:rPr lang="zh-CN" altLang="en-US" dirty="0"/>
              <a:t>自由貿易</a:t>
            </a:r>
            <a:r>
              <a:rPr lang="ja-JP" altLang="en-US"/>
              <a:t>を</a:t>
            </a:r>
            <a:r>
              <a:rPr lang="zh-CN" altLang="en-US" dirty="0"/>
              <a:t>支持</a:t>
            </a:r>
            <a:r>
              <a:rPr lang="ja-JP" altLang="en-US"/>
              <a:t>。</a:t>
            </a:r>
            <a:endParaRPr lang="en-US" altLang="ja-JP" dirty="0"/>
          </a:p>
          <a:p>
            <a:r>
              <a:rPr lang="ja-JP" altLang="en-US"/>
              <a:t>また，</a:t>
            </a:r>
            <a:r>
              <a:rPr lang="zh-CN" altLang="en-US" dirty="0"/>
              <a:t>一般</a:t>
            </a:r>
            <a:r>
              <a:rPr lang="ja-JP" altLang="en-US"/>
              <a:t>の</a:t>
            </a:r>
            <a:r>
              <a:rPr lang="zh-CN" altLang="en-US" dirty="0"/>
              <a:t>国民</a:t>
            </a:r>
            <a:r>
              <a:rPr lang="ja-JP" altLang="en-US"/>
              <a:t>に</a:t>
            </a:r>
            <a:r>
              <a:rPr lang="zh-CN" altLang="en-US" dirty="0"/>
              <a:t>対</a:t>
            </a:r>
            <a:r>
              <a:rPr lang="ja-JP" altLang="en-US"/>
              <a:t>する</a:t>
            </a:r>
            <a:r>
              <a:rPr lang="zh-CN" altLang="en-US" dirty="0"/>
              <a:t>世論調査</a:t>
            </a:r>
            <a:r>
              <a:rPr lang="ja-JP" altLang="en-US"/>
              <a:t>でも，</a:t>
            </a:r>
            <a:r>
              <a:rPr lang="zh-CN" altLang="en-US" dirty="0"/>
              <a:t>過半</a:t>
            </a:r>
            <a:r>
              <a:rPr lang="ja-JP" altLang="en-US"/>
              <a:t>の</a:t>
            </a:r>
            <a:r>
              <a:rPr lang="zh-CN" altLang="en-US" dirty="0"/>
              <a:t>人</a:t>
            </a:r>
            <a:r>
              <a:rPr lang="ja-JP" altLang="en-US"/>
              <a:t>が</a:t>
            </a:r>
            <a:r>
              <a:rPr lang="zh-CN" altLang="en-US" dirty="0"/>
              <a:t>貿易</a:t>
            </a:r>
            <a:r>
              <a:rPr lang="ja-JP" altLang="en-US"/>
              <a:t>は</a:t>
            </a:r>
            <a:r>
              <a:rPr lang="zh-CN" altLang="en-US" dirty="0"/>
              <a:t>良</a:t>
            </a:r>
            <a:r>
              <a:rPr lang="ja-JP" altLang="en-US"/>
              <a:t>いことであると</a:t>
            </a:r>
            <a:r>
              <a:rPr lang="zh-CN" altLang="en-US" dirty="0"/>
              <a:t>回答</a:t>
            </a:r>
            <a:r>
              <a:rPr lang="ja-JP" altLang="en-US"/>
              <a:t>。</a:t>
            </a:r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25AB-4AAE-A663-B129-72A11FC6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2338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6EA06-07AA-0ED6-7C30-6D3ABCB74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600"/>
              <a:t>グローバル</a:t>
            </a:r>
            <a:r>
              <a:rPr lang="zh-CN" altLang="en-US" sz="3600" dirty="0"/>
              <a:t>化</a:t>
            </a:r>
            <a:r>
              <a:rPr lang="ja-JP" altLang="en-US" sz="3600"/>
              <a:t>を</a:t>
            </a:r>
            <a:r>
              <a:rPr lang="zh-CN" altLang="en-US" sz="3600" dirty="0"/>
              <a:t>分析</a:t>
            </a:r>
            <a:r>
              <a:rPr lang="ja-JP" altLang="en-US" sz="3600"/>
              <a:t>する</a:t>
            </a:r>
            <a:r>
              <a:rPr lang="zh-CN" altLang="en-US" sz="3600" dirty="0"/>
              <a:t>学問</a:t>
            </a:r>
            <a:r>
              <a:rPr lang="ja-JP" altLang="en-US" sz="3600"/>
              <a:t>としての</a:t>
            </a:r>
            <a:r>
              <a:rPr lang="zh-CN" altLang="en-US" sz="3600" dirty="0"/>
              <a:t>国際経済学</a:t>
            </a:r>
            <a:endParaRPr lang="en-JP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C71DE-0800-99D4-DD0D-FE50B596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/>
              <a:t>多層的な</a:t>
            </a:r>
            <a:r>
              <a:rPr lang="ja-JP" altLang="en-US">
                <a:highlight>
                  <a:srgbClr val="FFFF00"/>
                </a:highlight>
              </a:rPr>
              <a:t>グローバル</a:t>
            </a:r>
            <a:r>
              <a:rPr lang="zh-CN" altLang="en-US" dirty="0">
                <a:highlight>
                  <a:srgbClr val="FFFF00"/>
                </a:highlight>
              </a:rPr>
              <a:t>化</a:t>
            </a:r>
            <a:endParaRPr lang="en-US" altLang="zh-CN" dirty="0">
              <a:highlight>
                <a:srgbClr val="FFFF00"/>
              </a:highlight>
            </a:endParaRPr>
          </a:p>
          <a:p>
            <a:pPr lvl="1"/>
            <a:r>
              <a:rPr lang="ja-JP" altLang="en-US"/>
              <a:t>モノ・・・国際貿易</a:t>
            </a:r>
            <a:endParaRPr lang="en-US" altLang="ja-JP" dirty="0"/>
          </a:p>
          <a:p>
            <a:pPr lvl="1"/>
            <a:r>
              <a:rPr lang="ja-JP" altLang="en-US"/>
              <a:t>サービス・・・国際貿易</a:t>
            </a:r>
            <a:endParaRPr lang="en-US" altLang="ja-JP" dirty="0"/>
          </a:p>
          <a:p>
            <a:pPr lvl="1"/>
            <a:r>
              <a:rPr lang="zh-CN" altLang="en-US" dirty="0"/>
              <a:t>資金・・・国際投資</a:t>
            </a:r>
            <a:endParaRPr lang="en-US" altLang="zh-CN" dirty="0"/>
          </a:p>
          <a:p>
            <a:pPr lvl="1"/>
            <a:r>
              <a:rPr lang="zh-CN" altLang="en-US" dirty="0"/>
              <a:t>人・・・移民・国際観光・留学</a:t>
            </a:r>
            <a:endParaRPr lang="en-US" altLang="zh-CN" dirty="0"/>
          </a:p>
          <a:p>
            <a:pPr lvl="1"/>
            <a:r>
              <a:rPr lang="zh-CN" altLang="en-US" dirty="0"/>
              <a:t>企業・・国際投資</a:t>
            </a:r>
            <a:r>
              <a:rPr lang="en-US" altLang="zh-CN" dirty="0"/>
              <a:t>/</a:t>
            </a:r>
            <a:r>
              <a:rPr lang="zh-CN" altLang="en-US" dirty="0"/>
              <a:t>サービス貿易</a:t>
            </a:r>
            <a:endParaRPr lang="en-US" altLang="zh-CN" dirty="0"/>
          </a:p>
          <a:p>
            <a:pPr lvl="1"/>
            <a:r>
              <a:rPr lang="zh-CN" altLang="en-US" dirty="0"/>
              <a:t>業務</a:t>
            </a:r>
            <a:endParaRPr lang="en-US" altLang="zh-CN" dirty="0"/>
          </a:p>
          <a:p>
            <a:pPr lvl="1"/>
            <a:r>
              <a:rPr lang="zh-CN" altLang="en-US" dirty="0"/>
              <a:t>技術</a:t>
            </a:r>
            <a:r>
              <a:rPr lang="ja-JP" altLang="en-US"/>
              <a:t>やアイデア</a:t>
            </a: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047B6-EF4B-AC83-085E-1B3DA0CDF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42720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D33DD-89F9-B342-02BA-FD80D8786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/>
              <a:t>国際経済学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55FAB-EEF7-8F85-42BC-50EC3FC3F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伝統的には、国際経済学</a:t>
            </a:r>
            <a:r>
              <a:rPr lang="ja-JP" altLang="en-US"/>
              <a:t>は，</a:t>
            </a:r>
            <a:r>
              <a:rPr lang="zh-CN" altLang="en-US" dirty="0"/>
              <a:t>国境</a:t>
            </a:r>
            <a:r>
              <a:rPr lang="ja-JP" altLang="en-US"/>
              <a:t>を</a:t>
            </a:r>
            <a:r>
              <a:rPr lang="zh-CN" altLang="en-US" dirty="0"/>
              <a:t>越</a:t>
            </a:r>
            <a:r>
              <a:rPr lang="ja-JP" altLang="en-US"/>
              <a:t>える</a:t>
            </a:r>
            <a:r>
              <a:rPr lang="zh-CN" altLang="en-US" dirty="0"/>
              <a:t>経済活動</a:t>
            </a:r>
            <a:r>
              <a:rPr lang="ja-JP" altLang="en-US"/>
              <a:t>を</a:t>
            </a:r>
            <a:r>
              <a:rPr lang="zh-CN" altLang="en-US" dirty="0"/>
              <a:t>扱</a:t>
            </a:r>
            <a:r>
              <a:rPr lang="ja-JP" altLang="en-US"/>
              <a:t>う</a:t>
            </a:r>
            <a:r>
              <a:rPr lang="zh-CN" altLang="en-US" dirty="0">
                <a:highlight>
                  <a:srgbClr val="FFFF00"/>
                </a:highlight>
              </a:rPr>
              <a:t>応用経済学</a:t>
            </a:r>
            <a:r>
              <a:rPr lang="ja-JP" altLang="en-US">
                <a:highlight>
                  <a:srgbClr val="FFFF00"/>
                </a:highlight>
              </a:rPr>
              <a:t>の</a:t>
            </a:r>
            <a:r>
              <a:rPr lang="zh-CN" altLang="en-US" dirty="0">
                <a:highlight>
                  <a:srgbClr val="FFFF00"/>
                </a:highlight>
              </a:rPr>
              <a:t>一分野</a:t>
            </a:r>
            <a:endParaRPr lang="en-US" altLang="zh-CN" dirty="0">
              <a:highlight>
                <a:srgbClr val="FFFF00"/>
              </a:highlight>
            </a:endParaRPr>
          </a:p>
          <a:p>
            <a:pPr lvl="1"/>
            <a:r>
              <a:rPr lang="ja-JP" altLang="en-US">
                <a:highlight>
                  <a:srgbClr val="FFFF00"/>
                </a:highlight>
              </a:rPr>
              <a:t>ミクロ</a:t>
            </a:r>
            <a:r>
              <a:rPr lang="zh-CN" altLang="en-US" dirty="0">
                <a:highlight>
                  <a:srgbClr val="FFFF00"/>
                </a:highlight>
              </a:rPr>
              <a:t>経済学</a:t>
            </a:r>
            <a:r>
              <a:rPr lang="ja-JP" altLang="en-US"/>
              <a:t>の</a:t>
            </a:r>
            <a:r>
              <a:rPr lang="zh-CN" altLang="en-US" dirty="0"/>
              <a:t>分析枠組</a:t>
            </a:r>
            <a:r>
              <a:rPr lang="ja-JP" altLang="en-US"/>
              <a:t>み</a:t>
            </a:r>
            <a:endParaRPr lang="en-US" altLang="ja-JP" dirty="0"/>
          </a:p>
          <a:p>
            <a:pPr lvl="1"/>
            <a:r>
              <a:rPr lang="zh-CN" altLang="en-US" dirty="0"/>
              <a:t>主</a:t>
            </a:r>
            <a:r>
              <a:rPr lang="ja-JP" altLang="en-US"/>
              <a:t>に</a:t>
            </a:r>
            <a:r>
              <a:rPr lang="ja-JP" altLang="en-US">
                <a:highlight>
                  <a:srgbClr val="FFFF00"/>
                </a:highlight>
              </a:rPr>
              <a:t>モノの貿易</a:t>
            </a:r>
            <a:r>
              <a:rPr lang="ja-JP" altLang="en-US"/>
              <a:t>を分析の中心にし，その要因や貿易政策の影響を分析。</a:t>
            </a:r>
            <a:endParaRPr lang="en-US" altLang="ja-JP" dirty="0"/>
          </a:p>
          <a:p>
            <a:r>
              <a:rPr lang="ja-JP" altLang="en-US"/>
              <a:t>しかし，現代の国際経済学（本書）では，複層的なグローバル化の諸層を，経済学のあらゆる分析手法を駆使して分析。</a:t>
            </a: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2FEDB4-4590-E5B2-9E2B-1A0F66848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79610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6F2B64-10D1-9DE6-263D-E184F3DE2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692326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 sz="4000" kern="1200">
                <a:solidFill>
                  <a:schemeClr val="tx1"/>
                </a:solidFill>
              </a:rPr>
              <a:t>グローバル</a:t>
            </a:r>
            <a:r>
              <a:rPr lang="zh-CN" altLang="en-US" sz="4000" kern="1200" dirty="0">
                <a:solidFill>
                  <a:schemeClr val="tx1"/>
                </a:solidFill>
              </a:rPr>
              <a:t>化</a:t>
            </a:r>
            <a:r>
              <a:rPr lang="ja-JP" altLang="en-US" sz="4000" kern="1200">
                <a:solidFill>
                  <a:schemeClr val="tx1"/>
                </a:solidFill>
              </a:rPr>
              <a:t>の</a:t>
            </a:r>
            <a:r>
              <a:rPr lang="zh-CN" altLang="en-US" sz="4000" kern="1200" dirty="0">
                <a:solidFill>
                  <a:schemeClr val="tx1"/>
                </a:solidFill>
              </a:rPr>
              <a:t>歴史</a:t>
            </a:r>
            <a:r>
              <a:rPr lang="ja-JP" altLang="en-US" sz="4000" kern="1200">
                <a:solidFill>
                  <a:schemeClr val="tx1"/>
                </a:solidFill>
              </a:rPr>
              <a:t>と</a:t>
            </a:r>
            <a:r>
              <a:rPr lang="zh-CN" altLang="en-US" sz="4000" kern="1200" dirty="0">
                <a:solidFill>
                  <a:schemeClr val="tx1"/>
                </a:solidFill>
              </a:rPr>
              <a:t>現段階</a:t>
            </a:r>
            <a:endParaRPr lang="en-US" sz="4000" kern="12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C0D26-12A8-E522-5C00-F384D49FC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2" y="4631161"/>
            <a:ext cx="3571810" cy="1559327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ja-JP" altLang="en-US" sz="2400" kern="1200">
                <a:solidFill>
                  <a:schemeClr val="tx1"/>
                </a:solidFill>
              </a:rPr>
              <a:t>グローバル</a:t>
            </a:r>
            <a:r>
              <a:rPr lang="zh-CN" altLang="en-US" sz="2400" kern="1200" dirty="0">
                <a:solidFill>
                  <a:schemeClr val="tx1"/>
                </a:solidFill>
              </a:rPr>
              <a:t>化</a:t>
            </a:r>
            <a:r>
              <a:rPr lang="ja-JP" altLang="en-US" sz="2400" kern="1200">
                <a:solidFill>
                  <a:schemeClr val="tx1"/>
                </a:solidFill>
              </a:rPr>
              <a:t>は</a:t>
            </a:r>
            <a:r>
              <a:rPr lang="en-US" altLang="ja-JP" sz="2400" kern="1200" dirty="0">
                <a:solidFill>
                  <a:schemeClr val="tx1"/>
                </a:solidFill>
              </a:rPr>
              <a:t>19 </a:t>
            </a:r>
            <a:r>
              <a:rPr lang="zh-CN" altLang="en-US" sz="2400" kern="1200" dirty="0">
                <a:solidFill>
                  <a:schemeClr val="tx1"/>
                </a:solidFill>
              </a:rPr>
              <a:t>世紀後半頃</a:t>
            </a:r>
            <a:r>
              <a:rPr lang="ja-JP" altLang="en-US" sz="2400" kern="1200">
                <a:solidFill>
                  <a:schemeClr val="tx1"/>
                </a:solidFill>
              </a:rPr>
              <a:t>から</a:t>
            </a:r>
            <a:r>
              <a:rPr lang="zh-CN" altLang="en-US" sz="2400" kern="1200" dirty="0">
                <a:solidFill>
                  <a:schemeClr val="tx1"/>
                </a:solidFill>
              </a:rPr>
              <a:t>徐々</a:t>
            </a:r>
            <a:r>
              <a:rPr lang="ja-JP" altLang="en-US" sz="2400" kern="1200">
                <a:solidFill>
                  <a:schemeClr val="tx1"/>
                </a:solidFill>
              </a:rPr>
              <a:t>に</a:t>
            </a:r>
            <a:r>
              <a:rPr lang="zh-CN" altLang="en-US" sz="2400" kern="1200" dirty="0">
                <a:solidFill>
                  <a:schemeClr val="tx1"/>
                </a:solidFill>
              </a:rPr>
              <a:t>進行</a:t>
            </a:r>
            <a:r>
              <a:rPr lang="ja-JP" altLang="en-US" sz="2400" kern="1200">
                <a:solidFill>
                  <a:schemeClr val="tx1"/>
                </a:solidFill>
              </a:rPr>
              <a:t>した</a:t>
            </a:r>
            <a:r>
              <a:rPr lang="zh-CN" altLang="en-US" sz="2400" kern="1200" dirty="0">
                <a:solidFill>
                  <a:schemeClr val="tx1"/>
                </a:solidFill>
              </a:rPr>
              <a:t>過程</a:t>
            </a:r>
            <a:r>
              <a:rPr lang="ja-JP" altLang="en-US" sz="2400" kern="1200">
                <a:solidFill>
                  <a:schemeClr val="tx1"/>
                </a:solidFill>
              </a:rPr>
              <a:t>。</a:t>
            </a:r>
            <a:endParaRPr lang="en-US" sz="2400" kern="1200" dirty="0">
              <a:solidFill>
                <a:schemeClr val="tx1"/>
              </a:solidFill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374F9D-ACC2-F7FF-11E8-65D3D6A8B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443" y="640080"/>
            <a:ext cx="7208321" cy="555040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9AE2D-B61D-F0D6-5F7A-15FD105EA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0B73B5B-4D98-3640-AE9D-0B488B8E4F8B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D7CE4-3C34-4BB9-2C5E-50D3850FC756}"/>
              </a:ext>
            </a:extLst>
          </p:cNvPr>
          <p:cNvSpPr txBox="1"/>
          <p:nvPr/>
        </p:nvSpPr>
        <p:spPr>
          <a:xfrm>
            <a:off x="8093868" y="1315521"/>
            <a:ext cx="2364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第 </a:t>
            </a:r>
            <a:r>
              <a:rPr lang="en-US" altLang="zh-CN" b="1" dirty="0">
                <a:solidFill>
                  <a:srgbClr val="FF0000"/>
                </a:solidFill>
              </a:rPr>
              <a:t>2 </a:t>
            </a:r>
            <a:r>
              <a:rPr lang="ja-JP" altLang="en-US" b="1">
                <a:solidFill>
                  <a:srgbClr val="FF0000"/>
                </a:solidFill>
              </a:rPr>
              <a:t>のグローバル</a:t>
            </a:r>
            <a:r>
              <a:rPr lang="zh-CN" altLang="en-US" b="1" dirty="0">
                <a:solidFill>
                  <a:srgbClr val="FF0000"/>
                </a:solidFill>
              </a:rPr>
              <a:t>化</a:t>
            </a:r>
            <a:endParaRPr lang="en-JP" b="1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A2A53-84DF-D0B0-BCB9-38ABC1A81692}"/>
              </a:ext>
            </a:extLst>
          </p:cNvPr>
          <p:cNvSpPr txBox="1"/>
          <p:nvPr/>
        </p:nvSpPr>
        <p:spPr>
          <a:xfrm>
            <a:off x="4700305" y="1439345"/>
            <a:ext cx="2364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第 </a:t>
            </a:r>
            <a:r>
              <a:rPr lang="en-US" altLang="zh-CN" b="1" dirty="0">
                <a:solidFill>
                  <a:srgbClr val="FF0000"/>
                </a:solidFill>
              </a:rPr>
              <a:t>1 </a:t>
            </a:r>
            <a:r>
              <a:rPr lang="ja-JP" altLang="en-US" b="1">
                <a:solidFill>
                  <a:srgbClr val="FF0000"/>
                </a:solidFill>
              </a:rPr>
              <a:t>のグローバル</a:t>
            </a:r>
            <a:r>
              <a:rPr lang="zh-CN" altLang="en-US" b="1" dirty="0">
                <a:solidFill>
                  <a:srgbClr val="FF0000"/>
                </a:solidFill>
              </a:rPr>
              <a:t>化</a:t>
            </a:r>
            <a:endParaRPr lang="en-JP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5746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A0246-B03F-D784-380F-73954119D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第</a:t>
            </a:r>
            <a:r>
              <a:rPr lang="en-US" altLang="zh-CN" dirty="0"/>
              <a:t>1</a:t>
            </a:r>
            <a:r>
              <a:rPr lang="zh-CN" altLang="en-US" dirty="0"/>
              <a:t>と第</a:t>
            </a:r>
            <a:r>
              <a:rPr lang="en-US" altLang="zh-CN" dirty="0"/>
              <a:t>2</a:t>
            </a:r>
            <a:r>
              <a:rPr lang="ja-JP" altLang="en-US"/>
              <a:t>の</a:t>
            </a:r>
            <a:r>
              <a:rPr lang="zh-CN" altLang="en-US" dirty="0"/>
              <a:t>時代</a:t>
            </a:r>
            <a:endParaRPr lang="en-JP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F9B58-EC17-B771-0F97-4876EF17F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第</a:t>
            </a:r>
            <a:r>
              <a:rPr lang="en-US" altLang="zh-CN" dirty="0"/>
              <a:t>1</a:t>
            </a:r>
            <a:r>
              <a:rPr lang="ja-JP" altLang="en-US"/>
              <a:t>の</a:t>
            </a:r>
            <a:r>
              <a:rPr lang="zh-CN" altLang="en-US" dirty="0"/>
              <a:t>時代（</a:t>
            </a:r>
            <a:r>
              <a:rPr lang="en-US" altLang="zh-CN" dirty="0"/>
              <a:t>1870 </a:t>
            </a:r>
            <a:r>
              <a:rPr lang="zh-CN" altLang="en-US" dirty="0"/>
              <a:t>年</a:t>
            </a:r>
            <a:r>
              <a:rPr lang="ja-JP" altLang="en-US"/>
              <a:t>から </a:t>
            </a:r>
            <a:r>
              <a:rPr lang="en-US" altLang="ja-JP" dirty="0"/>
              <a:t>1914 </a:t>
            </a:r>
            <a:r>
              <a:rPr lang="zh-CN" altLang="en-US" dirty="0"/>
              <a:t>年）</a:t>
            </a:r>
            <a:endParaRPr lang="en-US" altLang="zh-CN" dirty="0"/>
          </a:p>
          <a:p>
            <a:r>
              <a:rPr lang="zh-CN" altLang="en-US" dirty="0"/>
              <a:t>工業化</a:t>
            </a:r>
            <a:r>
              <a:rPr lang="ja-JP" altLang="en-US"/>
              <a:t>に</a:t>
            </a:r>
            <a:r>
              <a:rPr lang="zh-CN" altLang="en-US" dirty="0"/>
              <a:t>伴</a:t>
            </a:r>
            <a:r>
              <a:rPr lang="ja-JP" altLang="en-US"/>
              <a:t>い，</a:t>
            </a:r>
            <a:r>
              <a:rPr lang="zh-CN" altLang="en-US" dirty="0">
                <a:highlight>
                  <a:srgbClr val="FFFF00"/>
                </a:highlight>
              </a:rPr>
              <a:t>蒸気船</a:t>
            </a:r>
            <a:r>
              <a:rPr lang="ja-JP" altLang="en-US"/>
              <a:t>やその</a:t>
            </a:r>
            <a:r>
              <a:rPr lang="zh-CN" altLang="en-US" dirty="0"/>
              <a:t>他 </a:t>
            </a:r>
            <a:r>
              <a:rPr lang="ja-JP" altLang="en-US"/>
              <a:t>の</a:t>
            </a:r>
            <a:r>
              <a:rPr lang="zh-CN" altLang="en-US" dirty="0"/>
              <a:t>進歩</a:t>
            </a:r>
            <a:r>
              <a:rPr lang="ja-JP" altLang="en-US"/>
              <a:t>によって，より</a:t>
            </a:r>
            <a:r>
              <a:rPr lang="zh-CN" altLang="en-US" dirty="0"/>
              <a:t>多</a:t>
            </a:r>
            <a:r>
              <a:rPr lang="ja-JP" altLang="en-US"/>
              <a:t>くの</a:t>
            </a:r>
            <a:r>
              <a:rPr lang="zh-CN" altLang="en-US" dirty="0"/>
              <a:t>商品</a:t>
            </a:r>
            <a:r>
              <a:rPr lang="ja-JP" altLang="en-US"/>
              <a:t>がより</a:t>
            </a:r>
            <a:r>
              <a:rPr lang="zh-CN" altLang="en-US" dirty="0"/>
              <a:t>安価</a:t>
            </a:r>
            <a:r>
              <a:rPr lang="ja-JP" altLang="en-US"/>
              <a:t>に</a:t>
            </a:r>
            <a:r>
              <a:rPr lang="zh-CN" altLang="en-US" dirty="0"/>
              <a:t>国境</a:t>
            </a:r>
            <a:r>
              <a:rPr lang="ja-JP" altLang="en-US"/>
              <a:t>を</a:t>
            </a:r>
            <a:r>
              <a:rPr lang="zh-CN" altLang="en-US" dirty="0"/>
              <a:t>越</a:t>
            </a:r>
            <a:r>
              <a:rPr lang="ja-JP" altLang="en-US"/>
              <a:t>えて</a:t>
            </a:r>
            <a:r>
              <a:rPr lang="zh-CN" altLang="en-US" dirty="0"/>
              <a:t>移動</a:t>
            </a:r>
            <a:r>
              <a:rPr lang="ja-JP" altLang="en-US"/>
              <a:t>できるようになり，</a:t>
            </a:r>
            <a:r>
              <a:rPr lang="zh-CN" altLang="en-US" dirty="0"/>
              <a:t>世界経済</a:t>
            </a:r>
            <a:r>
              <a:rPr lang="ja-JP" altLang="en-US"/>
              <a:t>の</a:t>
            </a:r>
            <a:r>
              <a:rPr lang="zh-CN" altLang="en-US" dirty="0"/>
              <a:t>統合</a:t>
            </a:r>
            <a:r>
              <a:rPr lang="ja-JP" altLang="en-US"/>
              <a:t>が</a:t>
            </a:r>
            <a:r>
              <a:rPr lang="zh-CN" altLang="en-US" dirty="0"/>
              <a:t>進</a:t>
            </a:r>
            <a:r>
              <a:rPr lang="ja-JP" altLang="en-US"/>
              <a:t>んだ。</a:t>
            </a:r>
            <a:endParaRPr lang="en-US" altLang="ja-JP" dirty="0"/>
          </a:p>
          <a:p>
            <a:endParaRPr lang="en-US" altLang="ja-JP" dirty="0"/>
          </a:p>
          <a:p>
            <a:pPr marL="0" indent="0">
              <a:buNone/>
            </a:pPr>
            <a:r>
              <a:rPr lang="zh-CN" altLang="en-US" dirty="0"/>
              <a:t>第</a:t>
            </a:r>
            <a:r>
              <a:rPr lang="en-US" altLang="zh-CN" dirty="0"/>
              <a:t>2</a:t>
            </a:r>
            <a:r>
              <a:rPr lang="ja-JP" altLang="en-US"/>
              <a:t>の</a:t>
            </a:r>
            <a:r>
              <a:rPr lang="zh-CN" altLang="en-US" dirty="0"/>
              <a:t>時代（</a:t>
            </a:r>
            <a:r>
              <a:rPr lang="ja-JP" altLang="en-US"/>
              <a:t> </a:t>
            </a:r>
            <a:r>
              <a:rPr lang="en-US" altLang="ja-JP" dirty="0"/>
              <a:t>1914</a:t>
            </a:r>
            <a:r>
              <a:rPr lang="en-US" altLang="zh-CN" dirty="0"/>
              <a:t> </a:t>
            </a:r>
            <a:r>
              <a:rPr lang="zh-CN" altLang="en-US" dirty="0"/>
              <a:t>年</a:t>
            </a:r>
            <a:r>
              <a:rPr lang="ja-JP" altLang="en-US"/>
              <a:t>から </a:t>
            </a:r>
            <a:r>
              <a:rPr lang="en-US" altLang="ja-JP" dirty="0"/>
              <a:t>1945 </a:t>
            </a:r>
            <a:r>
              <a:rPr lang="zh-CN" altLang="en-US" dirty="0"/>
              <a:t>年）</a:t>
            </a:r>
            <a:endParaRPr lang="en-US" altLang="ja-JP" dirty="0"/>
          </a:p>
          <a:p>
            <a:r>
              <a:rPr lang="zh-CN" altLang="en-US" dirty="0"/>
              <a:t>第 </a:t>
            </a:r>
            <a:r>
              <a:rPr lang="en-US" altLang="zh-CN" dirty="0"/>
              <a:t>1 </a:t>
            </a:r>
            <a:r>
              <a:rPr lang="zh-CN" altLang="en-US" dirty="0"/>
              <a:t>次世界大戦</a:t>
            </a:r>
            <a:r>
              <a:rPr lang="ja-JP" altLang="en-US"/>
              <a:t>を</a:t>
            </a:r>
            <a:r>
              <a:rPr lang="zh-CN" altLang="en-US" dirty="0"/>
              <a:t>機</a:t>
            </a:r>
            <a:r>
              <a:rPr lang="ja-JP" altLang="en-US"/>
              <a:t>に</a:t>
            </a:r>
            <a:r>
              <a:rPr lang="zh-CN" altLang="en-US" dirty="0"/>
              <a:t>第 </a:t>
            </a:r>
            <a:r>
              <a:rPr lang="en-US" altLang="zh-CN" dirty="0"/>
              <a:t>2 </a:t>
            </a:r>
            <a:r>
              <a:rPr lang="zh-CN" altLang="en-US" dirty="0"/>
              <a:t>次世界大戦</a:t>
            </a:r>
            <a:r>
              <a:rPr lang="ja-JP" altLang="en-US"/>
              <a:t>の</a:t>
            </a:r>
            <a:r>
              <a:rPr lang="zh-CN" altLang="en-US" dirty="0"/>
              <a:t>終戦 </a:t>
            </a:r>
            <a:r>
              <a:rPr lang="ja-JP" altLang="en-US"/>
              <a:t>まで，</a:t>
            </a:r>
            <a:r>
              <a:rPr lang="zh-CN" altLang="en-US" dirty="0"/>
              <a:t>戦乱</a:t>
            </a:r>
            <a:r>
              <a:rPr lang="ja-JP" altLang="en-US"/>
              <a:t>と</a:t>
            </a:r>
            <a:r>
              <a:rPr lang="zh-CN" altLang="en-US" dirty="0"/>
              <a:t>各国</a:t>
            </a:r>
            <a:r>
              <a:rPr lang="ja-JP" altLang="en-US"/>
              <a:t>の</a:t>
            </a:r>
            <a:r>
              <a:rPr lang="zh-CN" altLang="en-US" dirty="0">
                <a:highlight>
                  <a:srgbClr val="FFFF00"/>
                </a:highlight>
              </a:rPr>
              <a:t>保護主義的政策</a:t>
            </a:r>
            <a:r>
              <a:rPr lang="ja-JP" altLang="en-US"/>
              <a:t>によりグローバル</a:t>
            </a:r>
            <a:r>
              <a:rPr lang="zh-CN" altLang="en-US" dirty="0"/>
              <a:t>化</a:t>
            </a:r>
            <a:r>
              <a:rPr lang="ja-JP" altLang="en-US"/>
              <a:t>は</a:t>
            </a:r>
            <a:r>
              <a:rPr lang="zh-CN" altLang="en-US" dirty="0"/>
              <a:t>後退</a:t>
            </a:r>
            <a:r>
              <a:rPr lang="ja-JP" altLang="en-US"/>
              <a:t>。</a:t>
            </a:r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AF175-FDBB-8D29-C81C-DFC1FE1A5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179446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A0246-B03F-D784-380F-73954119D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第 </a:t>
            </a:r>
            <a:r>
              <a:rPr lang="en-US" altLang="zh-CN" dirty="0"/>
              <a:t>3</a:t>
            </a:r>
            <a:r>
              <a:rPr lang="zh-CN" altLang="en-US" dirty="0"/>
              <a:t>と第</a:t>
            </a:r>
            <a:r>
              <a:rPr lang="en-US" altLang="zh-CN" dirty="0"/>
              <a:t>4</a:t>
            </a:r>
            <a:r>
              <a:rPr lang="ja-JP" altLang="en-US"/>
              <a:t>の</a:t>
            </a:r>
            <a:r>
              <a:rPr lang="zh-CN" altLang="en-US" dirty="0"/>
              <a:t>時代</a:t>
            </a:r>
            <a:endParaRPr lang="en-JP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F9B58-EC17-B771-0F97-4876EF17F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zh-CN" altLang="en-US" dirty="0"/>
              <a:t>第</a:t>
            </a:r>
            <a:r>
              <a:rPr lang="en-US" altLang="zh-CN" dirty="0"/>
              <a:t>3</a:t>
            </a:r>
            <a:r>
              <a:rPr lang="ja-JP" altLang="en-US"/>
              <a:t>の</a:t>
            </a:r>
            <a:r>
              <a:rPr lang="zh-CN" altLang="en-US" dirty="0"/>
              <a:t>時代（</a:t>
            </a:r>
            <a:r>
              <a:rPr lang="en-US" altLang="zh-CN" dirty="0"/>
              <a:t>1945</a:t>
            </a:r>
            <a:r>
              <a:rPr lang="zh-CN" altLang="en-US" dirty="0"/>
              <a:t>年</a:t>
            </a:r>
            <a:r>
              <a:rPr lang="ja-JP" altLang="en-US"/>
              <a:t>から</a:t>
            </a:r>
            <a:r>
              <a:rPr lang="en-US" altLang="ja-JP" dirty="0"/>
              <a:t>1980</a:t>
            </a:r>
            <a:r>
              <a:rPr lang="zh-CN" altLang="en-US" dirty="0"/>
              <a:t>年）</a:t>
            </a:r>
            <a:endParaRPr lang="en-US" altLang="zh-CN" dirty="0"/>
          </a:p>
          <a:p>
            <a:r>
              <a:rPr lang="zh-CN" altLang="en-US" dirty="0"/>
              <a:t>戦争</a:t>
            </a:r>
            <a:r>
              <a:rPr lang="ja-JP" altLang="en-US"/>
              <a:t>の</a:t>
            </a:r>
            <a:r>
              <a:rPr lang="zh-CN" altLang="en-US" dirty="0"/>
              <a:t>反省</a:t>
            </a:r>
            <a:r>
              <a:rPr lang="ja-JP" altLang="en-US"/>
              <a:t>を</a:t>
            </a:r>
            <a:r>
              <a:rPr lang="zh-CN" altLang="en-US" dirty="0"/>
              <a:t>踏</a:t>
            </a:r>
            <a:r>
              <a:rPr lang="ja-JP" altLang="en-US"/>
              <a:t>まえ，</a:t>
            </a:r>
            <a:r>
              <a:rPr lang="zh-CN" altLang="en-US" dirty="0"/>
              <a:t>自由</a:t>
            </a:r>
            <a:r>
              <a:rPr lang="ja-JP" altLang="en-US"/>
              <a:t>でルールに</a:t>
            </a:r>
            <a:r>
              <a:rPr lang="zh-CN" altLang="en-US" dirty="0"/>
              <a:t>基</a:t>
            </a:r>
            <a:r>
              <a:rPr lang="ja-JP" altLang="en-US"/>
              <a:t>づいた貿易が可能となるよう，</a:t>
            </a:r>
            <a:r>
              <a:rPr lang="ja-JP" altLang="en-US">
                <a:highlight>
                  <a:srgbClr val="FFFF00"/>
                </a:highlight>
              </a:rPr>
              <a:t>関税及び貿易に関する一般協定（</a:t>
            </a:r>
            <a:r>
              <a:rPr lang="en-US" altLang="ja-JP" dirty="0">
                <a:highlight>
                  <a:srgbClr val="FFFF00"/>
                </a:highlight>
              </a:rPr>
              <a:t>GATT</a:t>
            </a:r>
            <a:r>
              <a:rPr lang="ja-JP" altLang="en-US">
                <a:highlight>
                  <a:srgbClr val="FFFF00"/>
                </a:highlight>
              </a:rPr>
              <a:t>）</a:t>
            </a:r>
            <a:r>
              <a:rPr lang="ja-JP" altLang="en-US"/>
              <a:t>締結。</a:t>
            </a:r>
            <a:endParaRPr lang="en-US" altLang="ja-JP" dirty="0"/>
          </a:p>
          <a:p>
            <a:r>
              <a:rPr lang="zh-CN" altLang="en-US" dirty="0"/>
              <a:t>国際貿易</a:t>
            </a:r>
            <a:r>
              <a:rPr lang="ja-JP" altLang="en-US"/>
              <a:t>が</a:t>
            </a:r>
            <a:r>
              <a:rPr lang="zh-CN" altLang="en-US" dirty="0"/>
              <a:t>増加</a:t>
            </a:r>
            <a:r>
              <a:rPr lang="ja-JP" altLang="en-US"/>
              <a:t>し，アメリカ，</a:t>
            </a:r>
            <a:r>
              <a:rPr lang="zh-CN" altLang="en-US" dirty="0"/>
              <a:t>西</a:t>
            </a:r>
            <a:r>
              <a:rPr lang="ja-JP" altLang="en-US"/>
              <a:t>ヨーロッパ，</a:t>
            </a:r>
            <a:r>
              <a:rPr lang="zh-CN" altLang="en-US" dirty="0"/>
              <a:t>日本</a:t>
            </a:r>
            <a:r>
              <a:rPr lang="ja-JP" altLang="en-US"/>
              <a:t>などの</a:t>
            </a:r>
            <a:r>
              <a:rPr lang="zh-CN" altLang="en-US" dirty="0"/>
              <a:t>自由主義経済諸国</a:t>
            </a:r>
            <a:r>
              <a:rPr lang="ja-JP" altLang="en-US"/>
              <a:t>の</a:t>
            </a:r>
            <a:r>
              <a:rPr lang="zh-CN" altLang="en-US" dirty="0"/>
              <a:t>経済統合</a:t>
            </a:r>
            <a:r>
              <a:rPr lang="ja-JP" altLang="en-US"/>
              <a:t>が</a:t>
            </a:r>
            <a:r>
              <a:rPr lang="zh-CN" altLang="en-US" dirty="0"/>
              <a:t>進展</a:t>
            </a:r>
            <a:r>
              <a:rPr lang="ja-JP" altLang="en-US"/>
              <a:t>。</a:t>
            </a:r>
            <a:endParaRPr lang="en-US" altLang="ja-JP" dirty="0"/>
          </a:p>
          <a:p>
            <a:endParaRPr lang="en-US" altLang="ja-JP" dirty="0"/>
          </a:p>
          <a:p>
            <a:pPr marL="0" indent="0">
              <a:buNone/>
            </a:pPr>
            <a:r>
              <a:rPr lang="zh-CN" altLang="en-US" dirty="0"/>
              <a:t>第</a:t>
            </a:r>
            <a:r>
              <a:rPr lang="en-US" altLang="zh-CN" dirty="0"/>
              <a:t>4</a:t>
            </a:r>
            <a:r>
              <a:rPr lang="ja-JP" altLang="en-US"/>
              <a:t>の</a:t>
            </a:r>
            <a:r>
              <a:rPr lang="zh-CN" altLang="en-US" dirty="0"/>
              <a:t>時代（</a:t>
            </a:r>
            <a:r>
              <a:rPr lang="en-US" altLang="ja-JP" dirty="0"/>
              <a:t>1980</a:t>
            </a:r>
            <a:r>
              <a:rPr lang="zh-CN" altLang="en-US" dirty="0"/>
              <a:t>年</a:t>
            </a:r>
            <a:r>
              <a:rPr lang="ja-JP" altLang="en-US"/>
              <a:t>から </a:t>
            </a:r>
            <a:r>
              <a:rPr lang="en-US" altLang="ja-JP" dirty="0"/>
              <a:t>2008</a:t>
            </a:r>
            <a:r>
              <a:rPr lang="zh-CN" altLang="en-US" dirty="0"/>
              <a:t>年）</a:t>
            </a:r>
            <a:endParaRPr lang="en-US" altLang="ja-JP" dirty="0"/>
          </a:p>
          <a:p>
            <a:r>
              <a:rPr lang="zh-CN" altLang="en-US" dirty="0"/>
              <a:t>中国</a:t>
            </a:r>
            <a:r>
              <a:rPr lang="ja-JP" altLang="en-US"/>
              <a:t>やインド，</a:t>
            </a:r>
            <a:r>
              <a:rPr lang="zh-CN" altLang="en-US" dirty="0"/>
              <a:t>旧</a:t>
            </a:r>
            <a:r>
              <a:rPr lang="ja-JP" altLang="en-US"/>
              <a:t>ソ ビエト</a:t>
            </a:r>
            <a:r>
              <a:rPr lang="zh-CN" altLang="en-US" dirty="0"/>
              <a:t>圏</a:t>
            </a:r>
            <a:r>
              <a:rPr lang="ja-JP" altLang="en-US"/>
              <a:t>の</a:t>
            </a:r>
            <a:r>
              <a:rPr lang="zh-CN" altLang="en-US" dirty="0"/>
              <a:t>国々</a:t>
            </a:r>
            <a:r>
              <a:rPr lang="ja-JP" altLang="en-US"/>
              <a:t>も</a:t>
            </a:r>
            <a:r>
              <a:rPr lang="zh-CN" altLang="en-US" dirty="0"/>
              <a:t>経済</a:t>
            </a:r>
            <a:r>
              <a:rPr lang="ja-JP" altLang="en-US"/>
              <a:t>の</a:t>
            </a:r>
            <a:r>
              <a:rPr lang="zh-CN" altLang="en-US" dirty="0"/>
              <a:t>自由化</a:t>
            </a:r>
            <a:r>
              <a:rPr lang="ja-JP" altLang="en-US"/>
              <a:t>と</a:t>
            </a:r>
            <a:r>
              <a:rPr lang="zh-CN" altLang="en-US" dirty="0"/>
              <a:t>貿易障壁</a:t>
            </a:r>
            <a:r>
              <a:rPr lang="ja-JP" altLang="en-US"/>
              <a:t>の</a:t>
            </a:r>
            <a:r>
              <a:rPr lang="zh-CN" altLang="en-US" dirty="0"/>
              <a:t>撤廃</a:t>
            </a:r>
            <a:r>
              <a:rPr lang="ja-JP" altLang="en-US"/>
              <a:t>を</a:t>
            </a:r>
            <a:r>
              <a:rPr lang="zh-CN" altLang="en-US" dirty="0"/>
              <a:t>始</a:t>
            </a:r>
            <a:r>
              <a:rPr lang="ja-JP" altLang="en-US"/>
              <a:t>め，</a:t>
            </a:r>
            <a:r>
              <a:rPr lang="zh-CN" altLang="en-US" dirty="0"/>
              <a:t>世界経済</a:t>
            </a:r>
            <a:r>
              <a:rPr lang="ja-JP" altLang="en-US"/>
              <a:t>の</a:t>
            </a:r>
            <a:r>
              <a:rPr lang="zh-CN" altLang="en-US" dirty="0"/>
              <a:t>統合</a:t>
            </a:r>
            <a:r>
              <a:rPr lang="ja-JP" altLang="en-US"/>
              <a:t>が</a:t>
            </a:r>
            <a:r>
              <a:rPr lang="zh-CN" altLang="en-US" dirty="0"/>
              <a:t>地理的</a:t>
            </a:r>
            <a:r>
              <a:rPr lang="ja-JP" altLang="en-US"/>
              <a:t>に拡大。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r>
              <a:rPr lang="zh-CN" altLang="en-US" dirty="0"/>
              <a:t>戦後、</a:t>
            </a:r>
            <a:r>
              <a:rPr lang="zh-CN" altLang="en-US" dirty="0">
                <a:highlight>
                  <a:srgbClr val="FFFF00"/>
                </a:highlight>
              </a:rPr>
              <a:t>海運</a:t>
            </a:r>
            <a:r>
              <a:rPr lang="ja-JP" altLang="en-US">
                <a:highlight>
                  <a:srgbClr val="FFFF00"/>
                </a:highlight>
              </a:rPr>
              <a:t>コンテナ</a:t>
            </a:r>
            <a:r>
              <a:rPr lang="ja-JP" altLang="en-US"/>
              <a:t>や</a:t>
            </a:r>
            <a:r>
              <a:rPr lang="zh-CN" altLang="en-US" dirty="0"/>
              <a:t>情報通信技術</a:t>
            </a:r>
            <a:r>
              <a:rPr lang="ja-JP" altLang="en-US"/>
              <a:t>の</a:t>
            </a:r>
            <a:r>
              <a:rPr lang="zh-CN" altLang="en-US" dirty="0"/>
              <a:t>向上</a:t>
            </a:r>
            <a:r>
              <a:rPr lang="ja-JP" altLang="en-US"/>
              <a:t>など</a:t>
            </a:r>
            <a:r>
              <a:rPr lang="zh-CN" altLang="en-US" dirty="0"/>
              <a:t>技術</a:t>
            </a:r>
            <a:r>
              <a:rPr lang="ja-JP" altLang="en-US"/>
              <a:t>の</a:t>
            </a:r>
            <a:r>
              <a:rPr lang="zh-CN" altLang="en-US" dirty="0"/>
              <a:t>変化</a:t>
            </a:r>
            <a:r>
              <a:rPr lang="ja-JP" altLang="en-US"/>
              <a:t>もあり，グローバル</a:t>
            </a:r>
            <a:r>
              <a:rPr lang="zh-CN" altLang="en-US" dirty="0"/>
              <a:t>化</a:t>
            </a:r>
            <a:r>
              <a:rPr lang="ja-JP" altLang="en-US"/>
              <a:t>が</a:t>
            </a:r>
            <a:r>
              <a:rPr lang="zh-CN" altLang="en-US" dirty="0"/>
              <a:t>進展</a:t>
            </a:r>
            <a:r>
              <a:rPr lang="ja-JP" altLang="en-US"/>
              <a:t>。</a:t>
            </a:r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AF175-FDBB-8D29-C81C-DFC1FE1A5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26329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4141-30E2-546D-15E3-DCEB57B6E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緩</a:t>
            </a:r>
            <a:r>
              <a:rPr lang="ja-JP" altLang="en-US"/>
              <a:t>やかなグローバル</a:t>
            </a:r>
            <a:r>
              <a:rPr lang="zh-CN" altLang="en-US" dirty="0"/>
              <a:t>化（</a:t>
            </a:r>
            <a:r>
              <a:rPr lang="en-US" altLang="zh-CN" dirty="0"/>
              <a:t>2008〜</a:t>
            </a:r>
            <a:r>
              <a:rPr lang="zh-CN" altLang="en-US" dirty="0"/>
              <a:t>）</a:t>
            </a:r>
            <a:endParaRPr lang="en-JP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AA706-342C-F189-D091-4943A56FC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>
                <a:highlight>
                  <a:srgbClr val="FFFF00"/>
                </a:highlight>
              </a:rPr>
              <a:t>緩やかなグローバル化</a:t>
            </a:r>
            <a:r>
              <a:rPr lang="en-US" altLang="ja-JP" dirty="0"/>
              <a:t>(</a:t>
            </a:r>
            <a:r>
              <a:rPr lang="en-US" altLang="ja-JP" dirty="0" err="1"/>
              <a:t>slowbalization</a:t>
            </a:r>
            <a:r>
              <a:rPr lang="en-US" altLang="ja-JP" dirty="0"/>
              <a:t>)</a:t>
            </a:r>
            <a:r>
              <a:rPr lang="ja-JP" altLang="en-US"/>
              <a:t>、脱グローバル化</a:t>
            </a:r>
            <a:r>
              <a:rPr lang="en-US" altLang="ja-JP" dirty="0"/>
              <a:t>(de- globalization)</a:t>
            </a:r>
            <a:r>
              <a:rPr lang="ja-JP" altLang="en-US"/>
              <a:t>の時代</a:t>
            </a:r>
            <a:endParaRPr lang="en-US" altLang="zh-CN" dirty="0"/>
          </a:p>
          <a:p>
            <a:r>
              <a:rPr lang="en-US" altLang="zh-CN" dirty="0"/>
              <a:t>2008</a:t>
            </a:r>
            <a:r>
              <a:rPr lang="zh-CN" altLang="en-US" dirty="0"/>
              <a:t>年</a:t>
            </a:r>
            <a:r>
              <a:rPr lang="ja-JP" altLang="en-US"/>
              <a:t>の</a:t>
            </a:r>
            <a:r>
              <a:rPr lang="zh-CN" altLang="en-US" dirty="0"/>
              <a:t>世界同時不況以後，貿易開放度</a:t>
            </a:r>
            <a:r>
              <a:rPr lang="ja-JP" altLang="en-US"/>
              <a:t>つまり</a:t>
            </a:r>
            <a:r>
              <a:rPr lang="zh-CN" altLang="en-US" dirty="0"/>
              <a:t>世界貿易額</a:t>
            </a:r>
            <a:r>
              <a:rPr lang="ja-JP" altLang="en-US"/>
              <a:t>の</a:t>
            </a:r>
            <a:r>
              <a:rPr lang="zh-CN" altLang="en-US" dirty="0"/>
              <a:t>対 </a:t>
            </a:r>
            <a:r>
              <a:rPr lang="en-US" dirty="0"/>
              <a:t>GDP </a:t>
            </a:r>
            <a:r>
              <a:rPr lang="zh-CN" altLang="en-US" dirty="0"/>
              <a:t>比</a:t>
            </a:r>
            <a:r>
              <a:rPr lang="ja-JP" altLang="en-US"/>
              <a:t>は</a:t>
            </a:r>
            <a:r>
              <a:rPr lang="zh-CN" altLang="en-US" dirty="0"/>
              <a:t>低下傾向</a:t>
            </a:r>
            <a:r>
              <a:rPr lang="ja-JP" altLang="en-US"/>
              <a:t>。</a:t>
            </a:r>
            <a:endParaRPr lang="en-US" altLang="ja-JP" dirty="0"/>
          </a:p>
          <a:p>
            <a:r>
              <a:rPr lang="en-US" altLang="ja-JP" dirty="0"/>
              <a:t>2008</a:t>
            </a:r>
            <a:r>
              <a:rPr lang="zh-CN" altLang="en-US" dirty="0"/>
              <a:t>年以降貿易</a:t>
            </a:r>
            <a:r>
              <a:rPr lang="ja-JP" altLang="en-US"/>
              <a:t>の</a:t>
            </a:r>
            <a:r>
              <a:rPr lang="zh-CN" altLang="en-US" dirty="0"/>
              <a:t>成長</a:t>
            </a:r>
            <a:r>
              <a:rPr lang="ja-JP" altLang="en-US"/>
              <a:t>は</a:t>
            </a:r>
            <a:r>
              <a:rPr lang="zh-CN" altLang="en-US" dirty="0"/>
              <a:t>弱</a:t>
            </a:r>
            <a:r>
              <a:rPr lang="ja-JP" altLang="en-US"/>
              <a:t>くなっている。</a:t>
            </a:r>
            <a:endParaRPr lang="en-US" altLang="ja-JP" dirty="0"/>
          </a:p>
          <a:p>
            <a:r>
              <a:rPr lang="ja-JP" altLang="en-US"/>
              <a:t>その</a:t>
            </a:r>
            <a:r>
              <a:rPr lang="zh-CN" altLang="en-US" dirty="0"/>
              <a:t>背後</a:t>
            </a:r>
            <a:r>
              <a:rPr lang="ja-JP" altLang="en-US"/>
              <a:t>にある</a:t>
            </a:r>
            <a:r>
              <a:rPr lang="zh-CN" altLang="en-US" dirty="0"/>
              <a:t>要因は特定できないが</a:t>
            </a:r>
            <a:endParaRPr lang="en-US" altLang="zh-CN" dirty="0"/>
          </a:p>
          <a:p>
            <a:pPr lvl="1"/>
            <a:r>
              <a:rPr lang="ja-JP" altLang="en-US"/>
              <a:t>アメリカの</a:t>
            </a:r>
            <a:r>
              <a:rPr lang="ja-JP" altLang="en-US">
                <a:highlight>
                  <a:srgbClr val="FFFF00"/>
                </a:highlight>
              </a:rPr>
              <a:t>トランプ政権</a:t>
            </a:r>
            <a:r>
              <a:rPr lang="en-US" altLang="ja-JP" dirty="0"/>
              <a:t>(2017〜21 </a:t>
            </a:r>
            <a:r>
              <a:rPr lang="ja-JP" altLang="en-US"/>
              <a:t>年</a:t>
            </a:r>
            <a:r>
              <a:rPr lang="en-US" altLang="ja-JP" dirty="0"/>
              <a:t>)</a:t>
            </a:r>
            <a:r>
              <a:rPr lang="ja-JP" altLang="en-US"/>
              <a:t>のもと，アメリカは中国との貿易摩擦を激化させるなど，国際貿易について自由主義から保護主義寄りの政策へと移行。</a:t>
            </a: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31704-04D6-7863-5C4B-683CFEEDE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10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81364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B8118-B1EA-AC4B-AE73-B9E6D5CE2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/>
              <a:t>2</a:t>
            </a:r>
            <a:r>
              <a:rPr lang="ja-JP" altLang="en-US"/>
              <a:t>　グローバル化の揺り戻し</a:t>
            </a:r>
            <a:endParaRPr lang="en-JP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A27D6-71DE-7D92-919D-BAA3449BB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/>
              <a:t>これまでの国際</a:t>
            </a:r>
            <a:r>
              <a:rPr lang="zh-CN" altLang="en-US" dirty="0"/>
              <a:t>経済学</a:t>
            </a:r>
            <a:endParaRPr lang="en-US" altLang="zh-CN" dirty="0"/>
          </a:p>
          <a:p>
            <a:pPr lvl="1"/>
            <a:r>
              <a:rPr lang="zh-CN" altLang="en-US" dirty="0">
                <a:highlight>
                  <a:srgbClr val="FFFF00"/>
                </a:highlight>
              </a:rPr>
              <a:t>自由貿易</a:t>
            </a:r>
            <a:r>
              <a:rPr lang="ja-JP" altLang="en-US"/>
              <a:t>の</a:t>
            </a:r>
            <a:r>
              <a:rPr lang="zh-CN" altLang="en-US" dirty="0"/>
              <a:t>利益</a:t>
            </a:r>
            <a:r>
              <a:rPr lang="ja-JP" altLang="en-US"/>
              <a:t>が</a:t>
            </a:r>
            <a:r>
              <a:rPr lang="zh-CN" altLang="en-US" dirty="0"/>
              <a:t>強調</a:t>
            </a:r>
            <a:endParaRPr lang="en-US" altLang="zh-CN" dirty="0"/>
          </a:p>
          <a:p>
            <a:r>
              <a:rPr lang="zh-CN" altLang="en-US" dirty="0"/>
              <a:t>現実には</a:t>
            </a:r>
            <a:r>
              <a:rPr lang="zh-CN" altLang="en-US" dirty="0">
                <a:highlight>
                  <a:srgbClr val="FFFF00"/>
                </a:highlight>
              </a:rPr>
              <a:t>保護主義</a:t>
            </a:r>
            <a:r>
              <a:rPr lang="ja-JP" altLang="en-US"/>
              <a:t>が</a:t>
            </a:r>
            <a:r>
              <a:rPr lang="zh-CN" altLang="en-US" dirty="0"/>
              <a:t>台頭</a:t>
            </a:r>
            <a:endParaRPr lang="en-US" altLang="zh-CN" dirty="0"/>
          </a:p>
          <a:p>
            <a:pPr lvl="1"/>
            <a:r>
              <a:rPr lang="zh-CN" altLang="en-US" dirty="0">
                <a:highlight>
                  <a:srgbClr val="FFFF00"/>
                </a:highlight>
              </a:rPr>
              <a:t>国内産業保護</a:t>
            </a:r>
            <a:r>
              <a:rPr lang="ja-JP" altLang="en-US"/>
              <a:t>を</a:t>
            </a:r>
            <a:r>
              <a:rPr lang="zh-CN" altLang="en-US" dirty="0"/>
              <a:t>目的</a:t>
            </a:r>
            <a:r>
              <a:rPr lang="ja-JP" altLang="en-US"/>
              <a:t>とした</a:t>
            </a:r>
            <a:r>
              <a:rPr lang="zh-CN" altLang="en-US" dirty="0"/>
              <a:t>政策</a:t>
            </a:r>
            <a:r>
              <a:rPr lang="ja-JP" altLang="en-US"/>
              <a:t>（</a:t>
            </a:r>
            <a:r>
              <a:rPr lang="zh-CN" altLang="en-US" dirty="0"/>
              <a:t>保護貿易政策</a:t>
            </a:r>
            <a:r>
              <a:rPr lang="ja-JP" altLang="en-US"/>
              <a:t>や</a:t>
            </a:r>
            <a:r>
              <a:rPr lang="zh-CN" altLang="en-US" dirty="0"/>
              <a:t>保護主義的</a:t>
            </a:r>
            <a:r>
              <a:rPr lang="ja-JP" altLang="en-US"/>
              <a:t>な</a:t>
            </a:r>
            <a:r>
              <a:rPr lang="zh-CN" altLang="en-US" dirty="0"/>
              <a:t>政策）が支持される。</a:t>
            </a:r>
            <a:endParaRPr lang="en-US" altLang="zh-CN" dirty="0"/>
          </a:p>
          <a:p>
            <a:pPr lvl="1"/>
            <a:endParaRPr lang="en-US" altLang="ja-JP" dirty="0"/>
          </a:p>
          <a:p>
            <a:pPr marL="0" indent="0">
              <a:buNone/>
            </a:pPr>
            <a:r>
              <a:rPr lang="en-US" altLang="zh-CN" dirty="0">
                <a:sym typeface="Wingdings" pitchFamily="2" charset="2"/>
              </a:rPr>
              <a:t></a:t>
            </a:r>
            <a:r>
              <a:rPr lang="zh-CN" altLang="en-US" dirty="0"/>
              <a:t>自由貿易</a:t>
            </a:r>
            <a:r>
              <a:rPr lang="ja-JP" altLang="en-US"/>
              <a:t>によって</a:t>
            </a:r>
            <a:r>
              <a:rPr lang="zh-CN" altLang="en-US" dirty="0">
                <a:highlight>
                  <a:srgbClr val="FFFF00"/>
                </a:highlight>
              </a:rPr>
              <a:t>利益</a:t>
            </a:r>
            <a:r>
              <a:rPr lang="ja-JP" altLang="en-US">
                <a:highlight>
                  <a:srgbClr val="FFFF00"/>
                </a:highlight>
              </a:rPr>
              <a:t>を</a:t>
            </a:r>
            <a:r>
              <a:rPr lang="zh-CN" altLang="en-US" dirty="0">
                <a:highlight>
                  <a:srgbClr val="FFFF00"/>
                </a:highlight>
              </a:rPr>
              <a:t>享受</a:t>
            </a:r>
            <a:r>
              <a:rPr lang="ja-JP" altLang="en-US">
                <a:highlight>
                  <a:srgbClr val="FFFF00"/>
                </a:highlight>
              </a:rPr>
              <a:t>する</a:t>
            </a:r>
            <a:r>
              <a:rPr lang="zh-CN" altLang="en-US" dirty="0">
                <a:highlight>
                  <a:srgbClr val="FFFF00"/>
                </a:highlight>
              </a:rPr>
              <a:t>人</a:t>
            </a:r>
            <a:r>
              <a:rPr lang="ja-JP" altLang="en-US"/>
              <a:t>と</a:t>
            </a:r>
            <a:r>
              <a:rPr lang="zh-CN" altLang="en-US" dirty="0">
                <a:highlight>
                  <a:srgbClr val="FFFF00"/>
                </a:highlight>
              </a:rPr>
              <a:t>打撃</a:t>
            </a:r>
            <a:r>
              <a:rPr lang="ja-JP" altLang="en-US">
                <a:highlight>
                  <a:srgbClr val="FFFF00"/>
                </a:highlight>
              </a:rPr>
              <a:t>を</a:t>
            </a:r>
            <a:r>
              <a:rPr lang="zh-CN" altLang="en-US" dirty="0">
                <a:highlight>
                  <a:srgbClr val="FFFF00"/>
                </a:highlight>
              </a:rPr>
              <a:t>受</a:t>
            </a:r>
            <a:r>
              <a:rPr lang="ja-JP" altLang="en-US">
                <a:highlight>
                  <a:srgbClr val="FFFF00"/>
                </a:highlight>
              </a:rPr>
              <a:t>ける</a:t>
            </a:r>
            <a:r>
              <a:rPr lang="zh-CN" altLang="en-US" dirty="0">
                <a:highlight>
                  <a:srgbClr val="FFFF00"/>
                </a:highlight>
              </a:rPr>
              <a:t>人</a:t>
            </a:r>
            <a:r>
              <a:rPr lang="ja-JP" altLang="en-US"/>
              <a:t>が</a:t>
            </a:r>
            <a:r>
              <a:rPr lang="zh-CN" altLang="en-US" dirty="0"/>
              <a:t>存在</a:t>
            </a:r>
            <a:r>
              <a:rPr lang="ja-JP" altLang="en-US"/>
              <a:t>し， </a:t>
            </a:r>
            <a:r>
              <a:rPr lang="zh-CN" altLang="en-US" dirty="0"/>
              <a:t>格差拡大</a:t>
            </a:r>
            <a:r>
              <a:rPr lang="ja-JP" altLang="en-US"/>
              <a:t>への</a:t>
            </a:r>
            <a:r>
              <a:rPr lang="zh-CN" altLang="en-US" dirty="0"/>
              <a:t>懸念</a:t>
            </a:r>
            <a:r>
              <a:rPr lang="ja-JP" altLang="en-US"/>
              <a:t>が</a:t>
            </a:r>
            <a:r>
              <a:rPr lang="zh-CN" altLang="en-US" dirty="0"/>
              <a:t>ある？</a:t>
            </a:r>
            <a:r>
              <a:rPr lang="en-US" altLang="ja-JP" dirty="0"/>
              <a:t>(➡</a:t>
            </a:r>
            <a:r>
              <a:rPr lang="zh-CN" altLang="en-US" dirty="0"/>
              <a:t>第 </a:t>
            </a:r>
            <a:r>
              <a:rPr lang="en-US" altLang="zh-CN" dirty="0"/>
              <a:t>2 </a:t>
            </a:r>
            <a:r>
              <a:rPr lang="zh-CN" altLang="en-US" dirty="0"/>
              <a:t>章</a:t>
            </a:r>
            <a:r>
              <a:rPr lang="en-US" altLang="zh-CN" dirty="0"/>
              <a:t>)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ja-JP" altLang="en-US"/>
              <a:t>なぜ</a:t>
            </a:r>
            <a:r>
              <a:rPr lang="zh-CN" altLang="en-US" dirty="0"/>
              <a:t>保護主義</a:t>
            </a:r>
            <a:r>
              <a:rPr lang="ja-JP" altLang="en-US"/>
              <a:t>が</a:t>
            </a:r>
            <a:r>
              <a:rPr lang="zh-CN" altLang="en-US" dirty="0"/>
              <a:t>台頭</a:t>
            </a:r>
            <a:r>
              <a:rPr lang="ja-JP" altLang="en-US"/>
              <a:t>するのかその</a:t>
            </a:r>
            <a:r>
              <a:rPr lang="zh-CN" altLang="en-US" dirty="0"/>
              <a:t>背景</a:t>
            </a:r>
            <a:r>
              <a:rPr lang="ja-JP" altLang="en-US"/>
              <a:t>にあるメカニズムへの</a:t>
            </a:r>
            <a:r>
              <a:rPr lang="zh-CN" altLang="en-US" dirty="0"/>
              <a:t>理解</a:t>
            </a:r>
            <a:r>
              <a:rPr lang="ja-JP" altLang="en-US"/>
              <a:t>を</a:t>
            </a:r>
            <a:r>
              <a:rPr lang="zh-CN" altLang="en-US" dirty="0"/>
              <a:t>深</a:t>
            </a:r>
            <a:r>
              <a:rPr lang="ja-JP" altLang="en-US"/>
              <a:t>める</a:t>
            </a:r>
            <a:r>
              <a:rPr lang="zh-CN" altLang="en-US" dirty="0"/>
              <a:t>必要。</a:t>
            </a:r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D31608-2082-3985-12E9-308D1E04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11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42381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A06E2-FC9B-5F43-EAA3-BBE7BA84C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不安定化</a:t>
            </a:r>
            <a:r>
              <a:rPr lang="ja-JP" altLang="en-US"/>
              <a:t>する</a:t>
            </a:r>
            <a:r>
              <a:rPr lang="zh-CN" altLang="en-US" dirty="0"/>
              <a:t>世界経済</a:t>
            </a:r>
            <a:endParaRPr lang="en-JP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5AC2A-8C2C-6FEF-0EC0-0D2EA0FC5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2008</a:t>
            </a:r>
            <a:r>
              <a:rPr lang="zh-CN" altLang="en-US" dirty="0"/>
              <a:t>年</a:t>
            </a:r>
            <a:r>
              <a:rPr lang="ja-JP" altLang="en-US"/>
              <a:t>　</a:t>
            </a:r>
            <a:r>
              <a:rPr lang="zh-CN" altLang="en-US" dirty="0"/>
              <a:t>世界金融危機</a:t>
            </a:r>
            <a:endParaRPr lang="en-US" altLang="zh-CN" dirty="0"/>
          </a:p>
          <a:p>
            <a:r>
              <a:rPr lang="en-US" altLang="zh-CN" dirty="0"/>
              <a:t>2010</a:t>
            </a:r>
            <a:r>
              <a:rPr lang="zh-CN" altLang="en-US" dirty="0"/>
              <a:t>年</a:t>
            </a:r>
            <a:r>
              <a:rPr lang="ja-JP" altLang="en-US" dirty="0"/>
              <a:t>　</a:t>
            </a:r>
            <a:r>
              <a:rPr lang="ja-JP" altLang="en-US"/>
              <a:t>ギリシャの</a:t>
            </a:r>
            <a:r>
              <a:rPr lang="zh-CN" altLang="en-US" dirty="0"/>
              <a:t>債務危機問題</a:t>
            </a:r>
            <a:endParaRPr lang="en-US" altLang="zh-CN" dirty="0"/>
          </a:p>
          <a:p>
            <a:r>
              <a:rPr lang="en-US" altLang="zh-CN" dirty="0"/>
              <a:t>2011</a:t>
            </a:r>
            <a:r>
              <a:rPr lang="zh-CN" altLang="en-US" dirty="0"/>
              <a:t>年</a:t>
            </a:r>
            <a:r>
              <a:rPr lang="ja-JP" altLang="en-US" dirty="0"/>
              <a:t>　</a:t>
            </a:r>
            <a:r>
              <a:rPr lang="zh-CN" altLang="en-US" dirty="0"/>
              <a:t>東日本大震災</a:t>
            </a:r>
            <a:endParaRPr lang="en-US" altLang="zh-CN" dirty="0"/>
          </a:p>
          <a:p>
            <a:r>
              <a:rPr lang="en-US" dirty="0"/>
              <a:t>2020年</a:t>
            </a:r>
            <a:r>
              <a:rPr lang="ja-JP" altLang="en-US"/>
              <a:t>　イギリスの</a:t>
            </a:r>
            <a:r>
              <a:rPr lang="en-US" altLang="ja-JP" dirty="0"/>
              <a:t>EU</a:t>
            </a:r>
            <a:r>
              <a:rPr lang="ja-JP" altLang="en-US"/>
              <a:t>離脱</a:t>
            </a:r>
            <a:endParaRPr lang="en-US" altLang="ja-JP" dirty="0"/>
          </a:p>
          <a:p>
            <a:r>
              <a:rPr lang="en-US" dirty="0"/>
              <a:t>2017</a:t>
            </a:r>
            <a:r>
              <a:rPr lang="ja-JP" altLang="en-US"/>
              <a:t>年　</a:t>
            </a:r>
            <a:r>
              <a:rPr lang="ja-JP" altLang="en-US">
                <a:highlight>
                  <a:srgbClr val="FFFF00"/>
                </a:highlight>
              </a:rPr>
              <a:t>米中貿易戦争</a:t>
            </a:r>
            <a:r>
              <a:rPr lang="en-US" altLang="ja-JP" dirty="0"/>
              <a:t>(</a:t>
            </a:r>
            <a:r>
              <a:rPr lang="ja-JP" altLang="en-US"/>
              <a:t>第</a:t>
            </a:r>
            <a:r>
              <a:rPr lang="en-US" altLang="ja-JP" dirty="0"/>
              <a:t>1</a:t>
            </a:r>
            <a:r>
              <a:rPr lang="ja-JP" altLang="en-US"/>
              <a:t>次トランプ政権</a:t>
            </a:r>
            <a:r>
              <a:rPr lang="en-US" altLang="ja-JP" dirty="0"/>
              <a:t>)</a:t>
            </a:r>
          </a:p>
          <a:p>
            <a:r>
              <a:rPr lang="en-US" altLang="ja-JP" dirty="0"/>
              <a:t>2020</a:t>
            </a:r>
            <a:r>
              <a:rPr lang="ja-JP" altLang="en-US"/>
              <a:t>年　</a:t>
            </a:r>
            <a:r>
              <a:rPr lang="ja-JP" altLang="en-US">
                <a:highlight>
                  <a:srgbClr val="FFFF00"/>
                </a:highlight>
              </a:rPr>
              <a:t>新型コロナウイルス感染症</a:t>
            </a:r>
            <a:r>
              <a:rPr lang="en-US" altLang="ja-JP" dirty="0"/>
              <a:t>(COVID-19)</a:t>
            </a:r>
          </a:p>
          <a:p>
            <a:r>
              <a:rPr lang="en-US" altLang="ja-JP" dirty="0"/>
              <a:t>2022</a:t>
            </a:r>
            <a:r>
              <a:rPr lang="ja-JP" altLang="en-US"/>
              <a:t>年　</a:t>
            </a:r>
            <a:r>
              <a:rPr lang="ja-JP" altLang="en-US">
                <a:highlight>
                  <a:srgbClr val="FFFF00"/>
                </a:highlight>
              </a:rPr>
              <a:t>ロシアによるウクライナ侵攻</a:t>
            </a:r>
            <a:endParaRPr lang="en-US" altLang="ja-JP" dirty="0">
              <a:highlight>
                <a:srgbClr val="FFFF00"/>
              </a:highlight>
            </a:endParaRPr>
          </a:p>
          <a:p>
            <a:r>
              <a:rPr lang="en-US" altLang="ja-JP" dirty="0"/>
              <a:t>2025</a:t>
            </a:r>
            <a:r>
              <a:rPr lang="ja-JP" altLang="en-US"/>
              <a:t>年　</a:t>
            </a:r>
            <a:r>
              <a:rPr lang="ja-JP" altLang="en-US">
                <a:highlight>
                  <a:srgbClr val="FFFF00"/>
                </a:highlight>
              </a:rPr>
              <a:t>保護主義政策</a:t>
            </a:r>
            <a:r>
              <a:rPr lang="en-US" altLang="ja-JP" dirty="0"/>
              <a:t>(</a:t>
            </a:r>
            <a:r>
              <a:rPr lang="ja-JP" altLang="en-US"/>
              <a:t>第</a:t>
            </a:r>
            <a:r>
              <a:rPr lang="en-US" altLang="ja-JP" dirty="0"/>
              <a:t>2</a:t>
            </a:r>
            <a:r>
              <a:rPr lang="ja-JP" altLang="en-US"/>
              <a:t>次トランプ政権</a:t>
            </a:r>
            <a:r>
              <a:rPr lang="en-US" altLang="ja-JP" dirty="0"/>
              <a:t>)</a:t>
            </a:r>
          </a:p>
          <a:p>
            <a:endParaRPr lang="en-US" altLang="ja-JP" dirty="0"/>
          </a:p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8F496-0D23-6ED8-7275-32D0BF4F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089164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5B3BB-1A19-F507-BF1D-9FBF23374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/>
              <a:t>3</a:t>
            </a:r>
            <a:r>
              <a:rPr lang="ja-JP" altLang="en-US"/>
              <a:t>　構成</a:t>
            </a:r>
            <a:endParaRPr lang="en-JP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96B3E-ACAB-3C76-B216-76AEB1604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zh-CN" altLang="en-US" dirty="0"/>
              <a:t>第</a:t>
            </a:r>
            <a:r>
              <a:rPr lang="en-US" altLang="zh-CN" dirty="0"/>
              <a:t>1</a:t>
            </a:r>
            <a:r>
              <a:rPr lang="zh-CN" altLang="en-US" dirty="0"/>
              <a:t>章</a:t>
            </a:r>
            <a:endParaRPr lang="en-US" altLang="zh-CN" dirty="0"/>
          </a:p>
          <a:p>
            <a:r>
              <a:rPr lang="ja-JP" altLang="en-US"/>
              <a:t>グローバル</a:t>
            </a:r>
            <a:r>
              <a:rPr lang="zh-CN" altLang="en-US" dirty="0"/>
              <a:t>化の</a:t>
            </a:r>
            <a:r>
              <a:rPr lang="ja-JP" altLang="en-US"/>
              <a:t>さまざまな</a:t>
            </a:r>
            <a:r>
              <a:rPr lang="zh-CN" altLang="en-US" dirty="0"/>
              <a:t>諸層</a:t>
            </a:r>
            <a:r>
              <a:rPr lang="ja-JP" altLang="en-US"/>
              <a:t>の</a:t>
            </a:r>
            <a:r>
              <a:rPr lang="zh-CN" altLang="en-US" dirty="0"/>
              <a:t>趨勢</a:t>
            </a:r>
            <a:r>
              <a:rPr lang="ja-JP" altLang="en-US"/>
              <a:t>や</a:t>
            </a:r>
            <a:r>
              <a:rPr lang="zh-CN" altLang="en-US" dirty="0"/>
              <a:t>特徴</a:t>
            </a:r>
            <a:r>
              <a:rPr lang="ja-JP" altLang="en-US"/>
              <a:t>を</a:t>
            </a:r>
            <a:r>
              <a:rPr lang="zh-CN" altLang="en-US" dirty="0"/>
              <a:t>統計</a:t>
            </a:r>
            <a:r>
              <a:rPr lang="ja-JP" altLang="en-US"/>
              <a:t>データで</a:t>
            </a:r>
            <a:r>
              <a:rPr lang="zh-CN" altLang="en-US" dirty="0"/>
              <a:t>視覚的</a:t>
            </a:r>
            <a:r>
              <a:rPr lang="ja-JP" altLang="en-US"/>
              <a:t>に</a:t>
            </a:r>
            <a:r>
              <a:rPr lang="zh-CN" altLang="en-US" dirty="0"/>
              <a:t>描写</a:t>
            </a:r>
            <a:endParaRPr lang="en-US" altLang="zh-CN" dirty="0"/>
          </a:p>
          <a:p>
            <a:r>
              <a:rPr lang="zh-CN" altLang="en-US" dirty="0"/>
              <a:t>貿易</a:t>
            </a:r>
            <a:r>
              <a:rPr lang="ja-JP" altLang="en-US"/>
              <a:t>，</a:t>
            </a:r>
            <a:r>
              <a:rPr lang="zh-CN" altLang="en-US" dirty="0"/>
              <a:t>多国籍企業</a:t>
            </a:r>
            <a:r>
              <a:rPr lang="ja-JP" altLang="en-US"/>
              <a:t>や</a:t>
            </a:r>
            <a:r>
              <a:rPr lang="zh-CN" altLang="en-US" dirty="0"/>
              <a:t>移民，</a:t>
            </a:r>
            <a:r>
              <a:rPr lang="ja-JP" altLang="en-US"/>
              <a:t>サー ビス</a:t>
            </a:r>
            <a:r>
              <a:rPr lang="zh-CN" altLang="en-US" dirty="0"/>
              <a:t>貿易，</a:t>
            </a:r>
            <a:r>
              <a:rPr lang="ja-JP" altLang="en-US"/>
              <a:t>デジタル</a:t>
            </a:r>
            <a:r>
              <a:rPr lang="zh-CN" altLang="en-US" dirty="0"/>
              <a:t>貿易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第</a:t>
            </a:r>
            <a:r>
              <a:rPr lang="en-US" altLang="zh-CN" dirty="0"/>
              <a:t>2</a:t>
            </a:r>
            <a:r>
              <a:rPr lang="zh-CN" altLang="en-US" dirty="0"/>
              <a:t>章</a:t>
            </a:r>
            <a:endParaRPr lang="en-US" altLang="zh-CN" dirty="0"/>
          </a:p>
          <a:p>
            <a:r>
              <a:rPr lang="zh-CN" altLang="en-US" dirty="0"/>
              <a:t>保護主義</a:t>
            </a:r>
            <a:r>
              <a:rPr lang="ja-JP" altLang="en-US"/>
              <a:t>の</a:t>
            </a:r>
            <a:r>
              <a:rPr lang="zh-CN" altLang="en-US" dirty="0"/>
              <a:t>台頭</a:t>
            </a:r>
            <a:r>
              <a:rPr lang="ja-JP" altLang="en-US"/>
              <a:t>の</a:t>
            </a:r>
            <a:r>
              <a:rPr lang="zh-CN" altLang="en-US" dirty="0"/>
              <a:t>要因</a:t>
            </a:r>
            <a:r>
              <a:rPr lang="ja-JP" altLang="en-US"/>
              <a:t>について，</a:t>
            </a:r>
            <a:r>
              <a:rPr lang="zh-CN" altLang="en-US" dirty="0"/>
              <a:t>具体的</a:t>
            </a:r>
            <a:r>
              <a:rPr lang="ja-JP" altLang="en-US"/>
              <a:t>な</a:t>
            </a:r>
            <a:r>
              <a:rPr lang="zh-CN" altLang="en-US" dirty="0"/>
              <a:t>事例</a:t>
            </a:r>
            <a:r>
              <a:rPr lang="ja-JP" altLang="en-US"/>
              <a:t>やデータを</a:t>
            </a:r>
            <a:r>
              <a:rPr lang="zh-CN" altLang="en-US" dirty="0"/>
              <a:t>紹介</a:t>
            </a:r>
            <a:endParaRPr lang="en-US" altLang="zh-CN" dirty="0"/>
          </a:p>
          <a:p>
            <a:r>
              <a:rPr lang="zh-CN" altLang="en-US" dirty="0"/>
              <a:t>政治経済的</a:t>
            </a:r>
            <a:r>
              <a:rPr lang="ja-JP" altLang="en-US"/>
              <a:t>な</a:t>
            </a:r>
            <a:r>
              <a:rPr lang="zh-CN" altLang="en-US" dirty="0"/>
              <a:t>要因</a:t>
            </a:r>
            <a:r>
              <a:rPr lang="ja-JP" altLang="en-US"/>
              <a:t>や</a:t>
            </a:r>
            <a:r>
              <a:rPr lang="zh-CN" altLang="en-US" dirty="0"/>
              <a:t>行動経済学</a:t>
            </a:r>
            <a:r>
              <a:rPr lang="ja-JP" altLang="en-US"/>
              <a:t>の</a:t>
            </a:r>
            <a:r>
              <a:rPr lang="zh-CN" altLang="en-US" dirty="0"/>
              <a:t>知見</a:t>
            </a:r>
            <a:endParaRPr lang="ja-JP" altLang="en-US"/>
          </a:p>
          <a:p>
            <a:pPr marL="0" indent="0">
              <a:buNone/>
            </a:pPr>
            <a:r>
              <a:rPr lang="zh-CN" altLang="en-US" dirty="0"/>
              <a:t>第</a:t>
            </a:r>
            <a:r>
              <a:rPr lang="en-US" altLang="zh-CN" dirty="0"/>
              <a:t>3</a:t>
            </a:r>
            <a:r>
              <a:rPr lang="zh-CN" altLang="en-US" dirty="0"/>
              <a:t>章</a:t>
            </a:r>
            <a:endParaRPr lang="en-US" altLang="zh-CN" dirty="0"/>
          </a:p>
          <a:p>
            <a:r>
              <a:rPr lang="zh-CN" altLang="en-US" dirty="0"/>
              <a:t>急速</a:t>
            </a:r>
            <a:r>
              <a:rPr lang="ja-JP" altLang="en-US"/>
              <a:t>に</a:t>
            </a:r>
            <a:r>
              <a:rPr lang="zh-CN" altLang="en-US" dirty="0"/>
              <a:t>進展</a:t>
            </a:r>
            <a:r>
              <a:rPr lang="ja-JP" altLang="en-US"/>
              <a:t>する</a:t>
            </a:r>
            <a:r>
              <a:rPr lang="zh-CN" altLang="en-US" dirty="0"/>
              <a:t>企業</a:t>
            </a:r>
            <a:r>
              <a:rPr lang="ja-JP" altLang="en-US"/>
              <a:t>のグローバル</a:t>
            </a:r>
            <a:r>
              <a:rPr lang="zh-CN" altLang="en-US" dirty="0"/>
              <a:t>化</a:t>
            </a:r>
            <a:endParaRPr lang="en-US" altLang="zh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4AD2B-4E5A-6BAA-B4B8-2D518A092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13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939700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5B3BB-1A19-F507-BF1D-9FBF23374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伝統的貿易理論</a:t>
            </a:r>
            <a:br>
              <a:rPr lang="en-US" altLang="zh-CN" dirty="0"/>
            </a:br>
            <a:r>
              <a:rPr lang="zh-CN" altLang="en-US" dirty="0"/>
              <a:t>比較優位</a:t>
            </a:r>
            <a:r>
              <a:rPr lang="ja-JP" altLang="en-US"/>
              <a:t>に</a:t>
            </a:r>
            <a:r>
              <a:rPr lang="zh-CN" altLang="en-US" dirty="0"/>
              <a:t>基</a:t>
            </a:r>
            <a:r>
              <a:rPr lang="ja-JP" altLang="en-US"/>
              <a:t>づく</a:t>
            </a:r>
            <a:r>
              <a:rPr lang="zh-CN" altLang="en-US" dirty="0"/>
              <a:t>国際分業</a:t>
            </a:r>
            <a:r>
              <a:rPr lang="ja-JP" altLang="en-US"/>
              <a:t>と</a:t>
            </a:r>
            <a:r>
              <a:rPr lang="zh-CN" altLang="en-US" dirty="0"/>
              <a:t>貿易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96B3E-ACAB-3C76-B216-76AEB1604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第</a:t>
            </a:r>
            <a:r>
              <a:rPr lang="en-US" altLang="zh-CN" dirty="0"/>
              <a:t>4</a:t>
            </a:r>
            <a:r>
              <a:rPr lang="zh-CN" altLang="en-US" dirty="0"/>
              <a:t>章</a:t>
            </a:r>
            <a:endParaRPr lang="en-US" altLang="ja-JP" dirty="0"/>
          </a:p>
          <a:p>
            <a:r>
              <a:rPr lang="en-US" altLang="ja-JP" dirty="0"/>
              <a:t>19</a:t>
            </a:r>
            <a:r>
              <a:rPr lang="zh-CN" altLang="en-US" dirty="0"/>
              <a:t>世紀</a:t>
            </a:r>
            <a:r>
              <a:rPr lang="ja-JP" altLang="en-US"/>
              <a:t>のデヴィッド・リカードによる「</a:t>
            </a:r>
            <a:r>
              <a:rPr lang="zh-CN" altLang="en-US" dirty="0"/>
              <a:t>比較生産費説」（リカード・モデル）</a:t>
            </a:r>
            <a:endParaRPr lang="en-US" altLang="zh-CN" dirty="0"/>
          </a:p>
          <a:p>
            <a:r>
              <a:rPr lang="zh-CN" altLang="en-US" dirty="0"/>
              <a:t>国</a:t>
            </a:r>
            <a:r>
              <a:rPr lang="ja-JP" altLang="en-US"/>
              <a:t>と</a:t>
            </a:r>
            <a:r>
              <a:rPr lang="zh-CN" altLang="en-US" dirty="0"/>
              <a:t>国</a:t>
            </a:r>
            <a:r>
              <a:rPr lang="ja-JP" altLang="en-US"/>
              <a:t>の</a:t>
            </a:r>
            <a:r>
              <a:rPr lang="zh-CN" altLang="en-US" dirty="0"/>
              <a:t>間</a:t>
            </a:r>
            <a:r>
              <a:rPr lang="ja-JP" altLang="en-US"/>
              <a:t>での</a:t>
            </a:r>
            <a:r>
              <a:rPr lang="zh-CN" altLang="en-US" dirty="0"/>
              <a:t>生産技術</a:t>
            </a:r>
            <a:r>
              <a:rPr lang="ja-JP" altLang="en-US"/>
              <a:t>の</a:t>
            </a:r>
            <a:r>
              <a:rPr lang="zh-CN" altLang="en-US" dirty="0"/>
              <a:t>違</a:t>
            </a:r>
            <a:r>
              <a:rPr lang="ja-JP" altLang="en-US"/>
              <a:t>いが</a:t>
            </a:r>
            <a:r>
              <a:rPr lang="zh-CN" altLang="en-US" dirty="0"/>
              <a:t>貿易</a:t>
            </a:r>
            <a:r>
              <a:rPr lang="ja-JP" altLang="en-US"/>
              <a:t>の</a:t>
            </a:r>
            <a:r>
              <a:rPr lang="zh-CN" altLang="en-US" dirty="0"/>
              <a:t>要因</a:t>
            </a:r>
            <a:endParaRPr lang="en-US" altLang="zh-CN" dirty="0"/>
          </a:p>
          <a:p>
            <a:pPr marL="0" indent="0">
              <a:buNone/>
            </a:pPr>
            <a:r>
              <a:rPr lang="ja-JP" altLang="en-JP"/>
              <a:t>第</a:t>
            </a:r>
            <a:r>
              <a:rPr lang="en-JP" altLang="ja-JP" dirty="0"/>
              <a:t>5</a:t>
            </a:r>
            <a:r>
              <a:rPr lang="ja-JP" altLang="en-JP"/>
              <a:t>章</a:t>
            </a:r>
            <a:endParaRPr lang="en-US" altLang="ja-JP" dirty="0"/>
          </a:p>
          <a:p>
            <a:r>
              <a:rPr lang="ja-JP" altLang="en-US"/>
              <a:t>エリ・ヘクシャーとベルティル・オリーンを</a:t>
            </a:r>
            <a:r>
              <a:rPr lang="zh-CN" altLang="en-US" dirty="0"/>
              <a:t>中心</a:t>
            </a:r>
            <a:r>
              <a:rPr lang="ja-JP" altLang="en-US"/>
              <a:t>に </a:t>
            </a:r>
            <a:r>
              <a:rPr lang="en-US" altLang="ja-JP" dirty="0"/>
              <a:t>1930</a:t>
            </a:r>
            <a:r>
              <a:rPr lang="zh-CN" altLang="en-US" dirty="0"/>
              <a:t>年代</a:t>
            </a:r>
            <a:r>
              <a:rPr lang="ja-JP" altLang="en-US"/>
              <a:t>に</a:t>
            </a:r>
            <a:r>
              <a:rPr lang="zh-CN" altLang="en-US" dirty="0"/>
              <a:t>構築</a:t>
            </a:r>
            <a:r>
              <a:rPr lang="ja-JP" altLang="en-US"/>
              <a:t>されたヘクシャー </a:t>
            </a:r>
            <a:r>
              <a:rPr lang="en-US" altLang="ja-JP" dirty="0"/>
              <a:t>= </a:t>
            </a:r>
            <a:r>
              <a:rPr lang="ja-JP" altLang="en-US"/>
              <a:t>オリーン・モデル</a:t>
            </a:r>
            <a:endParaRPr lang="en-US" altLang="ja-JP" dirty="0"/>
          </a:p>
          <a:p>
            <a:r>
              <a:rPr lang="zh-CN" altLang="en-US" dirty="0"/>
              <a:t>生産要素賦存量</a:t>
            </a:r>
            <a:r>
              <a:rPr lang="ja-JP" altLang="en-US"/>
              <a:t>の</a:t>
            </a:r>
            <a:r>
              <a:rPr lang="zh-CN" altLang="en-US" dirty="0"/>
              <a:t>違</a:t>
            </a:r>
            <a:r>
              <a:rPr lang="ja-JP" altLang="en-US"/>
              <a:t>いが，</a:t>
            </a:r>
            <a:r>
              <a:rPr lang="zh-CN" altLang="en-US" dirty="0"/>
              <a:t>貿易</a:t>
            </a:r>
            <a:r>
              <a:rPr lang="ja-JP" altLang="en-US"/>
              <a:t>の</a:t>
            </a:r>
            <a:r>
              <a:rPr lang="zh-CN" altLang="en-US" dirty="0"/>
              <a:t>要因</a:t>
            </a:r>
            <a:endParaRPr lang="en-US" altLang="zh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4AD2B-4E5A-6BAA-B4B8-2D518A092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42024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FBF1D-31D1-C350-F1E6-9E9D1E50D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/>
              <a:t>現代の貿易理論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D4828-4DF2-1EC3-DC7D-D157D48F6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JP"/>
              <a:t>第</a:t>
            </a:r>
            <a:r>
              <a:rPr lang="en-JP" altLang="ja-JP" dirty="0"/>
              <a:t>6</a:t>
            </a:r>
            <a:r>
              <a:rPr lang="ja-JP" altLang="en-JP"/>
              <a:t>章</a:t>
            </a:r>
            <a:endParaRPr lang="en-US" altLang="ja-JP" dirty="0"/>
          </a:p>
          <a:p>
            <a:r>
              <a:rPr lang="en-US" altLang="ja-JP" dirty="0"/>
              <a:t>1980 </a:t>
            </a:r>
            <a:r>
              <a:rPr lang="zh-CN" altLang="en-US" dirty="0"/>
              <a:t>年頃</a:t>
            </a:r>
            <a:r>
              <a:rPr lang="ja-JP" altLang="en-US"/>
              <a:t>に構築されたポール・クルーグマンらによる</a:t>
            </a:r>
            <a:r>
              <a:rPr lang="zh-CN" altLang="en-US" dirty="0"/>
              <a:t>新貿易理論</a:t>
            </a:r>
            <a:endParaRPr lang="en-US" altLang="zh-CN" dirty="0"/>
          </a:p>
          <a:p>
            <a:r>
              <a:rPr lang="zh-CN" altLang="en-US" dirty="0"/>
              <a:t>規模経済性</a:t>
            </a:r>
            <a:r>
              <a:rPr lang="ja-JP" altLang="en-US"/>
              <a:t>や</a:t>
            </a:r>
            <a:r>
              <a:rPr lang="zh-CN" altLang="en-US" dirty="0"/>
              <a:t>製品差別化</a:t>
            </a:r>
            <a:endParaRPr lang="en-US" altLang="zh-CN" dirty="0"/>
          </a:p>
          <a:p>
            <a:r>
              <a:rPr lang="zh-CN" altLang="en-US" dirty="0"/>
              <a:t>先進国間の産業内貿易</a:t>
            </a:r>
            <a:endParaRPr lang="en-US" altLang="zh-CN" dirty="0"/>
          </a:p>
          <a:p>
            <a:pPr marL="0" indent="0">
              <a:buNone/>
            </a:pPr>
            <a:r>
              <a:rPr lang="ja-JP" altLang="en-JP"/>
              <a:t>第</a:t>
            </a:r>
            <a:r>
              <a:rPr lang="en-JP" altLang="ja-JP" dirty="0"/>
              <a:t>7</a:t>
            </a:r>
            <a:r>
              <a:rPr lang="ja-JP" altLang="en-JP"/>
              <a:t>章</a:t>
            </a:r>
            <a:endParaRPr lang="en-US" altLang="ja-JP" dirty="0"/>
          </a:p>
          <a:p>
            <a:r>
              <a:rPr lang="en-US" altLang="ja-JP" dirty="0"/>
              <a:t>2000 </a:t>
            </a:r>
            <a:r>
              <a:rPr lang="zh-CN" altLang="en-US" dirty="0"/>
              <a:t>年代</a:t>
            </a:r>
            <a:r>
              <a:rPr lang="ja-JP" altLang="en-US"/>
              <a:t>、マーク・メリッツらによる</a:t>
            </a:r>
            <a:r>
              <a:rPr lang="zh-CN" altLang="en-US" dirty="0"/>
              <a:t>新・新貿易理論</a:t>
            </a:r>
            <a:endParaRPr lang="en-US" altLang="ja-JP" dirty="0"/>
          </a:p>
          <a:p>
            <a:r>
              <a:rPr lang="zh-CN" altLang="en-US" dirty="0"/>
              <a:t>企業</a:t>
            </a:r>
            <a:r>
              <a:rPr lang="ja-JP" altLang="en-US"/>
              <a:t>の</a:t>
            </a:r>
            <a:r>
              <a:rPr lang="zh-CN" altLang="en-US" dirty="0"/>
              <a:t>生産性</a:t>
            </a:r>
            <a:r>
              <a:rPr lang="ja-JP" altLang="en-US"/>
              <a:t>の</a:t>
            </a:r>
            <a:r>
              <a:rPr lang="zh-CN" altLang="en-US" dirty="0"/>
              <a:t>違</a:t>
            </a:r>
            <a:r>
              <a:rPr lang="ja-JP" altLang="en-US"/>
              <a:t>いを</a:t>
            </a:r>
            <a:r>
              <a:rPr lang="zh-CN" altLang="en-US" dirty="0"/>
              <a:t>貿易</a:t>
            </a:r>
            <a:r>
              <a:rPr lang="ja-JP" altLang="en-US"/>
              <a:t>の</a:t>
            </a:r>
            <a:r>
              <a:rPr lang="zh-CN" altLang="en-US" dirty="0"/>
              <a:t>要因</a:t>
            </a:r>
            <a:r>
              <a:rPr lang="ja-JP" altLang="en-US"/>
              <a:t>とする</a:t>
            </a:r>
          </a:p>
          <a:p>
            <a:r>
              <a:rPr lang="zh-CN" altLang="en-US" dirty="0"/>
              <a:t>輸出</a:t>
            </a:r>
            <a:r>
              <a:rPr lang="ja-JP" altLang="en-US"/>
              <a:t>できる</a:t>
            </a:r>
            <a:r>
              <a:rPr lang="zh-CN" altLang="en-US" dirty="0"/>
              <a:t>企業</a:t>
            </a:r>
            <a:r>
              <a:rPr lang="ja-JP" altLang="en-US"/>
              <a:t>と</a:t>
            </a:r>
            <a:r>
              <a:rPr lang="zh-CN" altLang="en-US" dirty="0"/>
              <a:t>輸出</a:t>
            </a:r>
            <a:r>
              <a:rPr lang="ja-JP" altLang="en-US"/>
              <a:t>できない</a:t>
            </a:r>
            <a:r>
              <a:rPr lang="zh-CN" altLang="en-US" dirty="0"/>
              <a:t>企業</a:t>
            </a:r>
            <a:r>
              <a:rPr lang="ja-JP" altLang="en-US"/>
              <a:t>が</a:t>
            </a:r>
            <a:r>
              <a:rPr lang="zh-CN" altLang="en-US" dirty="0"/>
              <a:t>存在</a:t>
            </a:r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6C1A10-3292-08DF-BC0A-C48F0598F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15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992713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48063-5B1A-20A6-5FDA-A0CF91CB0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/>
              <a:t>貿易政策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9D692-B9CF-7914-B999-43C509A44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ja-JP" altLang="en-JP"/>
              <a:t>第</a:t>
            </a:r>
            <a:r>
              <a:rPr lang="en-JP" altLang="ja-JP" dirty="0"/>
              <a:t>8</a:t>
            </a:r>
            <a:r>
              <a:rPr lang="ja-JP" altLang="en-JP"/>
              <a:t>章</a:t>
            </a:r>
            <a:endParaRPr lang="en-US" altLang="ja-JP" dirty="0"/>
          </a:p>
          <a:p>
            <a:r>
              <a:rPr lang="ja-JP" altLang="en-US"/>
              <a:t>小国・完全競争の</a:t>
            </a:r>
            <a:r>
              <a:rPr lang="zh-CN" altLang="en-US" dirty="0"/>
              <a:t>もとでの貿易政策の効果</a:t>
            </a:r>
            <a:r>
              <a:rPr lang="ja-JP" altLang="en-US"/>
              <a:t> </a:t>
            </a:r>
            <a:endParaRPr lang="en-US" altLang="ja-JP" dirty="0"/>
          </a:p>
          <a:p>
            <a:pPr marL="0" indent="0">
              <a:buNone/>
            </a:pPr>
            <a:r>
              <a:rPr lang="zh-CN" altLang="en-JP" dirty="0"/>
              <a:t>第</a:t>
            </a:r>
            <a:r>
              <a:rPr lang="en-JP" altLang="zh-CN" dirty="0"/>
              <a:t>9</a:t>
            </a:r>
            <a:r>
              <a:rPr lang="zh-CN" altLang="en-JP" dirty="0"/>
              <a:t>章</a:t>
            </a:r>
            <a:endParaRPr lang="en-US" altLang="zh-CN" dirty="0"/>
          </a:p>
          <a:p>
            <a:r>
              <a:rPr lang="ja-JP" altLang="en-US"/>
              <a:t>大国・不完全競争の</a:t>
            </a:r>
            <a:r>
              <a:rPr lang="zh-CN" altLang="en-US" dirty="0"/>
              <a:t>もとでの貿易政策の効果</a:t>
            </a:r>
            <a:r>
              <a:rPr lang="ja-JP" altLang="en-US"/>
              <a:t> </a:t>
            </a:r>
            <a:endParaRPr lang="en-US" altLang="ja-JP" dirty="0"/>
          </a:p>
          <a:p>
            <a:pPr marL="0" indent="0">
              <a:buNone/>
            </a:pPr>
            <a:r>
              <a:rPr lang="zh-CN" altLang="en-JP" dirty="0"/>
              <a:t>第</a:t>
            </a:r>
            <a:r>
              <a:rPr lang="en-JP" altLang="zh-CN" dirty="0"/>
              <a:t>10</a:t>
            </a:r>
            <a:r>
              <a:rPr lang="zh-CN" altLang="en-JP" dirty="0"/>
              <a:t>章</a:t>
            </a:r>
            <a:endParaRPr lang="en-US" altLang="zh-CN" dirty="0"/>
          </a:p>
          <a:p>
            <a:r>
              <a:rPr lang="zh-CN" altLang="en-US" dirty="0"/>
              <a:t>国際貿易ルール</a:t>
            </a:r>
            <a:endParaRPr lang="en-US" altLang="zh-CN" dirty="0"/>
          </a:p>
          <a:p>
            <a:r>
              <a:rPr lang="zh-CN" altLang="en-US" dirty="0"/>
              <a:t>地域貿易協定</a:t>
            </a:r>
            <a:endParaRPr lang="en-US" altLang="zh-CN" dirty="0"/>
          </a:p>
          <a:p>
            <a:pPr lvl="1"/>
            <a:r>
              <a:rPr lang="zh-CN" altLang="en-US" dirty="0"/>
              <a:t>自由貿易協定</a:t>
            </a:r>
            <a:r>
              <a:rPr lang="en-US" altLang="zh-CN" dirty="0"/>
              <a:t>(</a:t>
            </a:r>
            <a:r>
              <a:rPr lang="en-US" dirty="0"/>
              <a:t>FTA)</a:t>
            </a:r>
            <a:r>
              <a:rPr lang="ja-JP" altLang="en-US"/>
              <a:t>や</a:t>
            </a:r>
            <a:r>
              <a:rPr lang="zh-CN" altLang="en-US" dirty="0"/>
              <a:t>経済連携協定</a:t>
            </a:r>
            <a:r>
              <a:rPr lang="en-US" altLang="zh-CN" dirty="0"/>
              <a:t>(</a:t>
            </a:r>
            <a:r>
              <a:rPr lang="en-US" dirty="0"/>
              <a:t>EPA)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E0BAB-542B-6E6C-BD90-E2E1F49DB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16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791130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59388-B3CD-2C91-6042-D8C11EE4B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/>
              <a:t>グローバル化の課題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B24-C3ED-BABA-6437-6064501D3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JP" dirty="0"/>
              <a:t>第</a:t>
            </a:r>
            <a:r>
              <a:rPr lang="en-JP" altLang="zh-CN" dirty="0"/>
              <a:t>11</a:t>
            </a:r>
            <a:r>
              <a:rPr lang="zh-CN" altLang="en-JP" dirty="0"/>
              <a:t>章</a:t>
            </a:r>
            <a:endParaRPr lang="en-US" altLang="zh-CN" dirty="0"/>
          </a:p>
          <a:p>
            <a:r>
              <a:rPr lang="zh-CN" altLang="en-US" dirty="0"/>
              <a:t>近年深刻化</a:t>
            </a:r>
            <a:r>
              <a:rPr lang="ja-JP" altLang="en-US"/>
              <a:t>するグロ ーバル</a:t>
            </a:r>
            <a:r>
              <a:rPr lang="zh-CN" altLang="en-US" dirty="0"/>
              <a:t>化</a:t>
            </a:r>
            <a:r>
              <a:rPr lang="ja-JP" altLang="en-US"/>
              <a:t>と</a:t>
            </a:r>
            <a:r>
              <a:rPr lang="zh-CN" altLang="en-US" dirty="0"/>
              <a:t>格差</a:t>
            </a:r>
            <a:r>
              <a:rPr lang="ja-JP" altLang="en-US"/>
              <a:t>の</a:t>
            </a:r>
            <a:r>
              <a:rPr lang="zh-CN" altLang="en-US" dirty="0"/>
              <a:t>関係</a:t>
            </a:r>
            <a:r>
              <a:rPr lang="ja-JP" altLang="en-US"/>
              <a:t>に</a:t>
            </a:r>
            <a:r>
              <a:rPr lang="zh-CN" altLang="en-US" dirty="0"/>
              <a:t>関</a:t>
            </a:r>
            <a:r>
              <a:rPr lang="ja-JP" altLang="en-US"/>
              <a:t>する</a:t>
            </a:r>
            <a:r>
              <a:rPr lang="zh-CN" altLang="en-US" dirty="0"/>
              <a:t>問題</a:t>
            </a:r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157E72-1325-B70D-7766-805D435C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73B5B-4D98-3640-AE9D-0B488B8E4F8B}" type="slidenum">
              <a:rPr lang="en-JP" smtClean="0"/>
              <a:t>17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69803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1494</Words>
  <Application>Microsoft Macintosh PowerPoint</Application>
  <PresentationFormat>Widescreen</PresentationFormat>
  <Paragraphs>129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MS PGothic</vt:lpstr>
      <vt:lpstr>Arial</vt:lpstr>
      <vt:lpstr>Calibri</vt:lpstr>
      <vt:lpstr>Wingdings</vt:lpstr>
      <vt:lpstr>Office Theme</vt:lpstr>
      <vt:lpstr>序章 国際経済学は 社会にどう役立つか</vt:lpstr>
      <vt:lpstr>1　グローバル化とは</vt:lpstr>
      <vt:lpstr>多様な財の消費を可能にするグローバル化</vt:lpstr>
      <vt:lpstr>グローバル化の恩恵</vt:lpstr>
      <vt:lpstr>グローバル化を分析する学問としての国際経済学</vt:lpstr>
      <vt:lpstr>国際経済学</vt:lpstr>
      <vt:lpstr>グローバル化の歴史と現段階</vt:lpstr>
      <vt:lpstr>第1と第2の時代</vt:lpstr>
      <vt:lpstr>第 3と第4の時代</vt:lpstr>
      <vt:lpstr>緩やかなグローバル化（2008〜）</vt:lpstr>
      <vt:lpstr>2　グローバル化の揺り戻し</vt:lpstr>
      <vt:lpstr>不安定化する世界経済</vt:lpstr>
      <vt:lpstr>3　構成</vt:lpstr>
      <vt:lpstr>伝統的貿易理論 比較優位に基づく国際分業と貿易</vt:lpstr>
      <vt:lpstr>現代の貿易理論</vt:lpstr>
      <vt:lpstr>貿易政策</vt:lpstr>
      <vt:lpstr>グローバル化の課題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田中　鮎夢</dc:creator>
  <cp:lastModifiedBy>Ayumu Tanaka</cp:lastModifiedBy>
  <cp:revision>158</cp:revision>
  <dcterms:created xsi:type="dcterms:W3CDTF">2022-12-03T12:36:26Z</dcterms:created>
  <dcterms:modified xsi:type="dcterms:W3CDTF">2025-12-04T06:07:09Z</dcterms:modified>
</cp:coreProperties>
</file>