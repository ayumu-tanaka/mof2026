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300" r:id="rId3"/>
    <p:sldId id="301" r:id="rId4"/>
    <p:sldId id="257" r:id="rId5"/>
    <p:sldId id="258" r:id="rId6"/>
    <p:sldId id="259" r:id="rId7"/>
    <p:sldId id="265" r:id="rId8"/>
    <p:sldId id="266" r:id="rId9"/>
    <p:sldId id="260" r:id="rId10"/>
    <p:sldId id="269" r:id="rId11"/>
    <p:sldId id="270" r:id="rId12"/>
    <p:sldId id="271" r:id="rId13"/>
    <p:sldId id="303" r:id="rId14"/>
    <p:sldId id="304" r:id="rId15"/>
    <p:sldId id="272" r:id="rId16"/>
    <p:sldId id="273" r:id="rId17"/>
    <p:sldId id="274" r:id="rId18"/>
    <p:sldId id="305" r:id="rId19"/>
    <p:sldId id="306" r:id="rId20"/>
    <p:sldId id="275" r:id="rId21"/>
    <p:sldId id="276" r:id="rId22"/>
    <p:sldId id="277" r:id="rId23"/>
    <p:sldId id="278" r:id="rId24"/>
    <p:sldId id="279" r:id="rId25"/>
    <p:sldId id="280" r:id="rId26"/>
    <p:sldId id="281" r:id="rId27"/>
    <p:sldId id="282" r:id="rId28"/>
    <p:sldId id="283" r:id="rId29"/>
    <p:sldId id="284" r:id="rId30"/>
    <p:sldId id="262" r:id="rId31"/>
    <p:sldId id="267" r:id="rId32"/>
    <p:sldId id="285" r:id="rId33"/>
    <p:sldId id="287" r:id="rId34"/>
    <p:sldId id="286" r:id="rId35"/>
    <p:sldId id="288" r:id="rId36"/>
    <p:sldId id="291" r:id="rId37"/>
    <p:sldId id="290" r:id="rId38"/>
    <p:sldId id="289" r:id="rId39"/>
    <p:sldId id="292" r:id="rId40"/>
    <p:sldId id="293" r:id="rId41"/>
    <p:sldId id="294" r:id="rId42"/>
    <p:sldId id="295" r:id="rId43"/>
    <p:sldId id="296" r:id="rId44"/>
    <p:sldId id="297" r:id="rId45"/>
    <p:sldId id="298" r:id="rId46"/>
    <p:sldId id="299" r:id="rId47"/>
  </p:sldIdLst>
  <p:sldSz cx="17340263"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1pPr>
    <a:lvl2pPr marL="0" marR="0" indent="228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2pPr>
    <a:lvl3pPr marL="0" marR="0" indent="457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3pPr>
    <a:lvl4pPr marL="0" marR="0" indent="685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4pPr>
    <a:lvl5pPr marL="0" marR="0" indent="9144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5pPr>
    <a:lvl6pPr marL="0" marR="0" indent="11430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6pPr>
    <a:lvl7pPr marL="0" marR="0" indent="1371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7pPr>
    <a:lvl8pPr marL="0" marR="0" indent="1600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8pPr>
    <a:lvl9pPr marL="0" marR="0" indent="1828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ヒラギノ角ゴ ProN W6"/>
          <a:ea typeface="ヒラギノ角ゴ ProN W6"/>
          <a:cs typeface="ヒラギノ角ゴ ProN W6"/>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ヒラギノ角ゴ ProN W6"/>
          <a:ea typeface="ヒラギノ角ゴ ProN W6"/>
          <a:cs typeface="ヒラギノ角ゴ ProN W6"/>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ヒラギノ角ゴ ProN W6"/>
          <a:ea typeface="ヒラギノ角ゴ ProN W6"/>
          <a:cs typeface="ヒラギノ角ゴ ProN W6"/>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ヒラギノ角ゴ ProN W6"/>
          <a:ea typeface="ヒラギノ角ゴ ProN W6"/>
          <a:cs typeface="ヒラギノ角ゴ ProN W6"/>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ヒラギノ角ゴ ProN W6"/>
          <a:ea typeface="ヒラギノ角ゴ ProN W6"/>
          <a:cs typeface="ヒラギノ角ゴ ProN W6"/>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ヒラギノ角ゴ ProN W6"/>
          <a:ea typeface="ヒラギノ角ゴ ProN W6"/>
          <a:cs typeface="ヒラギノ角ゴ ProN W6"/>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ヒラギノ角ゴ ProN W6"/>
          <a:ea typeface="ヒラギノ角ゴ ProN W6"/>
          <a:cs typeface="ヒラギノ角ゴ ProN W6"/>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ヒラギノ角ゴ ProN W6"/>
          <a:ea typeface="ヒラギノ角ゴ ProN W6"/>
          <a:cs typeface="ヒラギノ角ゴ ProN W6"/>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ヒラギノ角ゴ ProN W6"/>
          <a:ea typeface="ヒラギノ角ゴ ProN W6"/>
          <a:cs typeface="ヒラギノ角ゴ ProN W6"/>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ヒラギノ角ゴ ProN W6"/>
          <a:ea typeface="ヒラギノ角ゴ ProN W6"/>
          <a:cs typeface="ヒラギノ角ゴ ProN W6"/>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ヒラギノ角ゴ ProN W6"/>
          <a:ea typeface="ヒラギノ角ゴ ProN W6"/>
          <a:cs typeface="ヒラギノ角ゴ ProN W6"/>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p:restoredTop sz="94726"/>
  </p:normalViewPr>
  <p:slideViewPr>
    <p:cSldViewPr snapToGrid="0">
      <p:cViewPr varScale="1">
        <p:scale>
          <a:sx n="84" d="100"/>
          <a:sy n="84" d="100"/>
        </p:scale>
        <p:origin x="3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09:13.20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0,'10'1,"-1"0,0 1,0 0,0 0,0 1,0 0,0 1,-1 0,1 0,13 10,-3-1,-1 1,-1 0,23 25,8 19,-3 3,-2 2,55 108,-22-37,-33-62,257 467,-225-341,-20-47,17 72,-18-47,48 55,-69-158,4-1,3-2,59 78,-55-83,10 19,-3 1,-4 3,41 110,-11-15,29 80,-37-81,123 229,-44-106,-47-120,-11-24,113 226,-122-251,-51-90,26 53,236 630,-21-45,-160-465,-55-113,-4 3,42 127,-82-202,1 0,2-1,34 54,72 89,-28-45,-71-96,-1 0,-2 1,-2 1,-1 0,14 56,145 426,31-13,-62-160,218 431,-262-575,106 192,-188-360,22 65,-26-60,22 42,-25-56,-1 0,-2 1,0 0,7 51,-1-7,150 485,-132-452,-16-48,2-1,37 75,-22-69,-10-20,30 75,-45-91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09:25.1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0,'18'1,"0"1,-1 0,1 1,-1 1,0 1,0 1,0 0,-1 1,18 10,21 15,62 48,-24-16,216 144,178 109,-412-268,129 113,-152-118,267 235,-283-247,495 398,-42-99,-167-117,-87-64,42 29,286 232,227 158,-381-320,-228-144,168 127,30 11,-158-110,132 83,165 108,-436-267,668 420,-143-128,-369-190,-183-119,58 36,-44-33,67 55,27 17,-130-93,-9-3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7T10:15:00.902"/>
    </inkml:context>
    <inkml:brush xml:id="br0">
      <inkml:brushProperty name="width" value="0.4" units="cm"/>
      <inkml:brushProperty name="height" value="0.8" units="cm"/>
      <inkml:brushProperty name="color" value="#FFFC00"/>
      <inkml:brushProperty name="tip" value="rectangle"/>
      <inkml:brushProperty name="rasterOp" value="maskPen"/>
    </inkml:brush>
  </inkml:definitions>
  <inkml:trace contextRef="#ctx0" brushRef="#br0">0 172,'67'0,"0"0,2 0,-1 0,-10 0,0 0,6 1,2-2,2 1,0 0,-3 1,1-2,0 2,0-2,-5 1,-1 0,-3 0,-1 0,-1 0,0 0,-2 1,0-2,-2 1,-1 0,45 0,-5 0,-8 0,-1 0,-3 0,-10 0,-6 0,-8 0,-4 0,-4 0,-5 0,-2 0,1 0,3-2,2-3,6-3,4-4,8 0,3-2,4 2,4 0,1 1,0-1,1 2,-3 0,-5 2,-9 4,-9 1,-6 2,-1-1,7-2,4-2,7 0,5 3,-3 0,2 3,-4 0,-3 0,-1 0,-7 0,-4 0,-4-2,0-1,4 0,0 0,0 2,-5 1,-6 0,-15 0,-7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7T10:15:06.651"/>
    </inkml:context>
    <inkml:brush xml:id="br0">
      <inkml:brushProperty name="width" value="0.4" units="cm"/>
      <inkml:brushProperty name="height" value="0.8" units="cm"/>
      <inkml:brushProperty name="color" value="#00FDFF"/>
      <inkml:brushProperty name="tip" value="rectangle"/>
      <inkml:brushProperty name="rasterOp" value="maskPen"/>
    </inkml:brush>
  </inkml:definitions>
  <inkml:trace contextRef="#ctx0" brushRef="#br0">1 260,'51'0,"0"0,4 0,0 0,43 0,-43 0,1 0,-2 0,0 0,2 0,0 0,2 0,0 0,-2 0,0 0,0 0,-1 0,-4 0,-1 0,41 0,-10 0,-4-3,-3-4,-1 0,0-2,-2 4,3 1,-3 1,-4 2,-5 1,-8-3,0-1,5 1,3-3,5 1,4-1,-3-4,2 2,1-1,1-1,4-1,-2-1,5-1,5 2,2 0,0-1,-5 3,-9-1,-5 0,0 2,-3-1,7 2,6 3,12-2,-37 4,1 0,1 0,0 0,-1 0,-2 0,39 2,-16 0,-12 0,-14 0,-10-2,-10-1,-4-1,-1 2,0 2,-1 0,-1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18:39.85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1,'37'16,"47"15,24 9,768 409,-448-144,-341-238,91 69,39 32,242 141,-379-263,670 354,-412-242,-106-46,-123-64,-1 3,125 85,-26-14,-112-68,404 214,-95-55,-103-50,175 100,-21 37,-224-129,259 144,-97-46,-235-151,-98-75,512 338,-466-318,115 90,-148-102,155 78,-166-98,884 433,-785-378,4 1,156 69,-68-32,463 268,-562-307,24 16,-153-84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18:42.13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74,'1756'-57,"-730"40,-655 20,-285-4,189 6,-216-1,0 3,95 24,-114-22,0-2,0-1,0-2,59-2,-69-3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18:48.5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1,'16'17,"-1"1,24 38,7 8,-29-41,-1-1,-1 2,-1 0,-1 1,-2 0,10 29,67 202,-69-196,2-2,30 62,-40-93,-1 1,-1 0,-1 1,5 40,-6-30,19 63,95 222,-76-221,61 106,-79-155,-1 1,33 111,-53-145,4 4,2 0,0 0,16 23,20 43,-12-14,30 80,-38-87,66 117,14 31,91 214,-62-143,198 342,48-29,-319-504,366 546,-299-466,26 39,126 246,-219-358,84 103,-78-114,61 78,61 89,-154-203,-3 1,47 107,-40-77,98 155,-25-51,33 58,71 144,-131-204,8-4,213 311,-259-431,12 17,65 114,-43-56,-38-65,41 90,15 56,-59-105,-34-95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5T05:18:50.5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1,'1659'0,"-1222"23,-310-14,167 26,29 1,336-30,-363-9,-186 3,-80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ヒラギノ角ゴ ProN W3"/>
      </a:defRPr>
    </a:lvl1pPr>
    <a:lvl2pPr indent="228600" defTabSz="457200" latinLnBrk="0">
      <a:lnSpc>
        <a:spcPct val="117999"/>
      </a:lnSpc>
      <a:defRPr sz="2200">
        <a:latin typeface="+mn-lt"/>
        <a:ea typeface="+mn-ea"/>
        <a:cs typeface="+mn-cs"/>
        <a:sym typeface="ヒラギノ角ゴ ProN W3"/>
      </a:defRPr>
    </a:lvl2pPr>
    <a:lvl3pPr indent="457200" defTabSz="457200" latinLnBrk="0">
      <a:lnSpc>
        <a:spcPct val="117999"/>
      </a:lnSpc>
      <a:defRPr sz="2200">
        <a:latin typeface="+mn-lt"/>
        <a:ea typeface="+mn-ea"/>
        <a:cs typeface="+mn-cs"/>
        <a:sym typeface="ヒラギノ角ゴ ProN W3"/>
      </a:defRPr>
    </a:lvl3pPr>
    <a:lvl4pPr indent="685800" defTabSz="457200" latinLnBrk="0">
      <a:lnSpc>
        <a:spcPct val="117999"/>
      </a:lnSpc>
      <a:defRPr sz="2200">
        <a:latin typeface="+mn-lt"/>
        <a:ea typeface="+mn-ea"/>
        <a:cs typeface="+mn-cs"/>
        <a:sym typeface="ヒラギノ角ゴ ProN W3"/>
      </a:defRPr>
    </a:lvl4pPr>
    <a:lvl5pPr indent="914400" defTabSz="457200" latinLnBrk="0">
      <a:lnSpc>
        <a:spcPct val="117999"/>
      </a:lnSpc>
      <a:defRPr sz="2200">
        <a:latin typeface="+mn-lt"/>
        <a:ea typeface="+mn-ea"/>
        <a:cs typeface="+mn-cs"/>
        <a:sym typeface="ヒラギノ角ゴ ProN W3"/>
      </a:defRPr>
    </a:lvl5pPr>
    <a:lvl6pPr indent="1143000" defTabSz="457200" latinLnBrk="0">
      <a:lnSpc>
        <a:spcPct val="117999"/>
      </a:lnSpc>
      <a:defRPr sz="2200">
        <a:latin typeface="+mn-lt"/>
        <a:ea typeface="+mn-ea"/>
        <a:cs typeface="+mn-cs"/>
        <a:sym typeface="ヒラギノ角ゴ ProN W3"/>
      </a:defRPr>
    </a:lvl6pPr>
    <a:lvl7pPr indent="1371600" defTabSz="457200" latinLnBrk="0">
      <a:lnSpc>
        <a:spcPct val="117999"/>
      </a:lnSpc>
      <a:defRPr sz="2200">
        <a:latin typeface="+mn-lt"/>
        <a:ea typeface="+mn-ea"/>
        <a:cs typeface="+mn-cs"/>
        <a:sym typeface="ヒラギノ角ゴ ProN W3"/>
      </a:defRPr>
    </a:lvl7pPr>
    <a:lvl8pPr indent="1600200" defTabSz="457200" latinLnBrk="0">
      <a:lnSpc>
        <a:spcPct val="117999"/>
      </a:lnSpc>
      <a:defRPr sz="2200">
        <a:latin typeface="+mn-lt"/>
        <a:ea typeface="+mn-ea"/>
        <a:cs typeface="+mn-cs"/>
        <a:sym typeface="ヒラギノ角ゴ ProN W3"/>
      </a:defRPr>
    </a:lvl8pPr>
    <a:lvl9pPr indent="1828800" defTabSz="457200" latinLnBrk="0">
      <a:lnSpc>
        <a:spcPct val="117999"/>
      </a:lnSpc>
      <a:defRPr sz="2200">
        <a:latin typeface="+mn-lt"/>
        <a:ea typeface="+mn-ea"/>
        <a:cs typeface="+mn-cs"/>
        <a:sym typeface="ヒラギノ角ゴ ProN W3"/>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amp;サブタイトル">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693385" y="1638300"/>
            <a:ext cx="13953493" cy="3302000"/>
          </a:xfrm>
          <a:prstGeom prst="rect">
            <a:avLst/>
          </a:prstGeom>
        </p:spPr>
        <p:txBody>
          <a:bodyPr anchor="b"/>
          <a:lstStyle/>
          <a:p>
            <a:r>
              <a:rPr dirty="0"/>
              <a:t>Title Text</a:t>
            </a:r>
          </a:p>
        </p:txBody>
      </p:sp>
      <p:sp>
        <p:nvSpPr>
          <p:cNvPr id="12" name="Body Level One…"/>
          <p:cNvSpPr txBox="1">
            <a:spLocks noGrp="1"/>
          </p:cNvSpPr>
          <p:nvPr>
            <p:ph type="body" sz="quarter" idx="1"/>
          </p:nvPr>
        </p:nvSpPr>
        <p:spPr>
          <a:xfrm>
            <a:off x="1693385" y="5041900"/>
            <a:ext cx="13953493" cy="11303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3" name="Slide Number"/>
          <p:cNvSpPr txBox="1">
            <a:spLocks noGrp="1"/>
          </p:cNvSpPr>
          <p:nvPr>
            <p:ph type="sldNum" sz="quarter" idx="2"/>
          </p:nvPr>
        </p:nvSpPr>
        <p:spPr>
          <a:xfrm>
            <a:off x="16766474" y="9332494"/>
            <a:ext cx="354264" cy="348813"/>
          </a:xfrm>
          <a:prstGeom prst="rect">
            <a:avLst/>
          </a:prstGeom>
        </p:spPr>
        <p:txBody>
          <a:bodyPr/>
          <a:lstStyle>
            <a:lvl1pPr>
              <a:defRPr>
                <a:latin typeface="Helvetica Neue Thin"/>
                <a:ea typeface="Helvetica Neue Thin"/>
                <a:cs typeface="Helvetica Neue Thin"/>
                <a:sym typeface="Helvetica Neue Thin"/>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タイトル（中央）">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693385" y="3225800"/>
            <a:ext cx="13953493" cy="3302000"/>
          </a:xfrm>
          <a:prstGeom prst="rect">
            <a:avLst/>
          </a:prstGeom>
        </p:spPr>
        <p:txBody>
          <a:bodyPr/>
          <a:lstStyle/>
          <a:p>
            <a:r>
              <a:rPr dirty="0"/>
              <a:t>Title Text</a:t>
            </a:r>
          </a:p>
        </p:txBody>
      </p:sp>
      <p:sp>
        <p:nvSpPr>
          <p:cNvPr id="31" name="Slide Number"/>
          <p:cNvSpPr txBox="1">
            <a:spLocks noGrp="1"/>
          </p:cNvSpPr>
          <p:nvPr>
            <p:ph type="sldNum" sz="quarter" idx="2"/>
          </p:nvPr>
        </p:nvSpPr>
        <p:spPr>
          <a:xfrm>
            <a:off x="16330119" y="9296400"/>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画像（縦長）">
    <p:spTree>
      <p:nvGrpSpPr>
        <p:cNvPr id="1" name=""/>
        <p:cNvGrpSpPr/>
        <p:nvPr/>
      </p:nvGrpSpPr>
      <p:grpSpPr>
        <a:xfrm>
          <a:off x="0" y="0"/>
          <a:ext cx="0" cy="0"/>
          <a:chOff x="0" y="0"/>
          <a:chExt cx="0" cy="0"/>
        </a:xfrm>
      </p:grpSpPr>
      <p:sp>
        <p:nvSpPr>
          <p:cNvPr id="38" name="Image"/>
          <p:cNvSpPr>
            <a:spLocks noGrp="1"/>
          </p:cNvSpPr>
          <p:nvPr>
            <p:ph type="pic" idx="21"/>
          </p:nvPr>
        </p:nvSpPr>
        <p:spPr>
          <a:xfrm>
            <a:off x="3018459" y="613834"/>
            <a:ext cx="16535905" cy="8267701"/>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270039" y="635000"/>
            <a:ext cx="7112217" cy="3987800"/>
          </a:xfrm>
          <a:prstGeom prst="rect">
            <a:avLst/>
          </a:prstGeom>
        </p:spPr>
        <p:txBody>
          <a:bodyPr anchor="b"/>
          <a:lstStyle>
            <a:lvl1pPr>
              <a:defRPr sz="6000"/>
            </a:lvl1pPr>
          </a:lstStyle>
          <a:p>
            <a:r>
              <a:t>Title Text</a:t>
            </a:r>
          </a:p>
        </p:txBody>
      </p:sp>
      <p:sp>
        <p:nvSpPr>
          <p:cNvPr id="40" name="Body Level One…"/>
          <p:cNvSpPr txBox="1">
            <a:spLocks noGrp="1"/>
          </p:cNvSpPr>
          <p:nvPr>
            <p:ph type="body" sz="quarter" idx="1"/>
          </p:nvPr>
        </p:nvSpPr>
        <p:spPr>
          <a:xfrm>
            <a:off x="1270039" y="4724400"/>
            <a:ext cx="7112217" cy="4114800"/>
          </a:xfrm>
          <a:prstGeom prst="rect">
            <a:avLst/>
          </a:prstGeom>
        </p:spPr>
        <p:txBody>
          <a:bodyPr anchor="t"/>
          <a:lstStyle>
            <a:lvl1pPr marL="0" indent="0" algn="ctr">
              <a:spcBef>
                <a:spcPts val="0"/>
              </a:spcBef>
              <a:buSzTx/>
              <a:buNone/>
              <a:defRPr sz="3700"/>
            </a:lvl1pPr>
            <a:lvl2pPr marL="0" indent="0" algn="ctr">
              <a:spcBef>
                <a:spcPts val="0"/>
              </a:spcBef>
              <a:buSzTx/>
              <a:buNone/>
              <a:defRPr sz="3700"/>
            </a:lvl2pPr>
            <a:lvl3pPr marL="0" indent="0" algn="ctr">
              <a:spcBef>
                <a:spcPts val="0"/>
              </a:spcBef>
              <a:buSzTx/>
              <a:buNone/>
              <a:defRPr sz="3700"/>
            </a:lvl3pPr>
            <a:lvl4pPr marL="0" indent="0" algn="ctr">
              <a:spcBef>
                <a:spcPts val="0"/>
              </a:spcBef>
              <a:buSzTx/>
              <a:buNone/>
              <a:defRPr sz="3700"/>
            </a:lvl4pPr>
            <a:lvl5pPr marL="0" indent="0" algn="ctr">
              <a:spcBef>
                <a:spcPts val="0"/>
              </a:spcBef>
              <a:buSzTx/>
              <a:buNone/>
              <a:defRPr sz="37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1" name="Slide Number"/>
          <p:cNvSpPr txBox="1">
            <a:spLocks noGrp="1"/>
          </p:cNvSpPr>
          <p:nvPr>
            <p:ph type="sldNum" sz="quarter" idx="2"/>
          </p:nvPr>
        </p:nvSpPr>
        <p:spPr>
          <a:xfrm>
            <a:off x="16522622" y="9365124"/>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タイトル（上）">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lvl1pPr>
              <a:defRPr>
                <a:latin typeface="ＭＳ Ｐゴシック" panose="020B0600070205080204" pitchFamily="50" charset="-128"/>
                <a:ea typeface="ＭＳ Ｐゴシック" panose="020B0600070205080204" pitchFamily="50" charset="-128"/>
              </a:defRPr>
            </a:lvl1pPr>
          </a:lstStyle>
          <a:p>
            <a:r>
              <a:rPr dirty="0"/>
              <a:t>Title Text</a:t>
            </a:r>
          </a:p>
        </p:txBody>
      </p:sp>
      <p:sp>
        <p:nvSpPr>
          <p:cNvPr id="49" name="Slide Number"/>
          <p:cNvSpPr txBox="1">
            <a:spLocks noGrp="1"/>
          </p:cNvSpPr>
          <p:nvPr>
            <p:ph type="sldNum" sz="quarter" idx="2"/>
          </p:nvPr>
        </p:nvSpPr>
        <p:spPr>
          <a:xfrm>
            <a:off x="16442419" y="9296400"/>
            <a:ext cx="360676" cy="348813"/>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lvl1pPr>
              <a:defRPr>
                <a:latin typeface="ＭＳ Ｐゴシック" panose="020B0600070205080204" pitchFamily="50" charset="-128"/>
                <a:ea typeface="ＭＳ Ｐゴシック" panose="020B0600070205080204" pitchFamily="50" charset="-128"/>
              </a:defRPr>
            </a:lvl1pPr>
          </a:lstStyle>
          <a:p>
            <a:r>
              <a:rPr dirty="0"/>
              <a:t>Title Text</a:t>
            </a:r>
          </a:p>
        </p:txBody>
      </p:sp>
      <p:sp>
        <p:nvSpPr>
          <p:cNvPr id="57" name="Body Level One…"/>
          <p:cNvSpPr txBox="1">
            <a:spLocks noGrp="1"/>
          </p:cNvSpPr>
          <p:nvPr>
            <p:ph type="body" idx="1"/>
          </p:nvPr>
        </p:nvSpPr>
        <p:spPr>
          <a:prstGeom prst="rect">
            <a:avLst/>
          </a:prstGeom>
        </p:spPr>
        <p:txBody>
          <a:bodyPr/>
          <a:lstStyle>
            <a:lvl1pPr>
              <a:defRPr>
                <a:latin typeface="ＭＳ Ｐゴシック" panose="020B0600070205080204" pitchFamily="50" charset="-128"/>
                <a:ea typeface="ＭＳ Ｐゴシック" panose="020B0600070205080204" pitchFamily="50" charset="-128"/>
              </a:defRPr>
            </a:lvl1pPr>
            <a:lvl2pPr>
              <a:defRPr>
                <a:latin typeface="ＭＳ Ｐゴシック" panose="020B0600070205080204" pitchFamily="50" charset="-128"/>
                <a:ea typeface="ＭＳ Ｐゴシック" panose="020B0600070205080204" pitchFamily="50" charset="-128"/>
              </a:defRPr>
            </a:lvl2pPr>
            <a:lvl3pPr>
              <a:defRPr>
                <a:latin typeface="ＭＳ Ｐゴシック" panose="020B0600070205080204" pitchFamily="50" charset="-128"/>
                <a:ea typeface="ＭＳ Ｐゴシック" panose="020B0600070205080204" pitchFamily="50" charset="-128"/>
              </a:defRPr>
            </a:lvl3pPr>
            <a:lvl4pPr>
              <a:defRPr>
                <a:latin typeface="ＭＳ Ｐゴシック" panose="020B0600070205080204" pitchFamily="50" charset="-128"/>
                <a:ea typeface="ＭＳ Ｐゴシック" panose="020B0600070205080204" pitchFamily="50" charset="-128"/>
              </a:defRPr>
            </a:lvl4pPr>
            <a:lvl5pPr>
              <a:defRPr>
                <a:latin typeface="ＭＳ Ｐゴシック" panose="020B0600070205080204" pitchFamily="50" charset="-128"/>
                <a:ea typeface="ＭＳ Ｐゴシック" panose="020B0600070205080204" pitchFamily="50" charset="-128"/>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8" name="Slide Number"/>
          <p:cNvSpPr txBox="1">
            <a:spLocks noGrp="1"/>
          </p:cNvSpPr>
          <p:nvPr>
            <p:ph type="sldNum" sz="quarter" idx="2"/>
          </p:nvPr>
        </p:nvSpPr>
        <p:spPr>
          <a:xfrm>
            <a:off x="16602842" y="9296400"/>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タイトル、箇条書き、画像">
    <p:spTree>
      <p:nvGrpSpPr>
        <p:cNvPr id="1" name=""/>
        <p:cNvGrpSpPr/>
        <p:nvPr/>
      </p:nvGrpSpPr>
      <p:grpSpPr>
        <a:xfrm>
          <a:off x="0" y="0"/>
          <a:ext cx="0" cy="0"/>
          <a:chOff x="0" y="0"/>
          <a:chExt cx="0" cy="0"/>
        </a:xfrm>
      </p:grpSpPr>
      <p:sp>
        <p:nvSpPr>
          <p:cNvPr id="65" name="Image"/>
          <p:cNvSpPr>
            <a:spLocks noGrp="1"/>
          </p:cNvSpPr>
          <p:nvPr>
            <p:ph type="pic" idx="21"/>
          </p:nvPr>
        </p:nvSpPr>
        <p:spPr>
          <a:xfrm>
            <a:off x="5448466" y="2586567"/>
            <a:ext cx="12573384" cy="6286501"/>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rPr dirty="0"/>
              <a:t>Title Text</a:t>
            </a:r>
          </a:p>
        </p:txBody>
      </p:sp>
      <p:sp>
        <p:nvSpPr>
          <p:cNvPr id="67" name="Body Level One…"/>
          <p:cNvSpPr txBox="1">
            <a:spLocks noGrp="1"/>
          </p:cNvSpPr>
          <p:nvPr>
            <p:ph type="body" sz="half" idx="1"/>
          </p:nvPr>
        </p:nvSpPr>
        <p:spPr>
          <a:xfrm>
            <a:off x="1270039" y="2590800"/>
            <a:ext cx="7112217"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8" name="Slide Number"/>
          <p:cNvSpPr txBox="1">
            <a:spLocks noGrp="1"/>
          </p:cNvSpPr>
          <p:nvPr>
            <p:ph type="sldNum" sz="quarter" idx="2"/>
          </p:nvPr>
        </p:nvSpPr>
        <p:spPr>
          <a:xfrm>
            <a:off x="16224231" y="9296400"/>
            <a:ext cx="347851" cy="348813"/>
          </a:xfrm>
          <a:prstGeom prst="rect">
            <a:avLst/>
          </a:prstGeom>
        </p:spPr>
        <p:txBody>
          <a:bodyPr/>
          <a:lstStyle>
            <a:lvl1pPr>
              <a:defRPr>
                <a:latin typeface="+mn-lt"/>
                <a:ea typeface="+mn-ea"/>
                <a:cs typeface="+mn-cs"/>
                <a:sym typeface="ヒラギノ角ゴ ProN W3"/>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箇条書き">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270039" y="1270000"/>
            <a:ext cx="14800185" cy="7213600"/>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76" name="Slide Number"/>
          <p:cNvSpPr txBox="1">
            <a:spLocks noGrp="1"/>
          </p:cNvSpPr>
          <p:nvPr>
            <p:ph type="sldNum" sz="quarter" idx="2"/>
          </p:nvPr>
        </p:nvSpPr>
        <p:spPr>
          <a:xfrm>
            <a:off x="16763268" y="9296400"/>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画像（3点）">
    <p:spTree>
      <p:nvGrpSpPr>
        <p:cNvPr id="1" name=""/>
        <p:cNvGrpSpPr/>
        <p:nvPr/>
      </p:nvGrpSpPr>
      <p:grpSpPr>
        <a:xfrm>
          <a:off x="0" y="0"/>
          <a:ext cx="0" cy="0"/>
          <a:chOff x="0" y="0"/>
          <a:chExt cx="0" cy="0"/>
        </a:xfrm>
      </p:grpSpPr>
      <p:sp>
        <p:nvSpPr>
          <p:cNvPr id="83" name="Image"/>
          <p:cNvSpPr>
            <a:spLocks noGrp="1"/>
          </p:cNvSpPr>
          <p:nvPr>
            <p:ph type="pic" sz="quarter" idx="21"/>
          </p:nvPr>
        </p:nvSpPr>
        <p:spPr>
          <a:xfrm>
            <a:off x="8907205" y="5029200"/>
            <a:ext cx="8073244" cy="4038600"/>
          </a:xfrm>
          <a:prstGeom prst="rect">
            <a:avLst/>
          </a:prstGeom>
        </p:spPr>
        <p:txBody>
          <a:bodyPr lIns="91439" tIns="45719" rIns="91439" bIns="45719" anchor="t">
            <a:noAutofit/>
          </a:bodyPr>
          <a:lstStyle/>
          <a:p>
            <a:endParaRPr/>
          </a:p>
        </p:txBody>
      </p:sp>
      <p:sp>
        <p:nvSpPr>
          <p:cNvPr id="84" name="Image"/>
          <p:cNvSpPr>
            <a:spLocks noGrp="1"/>
          </p:cNvSpPr>
          <p:nvPr>
            <p:ph type="pic" sz="quarter" idx="22"/>
          </p:nvPr>
        </p:nvSpPr>
        <p:spPr>
          <a:xfrm>
            <a:off x="8670131" y="889001"/>
            <a:ext cx="7823439" cy="3911601"/>
          </a:xfrm>
          <a:prstGeom prst="rect">
            <a:avLst/>
          </a:prstGeom>
        </p:spPr>
        <p:txBody>
          <a:bodyPr lIns="91439" tIns="45719" rIns="91439" bIns="45719" anchor="t">
            <a:noAutofit/>
          </a:bodyPr>
          <a:lstStyle/>
          <a:p>
            <a:endParaRPr/>
          </a:p>
        </p:txBody>
      </p:sp>
      <p:sp>
        <p:nvSpPr>
          <p:cNvPr id="85" name="Image"/>
          <p:cNvSpPr>
            <a:spLocks noGrp="1"/>
          </p:cNvSpPr>
          <p:nvPr>
            <p:ph type="pic" idx="23"/>
          </p:nvPr>
        </p:nvSpPr>
        <p:spPr>
          <a:xfrm>
            <a:off x="-3166630" y="889000"/>
            <a:ext cx="15977088" cy="79883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xfrm>
            <a:off x="16612481" y="9296399"/>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引用">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1693385" y="6362700"/>
            <a:ext cx="13953493" cy="471924"/>
          </a:xfrm>
          <a:prstGeom prst="rect">
            <a:avLst/>
          </a:prstGeom>
        </p:spPr>
        <p:txBody>
          <a:bodyPr anchor="t">
            <a:spAutoFit/>
          </a:bodyPr>
          <a:lstStyle>
            <a:lvl1pPr marL="0" indent="0" algn="ctr">
              <a:spcBef>
                <a:spcPts val="0"/>
              </a:spcBef>
              <a:buSzTx/>
              <a:buNone/>
              <a:defRPr sz="2400"/>
            </a:lvl1pPr>
          </a:lstStyle>
          <a:p>
            <a:r>
              <a:t>–Johnny Appleseed</a:t>
            </a:r>
          </a:p>
        </p:txBody>
      </p:sp>
      <p:sp>
        <p:nvSpPr>
          <p:cNvPr id="94" name="“ここに引用を入力してください。”"/>
          <p:cNvSpPr txBox="1">
            <a:spLocks noGrp="1"/>
          </p:cNvSpPr>
          <p:nvPr>
            <p:ph type="body" sz="quarter" idx="22"/>
          </p:nvPr>
        </p:nvSpPr>
        <p:spPr>
          <a:xfrm>
            <a:off x="1693385" y="4259094"/>
            <a:ext cx="13953493" cy="625812"/>
          </a:xfrm>
          <a:prstGeom prst="rect">
            <a:avLst/>
          </a:prstGeom>
        </p:spPr>
        <p:txBody>
          <a:bodyPr>
            <a:spAutoFit/>
          </a:bodyPr>
          <a:lstStyle>
            <a:lvl1pPr marL="0" indent="0" algn="ctr">
              <a:spcBef>
                <a:spcPts val="0"/>
              </a:spcBef>
              <a:buSzTx/>
              <a:buNone/>
              <a:defRPr sz="3400"/>
            </a:lvl1pPr>
          </a:lstStyle>
          <a:p>
            <a:r>
              <a:rPr dirty="0"/>
              <a:t>“</a:t>
            </a:r>
            <a:r>
              <a:rPr dirty="0" err="1"/>
              <a:t>ここに引用を入力してください</a:t>
            </a:r>
            <a:r>
              <a:rPr dirty="0"/>
              <a:t>。”</a:t>
            </a:r>
          </a:p>
        </p:txBody>
      </p:sp>
      <p:sp>
        <p:nvSpPr>
          <p:cNvPr id="95" name="Slide Number"/>
          <p:cNvSpPr txBox="1">
            <a:spLocks noGrp="1"/>
          </p:cNvSpPr>
          <p:nvPr>
            <p:ph type="sldNum" sz="quarter" idx="2"/>
          </p:nvPr>
        </p:nvSpPr>
        <p:spPr>
          <a:xfrm>
            <a:off x="16527603" y="9152566"/>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写真">
    <p:spTree>
      <p:nvGrpSpPr>
        <p:cNvPr id="1" name=""/>
        <p:cNvGrpSpPr/>
        <p:nvPr/>
      </p:nvGrpSpPr>
      <p:grpSpPr>
        <a:xfrm>
          <a:off x="0" y="0"/>
          <a:ext cx="0" cy="0"/>
          <a:chOff x="0" y="0"/>
          <a:chExt cx="0" cy="0"/>
        </a:xfrm>
      </p:grpSpPr>
      <p:sp>
        <p:nvSpPr>
          <p:cNvPr id="102" name="Image"/>
          <p:cNvSpPr>
            <a:spLocks noGrp="1"/>
          </p:cNvSpPr>
          <p:nvPr>
            <p:ph type="pic" idx="21"/>
          </p:nvPr>
        </p:nvSpPr>
        <p:spPr>
          <a:xfrm>
            <a:off x="-1266510" y="0"/>
            <a:ext cx="19873282" cy="99441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xfrm>
            <a:off x="16442416" y="9296400"/>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xfrm>
            <a:off x="15896969" y="9296400"/>
            <a:ext cx="360676" cy="348813"/>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70039" y="254000"/>
            <a:ext cx="14800185" cy="215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rPr dirty="0"/>
              <a:t>Title Text</a:t>
            </a:r>
          </a:p>
        </p:txBody>
      </p:sp>
      <p:sp>
        <p:nvSpPr>
          <p:cNvPr id="3" name="Slide Number"/>
          <p:cNvSpPr txBox="1">
            <a:spLocks noGrp="1"/>
          </p:cNvSpPr>
          <p:nvPr>
            <p:ph type="sldNum" sz="quarter" idx="2"/>
          </p:nvPr>
        </p:nvSpPr>
        <p:spPr>
          <a:xfrm>
            <a:off x="16763267" y="9296400"/>
            <a:ext cx="360676" cy="348813"/>
          </a:xfrm>
          <a:prstGeom prst="rect">
            <a:avLst/>
          </a:prstGeom>
          <a:ln w="12700">
            <a:miter lim="400000"/>
          </a:ln>
        </p:spPr>
        <p:txBody>
          <a:bodyPr wrap="none" lIns="50800" tIns="50800" rIns="50800" bIns="50800">
            <a:spAutoFit/>
          </a:bodyPr>
          <a:lstStyle>
            <a:lvl1pPr>
              <a:defRPr sz="1600">
                <a:latin typeface="Helvetica Neue Light"/>
                <a:ea typeface="Helvetica Neue Light"/>
                <a:cs typeface="Helvetica Neue Light"/>
                <a:sym typeface="Helvetica Neue Light"/>
              </a:defRPr>
            </a:lvl1pPr>
          </a:lstStyle>
          <a:p>
            <a:fld id="{86CB4B4D-7CA3-9044-876B-883B54F8677D}" type="slidenum">
              <a:t>‹#›</a:t>
            </a:fld>
            <a:endParaRPr/>
          </a:p>
        </p:txBody>
      </p:sp>
      <p:sp>
        <p:nvSpPr>
          <p:cNvPr id="4" name="Body Level One…"/>
          <p:cNvSpPr txBox="1">
            <a:spLocks noGrp="1"/>
          </p:cNvSpPr>
          <p:nvPr>
            <p:ph type="body" idx="1"/>
          </p:nvPr>
        </p:nvSpPr>
        <p:spPr>
          <a:xfrm>
            <a:off x="1270039" y="2590800"/>
            <a:ext cx="14800185" cy="628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hf hdr="0" ftr="0" dt="0"/>
  <p:txStyles>
    <p:titleStyle>
      <a:lvl1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1pPr>
      <a:lvl2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2pPr>
      <a:lvl3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3pPr>
      <a:lvl4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4pPr>
      <a:lvl5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5pPr>
      <a:lvl6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6pPr>
      <a:lvl7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7pPr>
      <a:lvl8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8pPr>
      <a:lvl9pPr marL="0" marR="0" indent="0" algn="ctr" defTabSz="584200" rtl="0" latinLnBrk="0">
        <a:lnSpc>
          <a:spcPct val="100000"/>
        </a:lnSpc>
        <a:spcBef>
          <a:spcPts val="0"/>
        </a:spcBef>
        <a:spcAft>
          <a:spcPts val="0"/>
        </a:spcAft>
        <a:buClrTx/>
        <a:buSzTx/>
        <a:buFontTx/>
        <a:buNone/>
        <a:tabLst/>
        <a:defRPr sz="8000" b="0" i="0" u="none" strike="noStrike" cap="none" spc="0" baseline="0">
          <a:solidFill>
            <a:srgbClr val="000000"/>
          </a:solidFill>
          <a:uFillTx/>
          <a:latin typeface="+mn-lt"/>
          <a:ea typeface="+mn-ea"/>
          <a:cs typeface="+mn-cs"/>
          <a:sym typeface="ヒラギノ角ゴ ProN W3"/>
        </a:defRPr>
      </a:lvl9pPr>
    </p:titleStyle>
    <p:bodyStyle>
      <a:lvl1pPr marL="444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1pPr>
      <a:lvl2pPr marL="889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2pPr>
      <a:lvl3pPr marL="1333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3pPr>
      <a:lvl4pPr marL="1778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4pPr>
      <a:lvl5pPr marL="2222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ＭＳ Ｐゴシック" panose="020B0600070205080204" pitchFamily="50" charset="-128"/>
          <a:ea typeface="ＭＳ Ｐゴシック" panose="020B0600070205080204" pitchFamily="50" charset="-128"/>
          <a:cs typeface="+mn-cs"/>
          <a:sym typeface="ヒラギノ角ゴ ProN W3"/>
        </a:defRPr>
      </a:lvl5pPr>
      <a:lvl6pPr marL="2667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mn-lt"/>
          <a:ea typeface="+mn-ea"/>
          <a:cs typeface="+mn-cs"/>
          <a:sym typeface="ヒラギノ角ゴ ProN W3"/>
        </a:defRPr>
      </a:lvl6pPr>
      <a:lvl7pPr marL="3111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mn-lt"/>
          <a:ea typeface="+mn-ea"/>
          <a:cs typeface="+mn-cs"/>
          <a:sym typeface="ヒラギノ角ゴ ProN W3"/>
        </a:defRPr>
      </a:lvl7pPr>
      <a:lvl8pPr marL="35560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mn-lt"/>
          <a:ea typeface="+mn-ea"/>
          <a:cs typeface="+mn-cs"/>
          <a:sym typeface="ヒラギノ角ゴ ProN W3"/>
        </a:defRPr>
      </a:lvl8pPr>
      <a:lvl9pPr marL="4000500" marR="0" indent="-444500" algn="l" defTabSz="584200" rtl="0" latinLnBrk="0">
        <a:lnSpc>
          <a:spcPct val="100000"/>
        </a:lnSpc>
        <a:spcBef>
          <a:spcPts val="4200"/>
        </a:spcBef>
        <a:spcAft>
          <a:spcPts val="0"/>
        </a:spcAft>
        <a:buClrTx/>
        <a:buSzPct val="145000"/>
        <a:buFontTx/>
        <a:buChar char="•"/>
        <a:tabLst/>
        <a:defRPr sz="3200" b="0" i="0" u="none" strike="noStrike" cap="none" spc="0" baseline="0">
          <a:solidFill>
            <a:srgbClr val="000000"/>
          </a:solidFill>
          <a:uFillTx/>
          <a:latin typeface="+mn-lt"/>
          <a:ea typeface="+mn-ea"/>
          <a:cs typeface="+mn-cs"/>
          <a:sym typeface="ヒラギノ角ゴ ProN W3"/>
        </a:defRPr>
      </a:lvl9pPr>
    </p:bodyStyle>
    <p:otherStyle>
      <a:lvl1pPr marL="0" marR="0" indent="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228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457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685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9144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11430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13716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16002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1828800" algn="ctr" defTabSz="58420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3"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2.xml"/><Relationship Id="rId12"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49.png"/><Relationship Id="rId11" Type="http://schemas.openxmlformats.org/officeDocument/2006/relationships/customXml" Target="../ink/ink3.xml"/><Relationship Id="rId10" Type="http://schemas.openxmlformats.org/officeDocument/2006/relationships/image" Target="../media/image51.png"/><Relationship Id="rId1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62.png"/><Relationship Id="rId5" Type="http://schemas.openxmlformats.org/officeDocument/2006/relationships/customXml" Target="../ink/ink6.xml"/><Relationship Id="rId10" Type="http://schemas.openxmlformats.org/officeDocument/2006/relationships/image" Target="../media/image64.png"/><Relationship Id="rId4" Type="http://schemas.openxmlformats.org/officeDocument/2006/relationships/image" Target="../media/image10.png"/><Relationship Id="rId9" Type="http://schemas.openxmlformats.org/officeDocument/2006/relationships/customXml" Target="../ink/ink8.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第7回 ヘクシャー=オリーン・モデル1:…"/>
          <p:cNvSpPr txBox="1">
            <a:spLocks noGrp="1"/>
          </p:cNvSpPr>
          <p:nvPr>
            <p:ph type="title"/>
          </p:nvPr>
        </p:nvSpPr>
        <p:spPr>
          <a:prstGeom prst="rect">
            <a:avLst/>
          </a:prstGeom>
        </p:spPr>
        <p:txBody>
          <a:bodyPr/>
          <a:lstStyle/>
          <a:p>
            <a:pPr>
              <a:defRPr sz="4700"/>
            </a:pPr>
            <a:r>
              <a:rPr lang="ja-JP" altLang="en-JP" dirty="0">
                <a:latin typeface="ＭＳ Ｐゴシック" panose="020B0600070205080204" pitchFamily="50" charset="-128"/>
                <a:ea typeface="ＭＳ Ｐゴシック" panose="020B0600070205080204" pitchFamily="50" charset="-128"/>
              </a:rPr>
              <a:t>第</a:t>
            </a:r>
            <a:r>
              <a:rPr lang="en-JP" altLang="ja-JP" dirty="0">
                <a:latin typeface="ＭＳ Ｐゴシック" panose="020B0600070205080204" pitchFamily="50" charset="-128"/>
                <a:ea typeface="ＭＳ Ｐゴシック" panose="020B0600070205080204" pitchFamily="50" charset="-128"/>
              </a:rPr>
              <a:t>5</a:t>
            </a:r>
            <a:r>
              <a:rPr lang="ja-JP" altLang="en-JP" dirty="0">
                <a:latin typeface="ＭＳ Ｐゴシック" panose="020B0600070205080204" pitchFamily="50" charset="-128"/>
                <a:ea typeface="ＭＳ Ｐゴシック" panose="020B0600070205080204" pitchFamily="50" charset="-128"/>
              </a:rPr>
              <a:t>章</a:t>
            </a:r>
            <a:br>
              <a:rPr lang="en-US" altLang="ja-JP" dirty="0">
                <a:latin typeface="ＭＳ Ｐゴシック" panose="020B0600070205080204" pitchFamily="50" charset="-128"/>
                <a:ea typeface="ＭＳ Ｐゴシック" panose="020B0600070205080204" pitchFamily="50" charset="-128"/>
              </a:rPr>
            </a:br>
            <a:r>
              <a:rPr lang="zh-CN" altLang="en-US" dirty="0">
                <a:latin typeface="ＭＳ Ｐゴシック" panose="020B0600070205080204" pitchFamily="50" charset="-128"/>
                <a:ea typeface="ＭＳ Ｐゴシック" panose="020B0600070205080204" pitchFamily="50" charset="-128"/>
              </a:rPr>
              <a:t>生産要素</a:t>
            </a:r>
            <a:r>
              <a:rPr lang="ja-JP" altLang="en-US" dirty="0">
                <a:latin typeface="ＭＳ Ｐゴシック" panose="020B0600070205080204" pitchFamily="50" charset="-128"/>
                <a:ea typeface="ＭＳ Ｐゴシック" panose="020B0600070205080204" pitchFamily="50" charset="-128"/>
              </a:rPr>
              <a:t>が</a:t>
            </a:r>
            <a:r>
              <a:rPr lang="zh-CN" altLang="en-US" dirty="0">
                <a:latin typeface="ＭＳ Ｐゴシック" panose="020B0600070205080204" pitchFamily="50" charset="-128"/>
                <a:ea typeface="ＭＳ Ｐゴシック" panose="020B0600070205080204" pitchFamily="50" charset="-128"/>
              </a:rPr>
              <a:t>貿易</a:t>
            </a:r>
            <a:r>
              <a:rPr lang="ja-JP" altLang="en-US" dirty="0">
                <a:latin typeface="ＭＳ Ｐゴシック" panose="020B0600070205080204" pitchFamily="50" charset="-128"/>
                <a:ea typeface="ＭＳ Ｐゴシック" panose="020B0600070205080204" pitchFamily="50" charset="-128"/>
              </a:rPr>
              <a:t>を</a:t>
            </a:r>
            <a:r>
              <a:rPr lang="zh-CN" altLang="en-US" dirty="0">
                <a:latin typeface="ＭＳ Ｐゴシック" panose="020B0600070205080204" pitchFamily="50" charset="-128"/>
                <a:ea typeface="ＭＳ Ｐゴシック" panose="020B0600070205080204" pitchFamily="50" charset="-128"/>
              </a:rPr>
              <a:t>決</a:t>
            </a:r>
            <a:r>
              <a:rPr lang="ja-JP" altLang="en-US" dirty="0">
                <a:latin typeface="ＭＳ Ｐゴシック" panose="020B0600070205080204" pitchFamily="50" charset="-128"/>
                <a:ea typeface="ＭＳ Ｐゴシック" panose="020B0600070205080204" pitchFamily="50" charset="-128"/>
              </a:rPr>
              <a:t>める</a:t>
            </a:r>
            <a:endParaRPr dirty="0">
              <a:latin typeface="ＭＳ Ｐゴシック" panose="020B0600070205080204" pitchFamily="50" charset="-128"/>
              <a:ea typeface="ＭＳ Ｐゴシック" panose="020B0600070205080204" pitchFamily="50" charset="-128"/>
            </a:endParaRPr>
          </a:p>
        </p:txBody>
      </p:sp>
      <p:sp>
        <p:nvSpPr>
          <p:cNvPr id="120" name="田中 鮎夢"/>
          <p:cNvSpPr txBox="1">
            <a:spLocks noGrp="1"/>
          </p:cNvSpPr>
          <p:nvPr>
            <p:ph type="body" sz="quarter" idx="1"/>
          </p:nvPr>
        </p:nvSpPr>
        <p:spPr>
          <a:prstGeom prst="rect">
            <a:avLst/>
          </a:prstGeom>
        </p:spPr>
        <p:txBody>
          <a:bodyPr/>
          <a:lstStyle/>
          <a:p>
            <a:r>
              <a:rPr lang="ja-JP" altLang="en-US">
                <a:latin typeface="ＭＳ Ｐゴシック" panose="020B0600070205080204" pitchFamily="50" charset="-128"/>
                <a:ea typeface="ＭＳ Ｐゴシック" panose="020B0600070205080204" pitchFamily="50" charset="-128"/>
              </a:rPr>
              <a:t>ヘクシャー</a:t>
            </a:r>
            <a:r>
              <a:rPr lang="en-US" altLang="ja-JP" dirty="0">
                <a:latin typeface="ＭＳ Ｐゴシック" panose="020B0600070205080204" pitchFamily="50" charset="-128"/>
                <a:ea typeface="ＭＳ Ｐゴシック" panose="020B0600070205080204" pitchFamily="50" charset="-128"/>
              </a:rPr>
              <a:t>=</a:t>
            </a:r>
            <a:r>
              <a:rPr lang="ja-JP" altLang="en-US">
                <a:latin typeface="ＭＳ Ｐゴシック" panose="020B0600070205080204" pitchFamily="50" charset="-128"/>
                <a:ea typeface="ＭＳ Ｐゴシック" panose="020B0600070205080204" pitchFamily="50" charset="-128"/>
              </a:rPr>
              <a:t>オリーン・モデル</a:t>
            </a:r>
            <a:endParaRPr dirty="0">
              <a:latin typeface="ＭＳ Ｐゴシック" panose="020B0600070205080204" pitchFamily="50" charset="-128"/>
              <a:ea typeface="ＭＳ Ｐゴシック" panose="020B0600070205080204" pitchFamily="50" charset="-128"/>
            </a:endParaRPr>
          </a:p>
        </p:txBody>
      </p:sp>
      <p:sp>
        <p:nvSpPr>
          <p:cNvPr id="12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2413FA-6F4E-B619-9824-B17BB2DDEBCD}"/>
              </a:ext>
            </a:extLst>
          </p:cNvPr>
          <p:cNvSpPr>
            <a:spLocks noGrp="1"/>
          </p:cNvSpPr>
          <p:nvPr>
            <p:ph type="sldNum" sz="quarter" idx="2"/>
          </p:nvPr>
        </p:nvSpPr>
        <p:spPr/>
        <p:txBody>
          <a:bodyPr/>
          <a:lstStyle/>
          <a:p>
            <a:fld id="{86CB4B4D-7CA3-9044-876B-883B54F8677D}" type="slidenum">
              <a:rPr lang="en-JP" smtClean="0"/>
              <a:t>2</a:t>
            </a:fld>
            <a:endParaRPr lang="en-JP"/>
          </a:p>
        </p:txBody>
      </p:sp>
      <p:pic>
        <p:nvPicPr>
          <p:cNvPr id="4" name="Picture 3">
            <a:extLst>
              <a:ext uri="{FF2B5EF4-FFF2-40B4-BE49-F238E27FC236}">
                <a16:creationId xmlns:a16="http://schemas.microsoft.com/office/drawing/2014/main" id="{5088F5EC-0680-24A1-C35B-49E5CBAAF27F}"/>
              </a:ext>
            </a:extLst>
          </p:cNvPr>
          <p:cNvPicPr>
            <a:picLocks noChangeAspect="1"/>
          </p:cNvPicPr>
          <p:nvPr/>
        </p:nvPicPr>
        <p:blipFill>
          <a:blip r:embed="rId2"/>
          <a:stretch>
            <a:fillRect/>
          </a:stretch>
        </p:blipFill>
        <p:spPr>
          <a:xfrm>
            <a:off x="2723991" y="469900"/>
            <a:ext cx="12330838" cy="8073209"/>
          </a:xfrm>
          <a:prstGeom prst="rect">
            <a:avLst/>
          </a:prstGeom>
        </p:spPr>
      </p:pic>
    </p:spTree>
    <p:extLst>
      <p:ext uri="{BB962C8B-B14F-4D97-AF65-F5344CB8AC3E}">
        <p14:creationId xmlns:p14="http://schemas.microsoft.com/office/powerpoint/2010/main" val="133195423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48801-3C9E-92BF-63C5-6943F807BD20}"/>
              </a:ext>
            </a:extLst>
          </p:cNvPr>
          <p:cNvSpPr>
            <a:spLocks noGrp="1"/>
          </p:cNvSpPr>
          <p:nvPr>
            <p:ph type="title"/>
          </p:nvPr>
        </p:nvSpPr>
        <p:spPr/>
        <p:txBody>
          <a:bodyPr/>
          <a:lstStyle/>
          <a:p>
            <a:r>
              <a:rPr lang="en-JP" dirty="0"/>
              <a:t>本章の問い</a:t>
            </a:r>
          </a:p>
        </p:txBody>
      </p:sp>
      <p:sp>
        <p:nvSpPr>
          <p:cNvPr id="3" name="Text Placeholder 2">
            <a:extLst>
              <a:ext uri="{FF2B5EF4-FFF2-40B4-BE49-F238E27FC236}">
                <a16:creationId xmlns:a16="http://schemas.microsoft.com/office/drawing/2014/main" id="{71AEA406-1B58-BEE9-0420-0BFD1FFAF02C}"/>
              </a:ext>
            </a:extLst>
          </p:cNvPr>
          <p:cNvSpPr>
            <a:spLocks noGrp="1"/>
          </p:cNvSpPr>
          <p:nvPr>
            <p:ph type="body" idx="1"/>
          </p:nvPr>
        </p:nvSpPr>
        <p:spPr/>
        <p:txBody>
          <a:bodyPr>
            <a:normAutofit/>
          </a:bodyPr>
          <a:lstStyle/>
          <a:p>
            <a:pPr marL="0" indent="0">
              <a:buNone/>
            </a:pPr>
            <a:r>
              <a:rPr lang="en-US" altLang="zh-CN" dirty="0"/>
              <a:t>1980 </a:t>
            </a:r>
            <a:r>
              <a:rPr lang="zh-CN" altLang="en-US" dirty="0"/>
              <a:t>年代以降，</a:t>
            </a:r>
            <a:r>
              <a:rPr lang="ja-JP" altLang="en-US"/>
              <a:t>アメリカ</a:t>
            </a:r>
            <a:r>
              <a:rPr lang="zh-CN" altLang="en-US" dirty="0"/>
              <a:t>国内</a:t>
            </a:r>
            <a:r>
              <a:rPr lang="ja-JP" altLang="en-US"/>
              <a:t>で</a:t>
            </a:r>
            <a:r>
              <a:rPr lang="zh-CN" altLang="en-US" dirty="0"/>
              <a:t>賃金格差</a:t>
            </a:r>
            <a:r>
              <a:rPr lang="ja-JP" altLang="en-US"/>
              <a:t>が</a:t>
            </a:r>
            <a:r>
              <a:rPr lang="zh-CN" altLang="en-US" dirty="0"/>
              <a:t>拡大傾向</a:t>
            </a:r>
            <a:endParaRPr lang="en-US" altLang="zh-CN" dirty="0"/>
          </a:p>
          <a:p>
            <a:pPr lvl="1"/>
            <a:r>
              <a:rPr lang="zh-CN" altLang="en-US" dirty="0"/>
              <a:t>高卒労働者</a:t>
            </a:r>
            <a:r>
              <a:rPr lang="ja-JP" altLang="en-US"/>
              <a:t>に</a:t>
            </a:r>
            <a:r>
              <a:rPr lang="zh-CN" altLang="en-US" dirty="0"/>
              <a:t>対</a:t>
            </a:r>
            <a:r>
              <a:rPr lang="ja-JP" altLang="en-US"/>
              <a:t>しての</a:t>
            </a:r>
            <a:r>
              <a:rPr lang="zh-CN" altLang="en-US" dirty="0"/>
              <a:t>大卒労働者</a:t>
            </a:r>
            <a:r>
              <a:rPr lang="ja-JP" altLang="en-US"/>
              <a:t>の</a:t>
            </a:r>
            <a:r>
              <a:rPr lang="zh-CN" altLang="en-US" dirty="0"/>
              <a:t>賃金</a:t>
            </a:r>
            <a:endParaRPr lang="en-US" altLang="ja-JP" dirty="0"/>
          </a:p>
          <a:p>
            <a:pPr lvl="1"/>
            <a:r>
              <a:rPr lang="en-US" altLang="ja-JP" dirty="0"/>
              <a:t>1980 </a:t>
            </a:r>
            <a:r>
              <a:rPr lang="zh-CN" altLang="en-US" dirty="0"/>
              <a:t>年頃</a:t>
            </a:r>
            <a:r>
              <a:rPr lang="ja-JP" altLang="en-US"/>
              <a:t>には</a:t>
            </a:r>
            <a:r>
              <a:rPr lang="en-US" altLang="ja-JP" dirty="0"/>
              <a:t>1.5 </a:t>
            </a:r>
            <a:r>
              <a:rPr lang="zh-CN" altLang="en-US" dirty="0"/>
              <a:t>倍程度</a:t>
            </a:r>
            <a:endParaRPr lang="en-US" altLang="zh-CN" dirty="0"/>
          </a:p>
          <a:p>
            <a:pPr lvl="1"/>
            <a:r>
              <a:rPr lang="en-US" altLang="zh-CN" dirty="0"/>
              <a:t>2010 </a:t>
            </a:r>
            <a:r>
              <a:rPr lang="zh-CN" altLang="en-US" dirty="0"/>
              <a:t>年頃</a:t>
            </a:r>
            <a:r>
              <a:rPr lang="ja-JP" altLang="en-US"/>
              <a:t>には </a:t>
            </a:r>
            <a:r>
              <a:rPr lang="en-US" altLang="ja-JP" dirty="0"/>
              <a:t>2 </a:t>
            </a:r>
            <a:r>
              <a:rPr lang="zh-CN" altLang="en-US" dirty="0"/>
              <a:t>倍近い</a:t>
            </a:r>
            <a:endParaRPr lang="en-US" altLang="zh-CN" dirty="0"/>
          </a:p>
          <a:p>
            <a:pPr marL="0" indent="0">
              <a:buNone/>
            </a:pPr>
            <a:r>
              <a:rPr lang="en-US" altLang="zh-CN" dirty="0">
                <a:sym typeface="Wingdings" pitchFamily="2" charset="2"/>
              </a:rPr>
              <a:t></a:t>
            </a:r>
            <a:r>
              <a:rPr lang="zh-CN" altLang="en-US" dirty="0">
                <a:sym typeface="Wingdings" pitchFamily="2" charset="2"/>
              </a:rPr>
              <a:t>同時期に進んだ貿易</a:t>
            </a:r>
            <a:r>
              <a:rPr lang="ja-JP" altLang="en-US">
                <a:sym typeface="Wingdings" pitchFamily="2" charset="2"/>
              </a:rPr>
              <a:t>の</a:t>
            </a:r>
            <a:r>
              <a:rPr lang="zh-CN" altLang="en-US" dirty="0">
                <a:sym typeface="Wingdings" pitchFamily="2" charset="2"/>
              </a:rPr>
              <a:t>拡大</a:t>
            </a:r>
            <a:r>
              <a:rPr lang="ja-JP" altLang="en-US">
                <a:sym typeface="Wingdings" pitchFamily="2" charset="2"/>
              </a:rPr>
              <a:t>（グローバル</a:t>
            </a:r>
            <a:r>
              <a:rPr lang="zh-CN" altLang="en-US" dirty="0">
                <a:sym typeface="Wingdings" pitchFamily="2" charset="2"/>
              </a:rPr>
              <a:t>化</a:t>
            </a:r>
            <a:r>
              <a:rPr lang="ja-JP" altLang="en-US">
                <a:sym typeface="Wingdings" pitchFamily="2" charset="2"/>
              </a:rPr>
              <a:t>）が</a:t>
            </a:r>
            <a:r>
              <a:rPr lang="zh-CN" altLang="en-US" dirty="0">
                <a:sym typeface="Wingdings" pitchFamily="2" charset="2"/>
              </a:rPr>
              <a:t>賃金格差拡大</a:t>
            </a:r>
            <a:r>
              <a:rPr lang="ja-JP" altLang="en-US">
                <a:sym typeface="Wingdings" pitchFamily="2" charset="2"/>
              </a:rPr>
              <a:t>の</a:t>
            </a:r>
            <a:r>
              <a:rPr lang="zh-CN" altLang="en-US" dirty="0">
                <a:sym typeface="Wingdings" pitchFamily="2" charset="2"/>
              </a:rPr>
              <a:t>主因</a:t>
            </a:r>
            <a:r>
              <a:rPr lang="ja-JP" altLang="en-US">
                <a:sym typeface="Wingdings" pitchFamily="2" charset="2"/>
              </a:rPr>
              <a:t>なのだろうか？</a:t>
            </a:r>
            <a:endParaRPr lang="en-US" altLang="zh-CN" dirty="0"/>
          </a:p>
        </p:txBody>
      </p:sp>
      <p:sp>
        <p:nvSpPr>
          <p:cNvPr id="4" name="Slide Number Placeholder 3">
            <a:extLst>
              <a:ext uri="{FF2B5EF4-FFF2-40B4-BE49-F238E27FC236}">
                <a16:creationId xmlns:a16="http://schemas.microsoft.com/office/drawing/2014/main" id="{2DA814CC-0FBE-31AF-B7E3-88537DEA6CE9}"/>
              </a:ext>
            </a:extLst>
          </p:cNvPr>
          <p:cNvSpPr>
            <a:spLocks noGrp="1"/>
          </p:cNvSpPr>
          <p:nvPr>
            <p:ph type="sldNum" sz="quarter" idx="2"/>
          </p:nvPr>
        </p:nvSpPr>
        <p:spPr>
          <a:xfrm>
            <a:off x="16674977" y="9296400"/>
            <a:ext cx="216406" cy="348813"/>
          </a:xfrm>
        </p:spPr>
        <p:txBody>
          <a:bodyPr/>
          <a:lstStyle/>
          <a:p>
            <a:fld id="{86CB4B4D-7CA3-9044-876B-883B54F8677D}" type="slidenum">
              <a:rPr lang="en-JP" smtClean="0"/>
              <a:t>3</a:t>
            </a:fld>
            <a:endParaRPr lang="en-JP"/>
          </a:p>
        </p:txBody>
      </p:sp>
    </p:spTree>
    <p:extLst>
      <p:ext uri="{BB962C8B-B14F-4D97-AF65-F5344CB8AC3E}">
        <p14:creationId xmlns:p14="http://schemas.microsoft.com/office/powerpoint/2010/main" val="293460079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1. 産業間貿易"/>
          <p:cNvSpPr txBox="1">
            <a:spLocks noGrp="1"/>
          </p:cNvSpPr>
          <p:nvPr>
            <p:ph type="title"/>
          </p:nvPr>
        </p:nvSpPr>
        <p:spPr>
          <a:prstGeom prst="rect">
            <a:avLst/>
          </a:prstGeom>
        </p:spPr>
        <p:txBody>
          <a:bodyPr>
            <a:noAutofit/>
          </a:bodyPr>
          <a:lstStyle/>
          <a:p>
            <a:r>
              <a:rPr lang="en-US" altLang="ja-JP" sz="6000" dirty="0"/>
              <a:t>1 </a:t>
            </a:r>
            <a:r>
              <a:rPr lang="ja-JP" altLang="en-US" sz="6000" dirty="0"/>
              <a:t>ヘクシャー ＝ オリーン・モデル</a:t>
            </a:r>
            <a:endParaRPr sz="6000" dirty="0"/>
          </a:p>
        </p:txBody>
      </p:sp>
      <p:sp>
        <p:nvSpPr>
          <p:cNvPr id="124" name="・・・A国が産業Xの財をB国に輸出し、…"/>
          <p:cNvSpPr txBox="1">
            <a:spLocks noGrp="1"/>
          </p:cNvSpPr>
          <p:nvPr>
            <p:ph type="body" sz="half" idx="1"/>
          </p:nvPr>
        </p:nvSpPr>
        <p:spPr>
          <a:xfrm>
            <a:off x="3120231" y="2590800"/>
            <a:ext cx="11099800" cy="3220492"/>
          </a:xfrm>
          <a:prstGeom prst="rect">
            <a:avLst/>
          </a:prstGeom>
        </p:spPr>
        <p:txBody>
          <a:bodyPr anchor="t">
            <a:normAutofit fontScale="92500" lnSpcReduction="20000"/>
          </a:bodyPr>
          <a:lstStyle/>
          <a:p>
            <a:pPr marL="0" indent="0">
              <a:buSzTx/>
              <a:buNone/>
            </a:pPr>
            <a:r>
              <a:rPr lang="ja-JP" altLang="en-US" dirty="0">
                <a:latin typeface="ＭＳ Ｐゴシック" panose="020B0600070205080204" pitchFamily="50" charset="-128"/>
                <a:ea typeface="ＭＳ Ｐゴシック" panose="020B0600070205080204" pitchFamily="50" charset="-128"/>
              </a:rPr>
              <a:t>産業</a:t>
            </a:r>
            <a:r>
              <a:rPr lang="ja-JP" altLang="en-US" dirty="0">
                <a:solidFill>
                  <a:srgbClr val="0433FF"/>
                </a:solidFill>
                <a:latin typeface="ＭＳ Ｐゴシック" panose="020B0600070205080204" pitchFamily="50" charset="-128"/>
                <a:ea typeface="ＭＳ Ｐゴシック" panose="020B0600070205080204" pitchFamily="50" charset="-128"/>
              </a:rPr>
              <a:t>間</a:t>
            </a:r>
            <a:r>
              <a:rPr lang="ja-JP" altLang="en-US" dirty="0">
                <a:latin typeface="ＭＳ Ｐゴシック" panose="020B0600070205080204" pitchFamily="50" charset="-128"/>
                <a:ea typeface="ＭＳ Ｐゴシック" panose="020B0600070205080204" pitchFamily="50" charset="-128"/>
              </a:rPr>
              <a:t>貿易</a:t>
            </a:r>
            <a:endParaRPr lang="en-US" dirty="0">
              <a:latin typeface="ＭＳ Ｐゴシック" panose="020B0600070205080204" pitchFamily="50" charset="-128"/>
              <a:ea typeface="ＭＳ Ｐゴシック" panose="020B0600070205080204" pitchFamily="50" charset="-128"/>
            </a:endParaRPr>
          </a:p>
          <a:p>
            <a:pPr marL="0" indent="0">
              <a:buSzTx/>
              <a:buNone/>
            </a:pPr>
            <a:r>
              <a:rPr lang="ja-JP" altLang="en-US" dirty="0">
                <a:latin typeface="ＭＳ Ｐゴシック" panose="020B0600070205080204" pitchFamily="50" charset="-128"/>
                <a:ea typeface="ＭＳ Ｐゴシック" panose="020B0600070205080204" pitchFamily="50" charset="-128"/>
              </a:rPr>
              <a:t>・・・</a:t>
            </a:r>
            <a:r>
              <a:rPr lang="en-US" altLang="ja-JP" dirty="0">
                <a:latin typeface="ＭＳ Ｐゴシック" panose="020B0600070205080204" pitchFamily="50" charset="-128"/>
                <a:ea typeface="ＭＳ Ｐゴシック" panose="020B0600070205080204" pitchFamily="50" charset="-128"/>
              </a:rPr>
              <a:t>A</a:t>
            </a:r>
            <a:r>
              <a:rPr lang="ja-JP" altLang="en-US" dirty="0">
                <a:latin typeface="ＭＳ Ｐゴシック" panose="020B0600070205080204" pitchFamily="50" charset="-128"/>
                <a:ea typeface="ＭＳ Ｐゴシック" panose="020B0600070205080204" pitchFamily="50" charset="-128"/>
              </a:rPr>
              <a:t>国が産業</a:t>
            </a:r>
            <a:r>
              <a:rPr lang="en-US" altLang="ja-JP" dirty="0">
                <a:latin typeface="ＭＳ Ｐゴシック" panose="020B0600070205080204" pitchFamily="50" charset="-128"/>
                <a:ea typeface="ＭＳ Ｐゴシック" panose="020B0600070205080204" pitchFamily="50" charset="-128"/>
              </a:rPr>
              <a:t>X</a:t>
            </a:r>
            <a:r>
              <a:rPr lang="ja-JP" altLang="en-US" dirty="0">
                <a:latin typeface="ＭＳ Ｐゴシック" panose="020B0600070205080204" pitchFamily="50" charset="-128"/>
                <a:ea typeface="ＭＳ Ｐゴシック" panose="020B0600070205080204" pitchFamily="50" charset="-128"/>
              </a:rPr>
              <a:t>の財を</a:t>
            </a:r>
            <a:r>
              <a:rPr lang="en-US" altLang="ja-JP" dirty="0">
                <a:latin typeface="ＭＳ Ｐゴシック" panose="020B0600070205080204" pitchFamily="50" charset="-128"/>
                <a:ea typeface="ＭＳ Ｐゴシック" panose="020B0600070205080204" pitchFamily="50" charset="-128"/>
              </a:rPr>
              <a:t>B</a:t>
            </a:r>
            <a:r>
              <a:rPr lang="ja-JP" altLang="en-US" dirty="0">
                <a:latin typeface="ＭＳ Ｐゴシック" panose="020B0600070205080204" pitchFamily="50" charset="-128"/>
                <a:ea typeface="ＭＳ Ｐゴシック" panose="020B0600070205080204" pitchFamily="50" charset="-128"/>
              </a:rPr>
              <a:t>国に輸出し，</a:t>
            </a:r>
          </a:p>
          <a:p>
            <a:pPr marL="0" indent="0">
              <a:buSzTx/>
              <a:buNone/>
            </a:pPr>
            <a:r>
              <a:rPr lang="ja-JP" altLang="en-US" dirty="0">
                <a:latin typeface="ＭＳ Ｐゴシック" panose="020B0600070205080204" pitchFamily="50" charset="-128"/>
                <a:ea typeface="ＭＳ Ｐゴシック" panose="020B0600070205080204" pitchFamily="50" charset="-128"/>
              </a:rPr>
              <a:t>　　　</a:t>
            </a:r>
            <a:r>
              <a:rPr lang="en-US" altLang="ja-JP" dirty="0">
                <a:latin typeface="ＭＳ Ｐゴシック" panose="020B0600070205080204" pitchFamily="50" charset="-128"/>
                <a:ea typeface="ＭＳ Ｐゴシック" panose="020B0600070205080204" pitchFamily="50" charset="-128"/>
              </a:rPr>
              <a:t>B</a:t>
            </a:r>
            <a:r>
              <a:rPr lang="ja-JP" altLang="en-US" dirty="0">
                <a:latin typeface="ＭＳ Ｐゴシック" panose="020B0600070205080204" pitchFamily="50" charset="-128"/>
                <a:ea typeface="ＭＳ Ｐゴシック" panose="020B0600070205080204" pitchFamily="50" charset="-128"/>
              </a:rPr>
              <a:t>国が産業</a:t>
            </a:r>
            <a:r>
              <a:rPr lang="en-US" altLang="ja-JP" dirty="0">
                <a:latin typeface="ＭＳ Ｐゴシック" panose="020B0600070205080204" pitchFamily="50" charset="-128"/>
                <a:ea typeface="ＭＳ Ｐゴシック" panose="020B0600070205080204" pitchFamily="50" charset="-128"/>
              </a:rPr>
              <a:t>Y</a:t>
            </a:r>
            <a:r>
              <a:rPr lang="ja-JP" altLang="en-US" dirty="0">
                <a:latin typeface="ＭＳ Ｐゴシック" panose="020B0600070205080204" pitchFamily="50" charset="-128"/>
                <a:ea typeface="ＭＳ Ｐゴシック" panose="020B0600070205080204" pitchFamily="50" charset="-128"/>
              </a:rPr>
              <a:t>の財を</a:t>
            </a:r>
            <a:r>
              <a:rPr lang="en-US" altLang="ja-JP" dirty="0">
                <a:latin typeface="ＭＳ Ｐゴシック" panose="020B0600070205080204" pitchFamily="50" charset="-128"/>
                <a:ea typeface="ＭＳ Ｐゴシック" panose="020B0600070205080204" pitchFamily="50" charset="-128"/>
              </a:rPr>
              <a:t>A</a:t>
            </a:r>
            <a:r>
              <a:rPr lang="ja-JP" altLang="en-US" dirty="0">
                <a:latin typeface="ＭＳ Ｐゴシック" panose="020B0600070205080204" pitchFamily="50" charset="-128"/>
                <a:ea typeface="ＭＳ Ｐゴシック" panose="020B0600070205080204" pitchFamily="50" charset="-128"/>
              </a:rPr>
              <a:t>国に輸出する</a:t>
            </a:r>
          </a:p>
          <a:p>
            <a:pPr marL="0" indent="0">
              <a:buSzTx/>
              <a:buNone/>
            </a:pPr>
            <a:r>
              <a:rPr lang="ja-JP" altLang="en-US" dirty="0">
                <a:latin typeface="ＭＳ Ｐゴシック" panose="020B0600070205080204" pitchFamily="50" charset="-128"/>
                <a:ea typeface="ＭＳ Ｐゴシック" panose="020B0600070205080204" pitchFamily="50" charset="-128"/>
              </a:rPr>
              <a:t>　　　といった，異なる産業の財を輸出し合う貿易パターン</a:t>
            </a:r>
          </a:p>
        </p:txBody>
      </p:sp>
      <p:sp>
        <p:nvSpPr>
          <p:cNvPr id="125" name="日本"/>
          <p:cNvSpPr/>
          <p:nvPr/>
        </p:nvSpPr>
        <p:spPr>
          <a:xfrm>
            <a:off x="3717131" y="6756400"/>
            <a:ext cx="2147888" cy="8809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900">
                <a:latin typeface="+mn-lt"/>
                <a:ea typeface="+mn-ea"/>
                <a:cs typeface="+mn-cs"/>
                <a:sym typeface="ヒラギノ角ゴ ProN W3"/>
              </a:defRPr>
            </a:lvl1pPr>
          </a:lstStyle>
          <a:p>
            <a:r>
              <a:rPr dirty="0" err="1">
                <a:latin typeface="ＭＳ Ｐゴシック" panose="020B0600070205080204" pitchFamily="50" charset="-128"/>
                <a:ea typeface="ＭＳ Ｐゴシック" panose="020B0600070205080204" pitchFamily="50" charset="-128"/>
              </a:rPr>
              <a:t>日本</a:t>
            </a:r>
            <a:endParaRPr dirty="0">
              <a:latin typeface="ＭＳ Ｐゴシック" panose="020B0600070205080204" pitchFamily="50" charset="-128"/>
              <a:ea typeface="ＭＳ Ｐゴシック" panose="020B0600070205080204" pitchFamily="50" charset="-128"/>
            </a:endParaRPr>
          </a:p>
        </p:txBody>
      </p:sp>
      <p:sp>
        <p:nvSpPr>
          <p:cNvPr id="126" name="インド"/>
          <p:cNvSpPr/>
          <p:nvPr/>
        </p:nvSpPr>
        <p:spPr>
          <a:xfrm>
            <a:off x="10194131" y="6756400"/>
            <a:ext cx="2147888" cy="8809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900">
                <a:latin typeface="+mn-lt"/>
                <a:ea typeface="+mn-ea"/>
                <a:cs typeface="+mn-cs"/>
                <a:sym typeface="ヒラギノ角ゴ ProN W3"/>
              </a:defRPr>
            </a:lvl1pPr>
          </a:lstStyle>
          <a:p>
            <a:r>
              <a:rPr dirty="0" err="1">
                <a:latin typeface="ＭＳ Ｐゴシック" panose="020B0600070205080204" pitchFamily="50" charset="-128"/>
                <a:ea typeface="ＭＳ Ｐゴシック" panose="020B0600070205080204" pitchFamily="50" charset="-128"/>
              </a:rPr>
              <a:t>インド</a:t>
            </a:r>
            <a:endParaRPr dirty="0">
              <a:latin typeface="ＭＳ Ｐゴシック" panose="020B0600070205080204" pitchFamily="50" charset="-128"/>
              <a:ea typeface="ＭＳ Ｐゴシック" panose="020B0600070205080204" pitchFamily="50" charset="-128"/>
            </a:endParaRPr>
          </a:p>
        </p:txBody>
      </p:sp>
      <p:sp>
        <p:nvSpPr>
          <p:cNvPr id="127" name="Line"/>
          <p:cNvSpPr/>
          <p:nvPr/>
        </p:nvSpPr>
        <p:spPr>
          <a:xfrm>
            <a:off x="5863432" y="7061200"/>
            <a:ext cx="4152405" cy="0"/>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28" name="車"/>
          <p:cNvSpPr txBox="1"/>
          <p:nvPr/>
        </p:nvSpPr>
        <p:spPr>
          <a:xfrm>
            <a:off x="6966347" y="6539667"/>
            <a:ext cx="410369"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dirty="0">
                <a:latin typeface="ＭＳ Ｐゴシック" panose="020B0600070205080204" pitchFamily="50" charset="-128"/>
                <a:ea typeface="ＭＳ Ｐゴシック" panose="020B0600070205080204" pitchFamily="50" charset="-128"/>
              </a:rPr>
              <a:t>車</a:t>
            </a:r>
          </a:p>
        </p:txBody>
      </p:sp>
      <p:sp>
        <p:nvSpPr>
          <p:cNvPr id="129" name="Line"/>
          <p:cNvSpPr/>
          <p:nvPr/>
        </p:nvSpPr>
        <p:spPr>
          <a:xfrm flipH="1">
            <a:off x="6287838" y="7415709"/>
            <a:ext cx="3875587" cy="1"/>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30" name="小麦"/>
          <p:cNvSpPr txBox="1"/>
          <p:nvPr/>
        </p:nvSpPr>
        <p:spPr>
          <a:xfrm>
            <a:off x="7580563" y="7409438"/>
            <a:ext cx="718145"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ja-JP" altLang="en-US" dirty="0">
                <a:latin typeface="ＭＳ Ｐゴシック" panose="020B0600070205080204" pitchFamily="50" charset="-128"/>
                <a:ea typeface="ＭＳ Ｐゴシック" panose="020B0600070205080204" pitchFamily="50" charset="-128"/>
              </a:rPr>
              <a:t>小麦</a:t>
            </a:r>
            <a:endParaRPr dirty="0">
              <a:latin typeface="ＭＳ Ｐゴシック" panose="020B0600070205080204" pitchFamily="50" charset="-128"/>
              <a:ea typeface="ＭＳ Ｐゴシック" panose="020B0600070205080204" pitchFamily="50" charset="-128"/>
            </a:endParaRPr>
          </a:p>
        </p:txBody>
      </p:sp>
      <p:sp>
        <p:nvSpPr>
          <p:cNvPr id="131" name="例"/>
          <p:cNvSpPr txBox="1"/>
          <p:nvPr/>
        </p:nvSpPr>
        <p:spPr>
          <a:xfrm>
            <a:off x="3232547" y="6341547"/>
            <a:ext cx="410369"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dirty="0">
                <a:latin typeface="ＭＳ Ｐゴシック" panose="020B0600070205080204" pitchFamily="50" charset="-128"/>
                <a:ea typeface="ＭＳ Ｐゴシック" panose="020B0600070205080204" pitchFamily="50" charset="-128"/>
              </a:rPr>
              <a:t>例</a:t>
            </a:r>
          </a:p>
        </p:txBody>
      </p:sp>
      <p:sp>
        <p:nvSpPr>
          <p:cNvPr id="132" name="—&gt;伝統的貿易理論"/>
          <p:cNvSpPr txBox="1"/>
          <p:nvPr/>
        </p:nvSpPr>
        <p:spPr>
          <a:xfrm>
            <a:off x="3234581" y="8549710"/>
            <a:ext cx="2616101"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en-US" altLang="zh-TW" dirty="0">
                <a:latin typeface="ＭＳ Ｐゴシック" panose="020B0600070205080204" pitchFamily="50" charset="-128"/>
                <a:ea typeface="ＭＳ Ｐゴシック" panose="020B0600070205080204" pitchFamily="50" charset="-128"/>
              </a:rPr>
              <a:t>—&gt;</a:t>
            </a:r>
            <a:r>
              <a:rPr lang="zh-TW" altLang="en-US" dirty="0">
                <a:latin typeface="ＭＳ Ｐゴシック" panose="020B0600070205080204" pitchFamily="50" charset="-128"/>
                <a:ea typeface="ＭＳ Ｐゴシック" panose="020B0600070205080204" pitchFamily="50" charset="-128"/>
              </a:rPr>
              <a:t>伝統的貿易理論</a:t>
            </a:r>
          </a:p>
        </p:txBody>
      </p:sp>
      <p:sp>
        <p:nvSpPr>
          <p:cNvPr id="133" name="Slide Number"/>
          <p:cNvSpPr txBox="1">
            <a:spLocks noGrp="1"/>
          </p:cNvSpPr>
          <p:nvPr>
            <p:ph type="sldNum" sz="quarter" idx="2"/>
          </p:nvPr>
        </p:nvSpPr>
        <p:spPr>
          <a:xfrm>
            <a:off x="16605283" y="9296400"/>
            <a:ext cx="216406" cy="34881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sp>
        <p:nvSpPr>
          <p:cNvPr id="4" name="Rounded Rectangle 3">
            <a:extLst>
              <a:ext uri="{FF2B5EF4-FFF2-40B4-BE49-F238E27FC236}">
                <a16:creationId xmlns:a16="http://schemas.microsoft.com/office/drawing/2014/main" id="{BE784E45-13A1-3B7A-D6BE-58DAD6135DB8}"/>
              </a:ext>
            </a:extLst>
          </p:cNvPr>
          <p:cNvSpPr/>
          <p:nvPr/>
        </p:nvSpPr>
        <p:spPr>
          <a:xfrm>
            <a:off x="6781800" y="6539667"/>
            <a:ext cx="798763" cy="521533"/>
          </a:xfrm>
          <a:prstGeom prst="roundRect">
            <a:avLst/>
          </a:prstGeom>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5" name="Rounded Rectangle 4">
            <a:extLst>
              <a:ext uri="{FF2B5EF4-FFF2-40B4-BE49-F238E27FC236}">
                <a16:creationId xmlns:a16="http://schemas.microsoft.com/office/drawing/2014/main" id="{D1568C20-AF5A-0547-7EE1-37D066B5D9D7}"/>
              </a:ext>
            </a:extLst>
          </p:cNvPr>
          <p:cNvSpPr/>
          <p:nvPr/>
        </p:nvSpPr>
        <p:spPr>
          <a:xfrm>
            <a:off x="7577809" y="7359829"/>
            <a:ext cx="798763" cy="521533"/>
          </a:xfrm>
          <a:prstGeom prst="roundRect">
            <a:avLst/>
          </a:prstGeom>
          <a:noFill/>
          <a:ln>
            <a:solidFill>
              <a:schemeClr val="accent4"/>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2. 産業内貿易"/>
          <p:cNvSpPr txBox="1">
            <a:spLocks noGrp="1"/>
          </p:cNvSpPr>
          <p:nvPr>
            <p:ph type="title"/>
          </p:nvPr>
        </p:nvSpPr>
        <p:spPr>
          <a:prstGeom prst="rect">
            <a:avLst/>
          </a:prstGeom>
        </p:spPr>
        <p:txBody>
          <a:bodyPr>
            <a:normAutofit/>
          </a:bodyPr>
          <a:lstStyle/>
          <a:p>
            <a:r>
              <a:rPr lang="ja-JP" altLang="en-US" dirty="0">
                <a:latin typeface="ＭＳ Ｐゴシック" panose="020B0600070205080204" pitchFamily="50" charset="-128"/>
                <a:ea typeface="ＭＳ Ｐゴシック" panose="020B0600070205080204" pitchFamily="50" charset="-128"/>
              </a:rPr>
              <a:t>産業内貿易</a:t>
            </a:r>
            <a:endParaRPr dirty="0">
              <a:latin typeface="ＭＳ Ｐゴシック" panose="020B0600070205080204" pitchFamily="50" charset="-128"/>
              <a:ea typeface="ＭＳ Ｐゴシック" panose="020B0600070205080204" pitchFamily="50" charset="-128"/>
            </a:endParaRPr>
          </a:p>
        </p:txBody>
      </p:sp>
      <p:sp>
        <p:nvSpPr>
          <p:cNvPr id="136" name="・・・A国が産業Xの財をB国に輸出し、…"/>
          <p:cNvSpPr txBox="1">
            <a:spLocks noGrp="1"/>
          </p:cNvSpPr>
          <p:nvPr>
            <p:ph type="body" sz="half" idx="1"/>
          </p:nvPr>
        </p:nvSpPr>
        <p:spPr>
          <a:xfrm>
            <a:off x="3120231" y="2590800"/>
            <a:ext cx="11099800" cy="3220492"/>
          </a:xfrm>
          <a:prstGeom prst="rect">
            <a:avLst/>
          </a:prstGeom>
        </p:spPr>
        <p:txBody>
          <a:bodyPr anchor="t">
            <a:normAutofit fontScale="92500" lnSpcReduction="20000"/>
          </a:bodyPr>
          <a:lstStyle/>
          <a:p>
            <a:pPr marL="0" indent="0">
              <a:buSzTx/>
              <a:buNone/>
            </a:pPr>
            <a:r>
              <a:rPr lang="ja-JP" altLang="en-US" dirty="0">
                <a:latin typeface="ＭＳ Ｐゴシック" panose="020B0600070205080204" pitchFamily="50" charset="-128"/>
                <a:ea typeface="ＭＳ Ｐゴシック" panose="020B0600070205080204" pitchFamily="50" charset="-128"/>
              </a:rPr>
              <a:t>産業</a:t>
            </a:r>
            <a:r>
              <a:rPr lang="ja-JP" altLang="en-US" dirty="0">
                <a:solidFill>
                  <a:srgbClr val="0433FF"/>
                </a:solidFill>
                <a:latin typeface="ＭＳ Ｐゴシック" panose="020B0600070205080204" pitchFamily="50" charset="-128"/>
                <a:ea typeface="ＭＳ Ｐゴシック" panose="020B0600070205080204" pitchFamily="50" charset="-128"/>
              </a:rPr>
              <a:t>内</a:t>
            </a:r>
            <a:r>
              <a:rPr lang="ja-JP" altLang="en-US" dirty="0">
                <a:latin typeface="ＭＳ Ｐゴシック" panose="020B0600070205080204" pitchFamily="50" charset="-128"/>
                <a:ea typeface="ＭＳ Ｐゴシック" panose="020B0600070205080204" pitchFamily="50" charset="-128"/>
              </a:rPr>
              <a:t>貿易</a:t>
            </a:r>
            <a:endParaRPr lang="en-US" dirty="0">
              <a:latin typeface="ＭＳ Ｐゴシック" panose="020B0600070205080204" pitchFamily="50" charset="-128"/>
              <a:ea typeface="ＭＳ Ｐゴシック" panose="020B0600070205080204" pitchFamily="50" charset="-128"/>
            </a:endParaRPr>
          </a:p>
          <a:p>
            <a:pPr marL="0" indent="0">
              <a:buSzTx/>
              <a:buNone/>
            </a:pPr>
            <a:r>
              <a:rPr lang="ja-JP" altLang="en-US" dirty="0">
                <a:latin typeface="ＭＳ Ｐゴシック" panose="020B0600070205080204" pitchFamily="50" charset="-128"/>
                <a:ea typeface="ＭＳ Ｐゴシック" panose="020B0600070205080204" pitchFamily="50" charset="-128"/>
              </a:rPr>
              <a:t>・・・</a:t>
            </a:r>
            <a:r>
              <a:rPr lang="en-US" altLang="ja-JP" dirty="0">
                <a:latin typeface="ＭＳ Ｐゴシック" panose="020B0600070205080204" pitchFamily="50" charset="-128"/>
                <a:ea typeface="ＭＳ Ｐゴシック" panose="020B0600070205080204" pitchFamily="50" charset="-128"/>
              </a:rPr>
              <a:t>A</a:t>
            </a:r>
            <a:r>
              <a:rPr lang="ja-JP" altLang="en-US" dirty="0">
                <a:latin typeface="ＭＳ Ｐゴシック" panose="020B0600070205080204" pitchFamily="50" charset="-128"/>
                <a:ea typeface="ＭＳ Ｐゴシック" panose="020B0600070205080204" pitchFamily="50" charset="-128"/>
              </a:rPr>
              <a:t>国が産業</a:t>
            </a:r>
            <a:r>
              <a:rPr lang="en-US" altLang="ja-JP" dirty="0">
                <a:latin typeface="ＭＳ Ｐゴシック" panose="020B0600070205080204" pitchFamily="50" charset="-128"/>
                <a:ea typeface="ＭＳ Ｐゴシック" panose="020B0600070205080204" pitchFamily="50" charset="-128"/>
              </a:rPr>
              <a:t>X</a:t>
            </a:r>
            <a:r>
              <a:rPr lang="ja-JP" altLang="en-US" dirty="0">
                <a:latin typeface="ＭＳ Ｐゴシック" panose="020B0600070205080204" pitchFamily="50" charset="-128"/>
                <a:ea typeface="ＭＳ Ｐゴシック" panose="020B0600070205080204" pitchFamily="50" charset="-128"/>
              </a:rPr>
              <a:t>の財を</a:t>
            </a:r>
            <a:r>
              <a:rPr lang="en-US" altLang="ja-JP" dirty="0">
                <a:latin typeface="ＭＳ Ｐゴシック" panose="020B0600070205080204" pitchFamily="50" charset="-128"/>
                <a:ea typeface="ＭＳ Ｐゴシック" panose="020B0600070205080204" pitchFamily="50" charset="-128"/>
              </a:rPr>
              <a:t>B</a:t>
            </a:r>
            <a:r>
              <a:rPr lang="ja-JP" altLang="en-US" dirty="0">
                <a:latin typeface="ＭＳ Ｐゴシック" panose="020B0600070205080204" pitchFamily="50" charset="-128"/>
                <a:ea typeface="ＭＳ Ｐゴシック" panose="020B0600070205080204" pitchFamily="50" charset="-128"/>
              </a:rPr>
              <a:t>国に輸出し，</a:t>
            </a:r>
          </a:p>
          <a:p>
            <a:pPr marL="0" indent="0">
              <a:buSzTx/>
              <a:buNone/>
            </a:pPr>
            <a:r>
              <a:rPr lang="ja-JP" altLang="en-US" dirty="0">
                <a:latin typeface="ＭＳ Ｐゴシック" panose="020B0600070205080204" pitchFamily="50" charset="-128"/>
                <a:ea typeface="ＭＳ Ｐゴシック" panose="020B0600070205080204" pitchFamily="50" charset="-128"/>
              </a:rPr>
              <a:t>　　　</a:t>
            </a:r>
            <a:r>
              <a:rPr lang="en-US" altLang="ja-JP" dirty="0">
                <a:latin typeface="ＭＳ Ｐゴシック" panose="020B0600070205080204" pitchFamily="50" charset="-128"/>
                <a:ea typeface="ＭＳ Ｐゴシック" panose="020B0600070205080204" pitchFamily="50" charset="-128"/>
              </a:rPr>
              <a:t>B</a:t>
            </a:r>
            <a:r>
              <a:rPr lang="ja-JP" altLang="en-US" dirty="0">
                <a:latin typeface="ＭＳ Ｐゴシック" panose="020B0600070205080204" pitchFamily="50" charset="-128"/>
                <a:ea typeface="ＭＳ Ｐゴシック" panose="020B0600070205080204" pitchFamily="50" charset="-128"/>
              </a:rPr>
              <a:t>国も産業</a:t>
            </a:r>
            <a:r>
              <a:rPr lang="en-US" altLang="ja-JP" dirty="0">
                <a:latin typeface="ＭＳ Ｐゴシック" panose="020B0600070205080204" pitchFamily="50" charset="-128"/>
                <a:ea typeface="ＭＳ Ｐゴシック" panose="020B0600070205080204" pitchFamily="50" charset="-128"/>
              </a:rPr>
              <a:t>X</a:t>
            </a:r>
            <a:r>
              <a:rPr lang="ja-JP" altLang="en-US" dirty="0">
                <a:latin typeface="ＭＳ Ｐゴシック" panose="020B0600070205080204" pitchFamily="50" charset="-128"/>
                <a:ea typeface="ＭＳ Ｐゴシック" panose="020B0600070205080204" pitchFamily="50" charset="-128"/>
              </a:rPr>
              <a:t>の財を</a:t>
            </a:r>
            <a:r>
              <a:rPr lang="en-US" altLang="ja-JP" dirty="0">
                <a:latin typeface="ＭＳ Ｐゴシック" panose="020B0600070205080204" pitchFamily="50" charset="-128"/>
                <a:ea typeface="ＭＳ Ｐゴシック" panose="020B0600070205080204" pitchFamily="50" charset="-128"/>
              </a:rPr>
              <a:t>A</a:t>
            </a:r>
            <a:r>
              <a:rPr lang="ja-JP" altLang="en-US" dirty="0">
                <a:latin typeface="ＭＳ Ｐゴシック" panose="020B0600070205080204" pitchFamily="50" charset="-128"/>
                <a:ea typeface="ＭＳ Ｐゴシック" panose="020B0600070205080204" pitchFamily="50" charset="-128"/>
              </a:rPr>
              <a:t>国に輸出する</a:t>
            </a:r>
          </a:p>
          <a:p>
            <a:pPr marL="0" indent="0">
              <a:buSzTx/>
              <a:buNone/>
            </a:pPr>
            <a:r>
              <a:rPr lang="ja-JP" altLang="en-US" dirty="0">
                <a:latin typeface="ＭＳ Ｐゴシック" panose="020B0600070205080204" pitchFamily="50" charset="-128"/>
                <a:ea typeface="ＭＳ Ｐゴシック" panose="020B0600070205080204" pitchFamily="50" charset="-128"/>
              </a:rPr>
              <a:t>　　　といった，同じ産業の財を輸出し合う貿易パターン</a:t>
            </a:r>
          </a:p>
        </p:txBody>
      </p:sp>
      <p:sp>
        <p:nvSpPr>
          <p:cNvPr id="137" name="日本"/>
          <p:cNvSpPr/>
          <p:nvPr/>
        </p:nvSpPr>
        <p:spPr>
          <a:xfrm>
            <a:off x="3717131" y="6756400"/>
            <a:ext cx="2147888" cy="8809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900">
                <a:latin typeface="+mn-lt"/>
                <a:ea typeface="+mn-ea"/>
                <a:cs typeface="+mn-cs"/>
                <a:sym typeface="ヒラギノ角ゴ ProN W3"/>
              </a:defRPr>
            </a:lvl1pPr>
          </a:lstStyle>
          <a:p>
            <a:r>
              <a:rPr>
                <a:latin typeface="ＭＳ Ｐゴシック" panose="020B0600070205080204" pitchFamily="50" charset="-128"/>
                <a:ea typeface="ＭＳ Ｐゴシック" panose="020B0600070205080204" pitchFamily="50" charset="-128"/>
              </a:rPr>
              <a:t>日本</a:t>
            </a:r>
          </a:p>
        </p:txBody>
      </p:sp>
      <p:sp>
        <p:nvSpPr>
          <p:cNvPr id="138" name="ドイツ"/>
          <p:cNvSpPr/>
          <p:nvPr/>
        </p:nvSpPr>
        <p:spPr>
          <a:xfrm>
            <a:off x="10194131" y="6756400"/>
            <a:ext cx="2147888" cy="88096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3900">
                <a:latin typeface="+mn-lt"/>
                <a:ea typeface="+mn-ea"/>
                <a:cs typeface="+mn-cs"/>
                <a:sym typeface="ヒラギノ角ゴ ProN W3"/>
              </a:defRPr>
            </a:lvl1pPr>
          </a:lstStyle>
          <a:p>
            <a:r>
              <a:rPr>
                <a:latin typeface="ＭＳ Ｐゴシック" panose="020B0600070205080204" pitchFamily="50" charset="-128"/>
                <a:ea typeface="ＭＳ Ｐゴシック" panose="020B0600070205080204" pitchFamily="50" charset="-128"/>
              </a:rPr>
              <a:t>ドイツ</a:t>
            </a:r>
          </a:p>
        </p:txBody>
      </p:sp>
      <p:sp>
        <p:nvSpPr>
          <p:cNvPr id="139" name="Line"/>
          <p:cNvSpPr/>
          <p:nvPr/>
        </p:nvSpPr>
        <p:spPr>
          <a:xfrm>
            <a:off x="5863432" y="7061200"/>
            <a:ext cx="4152405" cy="0"/>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40" name="トヨタ車"/>
          <p:cNvSpPr txBox="1"/>
          <p:nvPr/>
        </p:nvSpPr>
        <p:spPr>
          <a:xfrm>
            <a:off x="6636128" y="6355001"/>
            <a:ext cx="1070806" cy="84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ja-JP" altLang="en-US" dirty="0">
                <a:latin typeface="ＭＳ Ｐゴシック" panose="020B0600070205080204" pitchFamily="50" charset="-128"/>
                <a:ea typeface="ＭＳ Ｐゴシック" panose="020B0600070205080204" pitchFamily="50" charset="-128"/>
              </a:rPr>
              <a:t>トヨタ車</a:t>
            </a:r>
          </a:p>
          <a:p>
            <a:endParaRPr dirty="0">
              <a:latin typeface="ＭＳ Ｐゴシック" panose="020B0600070205080204" pitchFamily="50" charset="-128"/>
              <a:ea typeface="ＭＳ Ｐゴシック" panose="020B0600070205080204" pitchFamily="50" charset="-128"/>
            </a:endParaRPr>
          </a:p>
        </p:txBody>
      </p:sp>
      <p:sp>
        <p:nvSpPr>
          <p:cNvPr id="141" name="Line"/>
          <p:cNvSpPr/>
          <p:nvPr/>
        </p:nvSpPr>
        <p:spPr>
          <a:xfrm flipH="1">
            <a:off x="6287838" y="7415709"/>
            <a:ext cx="3875587" cy="1"/>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42" name="ベンツ車"/>
          <p:cNvSpPr txBox="1"/>
          <p:nvPr/>
        </p:nvSpPr>
        <p:spPr>
          <a:xfrm>
            <a:off x="7322477" y="7409438"/>
            <a:ext cx="1234312"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ja-JP" altLang="en-US" dirty="0">
                <a:latin typeface="ＭＳ Ｐゴシック" panose="020B0600070205080204" pitchFamily="50" charset="-128"/>
                <a:ea typeface="ＭＳ Ｐゴシック" panose="020B0600070205080204" pitchFamily="50" charset="-128"/>
              </a:rPr>
              <a:t>ベンツ車</a:t>
            </a:r>
          </a:p>
        </p:txBody>
      </p:sp>
      <p:sp>
        <p:nvSpPr>
          <p:cNvPr id="143" name="例"/>
          <p:cNvSpPr txBox="1"/>
          <p:nvPr/>
        </p:nvSpPr>
        <p:spPr>
          <a:xfrm>
            <a:off x="3232547" y="6341547"/>
            <a:ext cx="410369"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dirty="0">
                <a:latin typeface="ＭＳ Ｐゴシック" panose="020B0600070205080204" pitchFamily="50" charset="-128"/>
                <a:ea typeface="ＭＳ Ｐゴシック" panose="020B0600070205080204" pitchFamily="50" charset="-128"/>
              </a:rPr>
              <a:t>例</a:t>
            </a:r>
          </a:p>
        </p:txBody>
      </p:sp>
      <p:sp>
        <p:nvSpPr>
          <p:cNvPr id="144" name="—&gt;新貿易理論"/>
          <p:cNvSpPr txBox="1"/>
          <p:nvPr/>
        </p:nvSpPr>
        <p:spPr>
          <a:xfrm>
            <a:off x="3542356" y="8549710"/>
            <a:ext cx="2000548"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lang="en-US" altLang="ja-JP" dirty="0">
                <a:latin typeface="ＭＳ Ｐゴシック" panose="020B0600070205080204" pitchFamily="50" charset="-128"/>
                <a:ea typeface="ＭＳ Ｐゴシック" panose="020B0600070205080204" pitchFamily="50" charset="-128"/>
              </a:rPr>
              <a:t>—&gt;</a:t>
            </a:r>
            <a:r>
              <a:rPr lang="ja-JP" altLang="en-US" dirty="0">
                <a:latin typeface="ＭＳ Ｐゴシック" panose="020B0600070205080204" pitchFamily="50" charset="-128"/>
                <a:ea typeface="ＭＳ Ｐゴシック" panose="020B0600070205080204" pitchFamily="50" charset="-128"/>
              </a:rPr>
              <a:t>新貿易理論</a:t>
            </a:r>
          </a:p>
        </p:txBody>
      </p:sp>
      <p:sp>
        <p:nvSpPr>
          <p:cNvPr id="145" name="Slide Number"/>
          <p:cNvSpPr txBox="1">
            <a:spLocks noGrp="1"/>
          </p:cNvSpPr>
          <p:nvPr>
            <p:ph type="sldNum" sz="quarter" idx="2"/>
          </p:nvPr>
        </p:nvSpPr>
        <p:spPr>
          <a:xfrm>
            <a:off x="16957980" y="9296400"/>
            <a:ext cx="216406" cy="34881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4" name="Rounded Rectangle 3">
            <a:extLst>
              <a:ext uri="{FF2B5EF4-FFF2-40B4-BE49-F238E27FC236}">
                <a16:creationId xmlns:a16="http://schemas.microsoft.com/office/drawing/2014/main" id="{4E1B9ED6-C3BF-B823-5486-CFDFC3D93E5B}"/>
              </a:ext>
            </a:extLst>
          </p:cNvPr>
          <p:cNvSpPr/>
          <p:nvPr/>
        </p:nvSpPr>
        <p:spPr>
          <a:xfrm>
            <a:off x="6636128" y="6387267"/>
            <a:ext cx="1070806" cy="521533"/>
          </a:xfrm>
          <a:prstGeom prst="roundRect">
            <a:avLst/>
          </a:prstGeom>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5" name="Rounded Rectangle 4">
            <a:extLst>
              <a:ext uri="{FF2B5EF4-FFF2-40B4-BE49-F238E27FC236}">
                <a16:creationId xmlns:a16="http://schemas.microsoft.com/office/drawing/2014/main" id="{D2864253-C1B6-83B8-FB80-60503A0C5F43}"/>
              </a:ext>
            </a:extLst>
          </p:cNvPr>
          <p:cNvSpPr/>
          <p:nvPr/>
        </p:nvSpPr>
        <p:spPr>
          <a:xfrm>
            <a:off x="7291771" y="7409438"/>
            <a:ext cx="1378360" cy="521533"/>
          </a:xfrm>
          <a:prstGeom prst="roundRect">
            <a:avLst/>
          </a:prstGeom>
          <a:no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3. 伝統的貿易理論"/>
          <p:cNvSpPr txBox="1">
            <a:spLocks noGrp="1"/>
          </p:cNvSpPr>
          <p:nvPr>
            <p:ph type="title"/>
          </p:nvPr>
        </p:nvSpPr>
        <p:spPr>
          <a:prstGeom prst="rect">
            <a:avLst/>
          </a:prstGeom>
        </p:spPr>
        <p:txBody>
          <a:bodyPr>
            <a:noAutofit/>
          </a:bodyPr>
          <a:lstStyle/>
          <a:p>
            <a:r>
              <a:rPr lang="ja-JP" altLang="en-US" sz="4400" dirty="0"/>
              <a:t>ヘクシャー＝オリーン・モデル</a:t>
            </a:r>
            <a:r>
              <a:rPr sz="4400" dirty="0"/>
              <a:t> </a:t>
            </a:r>
            <a:endParaRPr sz="4400" dirty="0">
              <a:solidFill>
                <a:srgbClr val="0433FF"/>
              </a:solidFill>
            </a:endParaRPr>
          </a:p>
        </p:txBody>
      </p:sp>
      <p:sp>
        <p:nvSpPr>
          <p:cNvPr id="148" name="Traditional trade theory / old trade theory…"/>
          <p:cNvSpPr txBox="1">
            <a:spLocks noGrp="1"/>
          </p:cNvSpPr>
          <p:nvPr>
            <p:ph type="body" idx="1"/>
          </p:nvPr>
        </p:nvSpPr>
        <p:spPr>
          <a:prstGeom prst="rect">
            <a:avLst/>
          </a:prstGeom>
        </p:spPr>
        <p:txBody>
          <a:bodyPr/>
          <a:lstStyle/>
          <a:p>
            <a:pPr marL="0" indent="0" defTabSz="490727">
              <a:spcBef>
                <a:spcPts val="3500"/>
              </a:spcBef>
              <a:buSzTx/>
              <a:buNone/>
              <a:defRPr sz="2688"/>
            </a:pPr>
            <a:r>
              <a:rPr lang="ja-JP" altLang="en-US" dirty="0">
                <a:solidFill>
                  <a:schemeClr val="tx1"/>
                </a:solidFill>
                <a:latin typeface="ＭＳ Ｐゴシック" panose="020B0600070205080204" pitchFamily="50" charset="-128"/>
                <a:ea typeface="ＭＳ Ｐゴシック" panose="020B0600070205080204" pitchFamily="50" charset="-128"/>
              </a:rPr>
              <a:t>伝統的貿易理論では</a:t>
            </a:r>
            <a:r>
              <a:rPr lang="ja-JP" altLang="en-US" dirty="0">
                <a:solidFill>
                  <a:srgbClr val="0433FF"/>
                </a:solidFill>
                <a:latin typeface="ＭＳ Ｐゴシック" panose="020B0600070205080204" pitchFamily="50" charset="-128"/>
                <a:ea typeface="ＭＳ Ｐゴシック" panose="020B0600070205080204" pitchFamily="50" charset="-128"/>
              </a:rPr>
              <a:t>比較優位</a:t>
            </a:r>
            <a:r>
              <a:rPr lang="ja-JP" altLang="en-US" dirty="0">
                <a:latin typeface="ＭＳ Ｐゴシック" panose="020B0600070205080204" pitchFamily="50" charset="-128"/>
                <a:ea typeface="ＭＳ Ｐゴシック" panose="020B0600070205080204" pitchFamily="50" charset="-128"/>
              </a:rPr>
              <a:t>ある財を各国が輸出し合うと考える。</a:t>
            </a:r>
          </a:p>
          <a:p>
            <a:pPr marL="0" indent="0" defTabSz="490727">
              <a:spcBef>
                <a:spcPts val="3500"/>
              </a:spcBef>
              <a:buSzTx/>
              <a:buNone/>
              <a:defRPr sz="2688"/>
            </a:pPr>
            <a:r>
              <a:rPr lang="en-US" altLang="ja-JP" dirty="0">
                <a:latin typeface="ＭＳ Ｐゴシック" panose="020B0600070205080204" pitchFamily="50" charset="-128"/>
                <a:ea typeface="ＭＳ Ｐゴシック" panose="020B0600070205080204" pitchFamily="50" charset="-128"/>
              </a:rPr>
              <a:t>(1)</a:t>
            </a:r>
            <a:r>
              <a:rPr lang="ja-JP" altLang="en-US" dirty="0">
                <a:latin typeface="ＭＳ Ｐゴシック" panose="020B0600070205080204" pitchFamily="50" charset="-128"/>
                <a:ea typeface="ＭＳ Ｐゴシック" panose="020B0600070205080204" pitchFamily="50" charset="-128"/>
              </a:rPr>
              <a:t>リカード・モデル</a:t>
            </a:r>
          </a:p>
          <a:p>
            <a:pPr marL="0" indent="0" defTabSz="490727">
              <a:spcBef>
                <a:spcPts val="3500"/>
              </a:spcBef>
              <a:buSzTx/>
              <a:buNone/>
              <a:defRPr sz="2688"/>
            </a:pPr>
            <a:r>
              <a:rPr lang="en-US" altLang="ja-JP" dirty="0">
                <a:latin typeface="ＭＳ Ｐゴシック" panose="020B0600070205080204" pitchFamily="50" charset="-128"/>
                <a:ea typeface="ＭＳ Ｐゴシック" panose="020B0600070205080204" pitchFamily="50" charset="-128"/>
              </a:rPr>
              <a:t>	</a:t>
            </a:r>
            <a:r>
              <a:rPr lang="ja-JP" altLang="en-US" dirty="0">
                <a:highlight>
                  <a:srgbClr val="FFFF00"/>
                </a:highlight>
                <a:latin typeface="ＭＳ Ｐゴシック" panose="020B0600070205080204" pitchFamily="50" charset="-128"/>
                <a:ea typeface="ＭＳ Ｐゴシック" panose="020B0600070205080204" pitchFamily="50" charset="-128"/>
              </a:rPr>
              <a:t>生産性</a:t>
            </a:r>
            <a:r>
              <a:rPr lang="ja-JP" altLang="en-US" dirty="0">
                <a:latin typeface="ＭＳ Ｐゴシック" panose="020B0600070205080204" pitchFamily="50" charset="-128"/>
                <a:ea typeface="ＭＳ Ｐゴシック" panose="020B0600070205080204" pitchFamily="50" charset="-128"/>
              </a:rPr>
              <a:t>が相対的に高い</a:t>
            </a:r>
            <a:r>
              <a:rPr lang="en-US" altLang="ja-JP" dirty="0">
                <a:latin typeface="ＭＳ Ｐゴシック" panose="020B0600070205080204" pitchFamily="50" charset="-128"/>
                <a:ea typeface="ＭＳ Ｐゴシック" panose="020B0600070205080204" pitchFamily="50" charset="-128"/>
              </a:rPr>
              <a:t>—&gt;</a:t>
            </a:r>
            <a:r>
              <a:rPr lang="ja-JP" altLang="en-US" dirty="0">
                <a:latin typeface="ＭＳ Ｐゴシック" panose="020B0600070205080204" pitchFamily="50" charset="-128"/>
                <a:ea typeface="ＭＳ Ｐゴシック" panose="020B0600070205080204" pitchFamily="50" charset="-128"/>
              </a:rPr>
              <a:t>比較優位</a:t>
            </a:r>
          </a:p>
          <a:p>
            <a:pPr marL="0" indent="0" defTabSz="490727">
              <a:spcBef>
                <a:spcPts val="3500"/>
              </a:spcBef>
              <a:buSzTx/>
              <a:buNone/>
              <a:defRPr sz="2688"/>
            </a:pPr>
            <a:r>
              <a:rPr lang="en-US" altLang="ja-JP" dirty="0">
                <a:latin typeface="ＭＳ Ｐゴシック" panose="020B0600070205080204" pitchFamily="50" charset="-128"/>
                <a:ea typeface="ＭＳ Ｐゴシック" panose="020B0600070205080204" pitchFamily="50" charset="-128"/>
              </a:rPr>
              <a:t>(2)</a:t>
            </a:r>
            <a:r>
              <a:rPr lang="ja-JP" altLang="en-US" dirty="0">
                <a:latin typeface="ＭＳ Ｐゴシック" panose="020B0600070205080204" pitchFamily="50" charset="-128"/>
                <a:ea typeface="ＭＳ Ｐゴシック" panose="020B0600070205080204" pitchFamily="50" charset="-128"/>
              </a:rPr>
              <a:t>ヘクシャー＝オリーン・モデル（要素比率理論）</a:t>
            </a:r>
          </a:p>
          <a:p>
            <a:pPr marL="0" indent="0" defTabSz="490727">
              <a:spcBef>
                <a:spcPts val="3500"/>
              </a:spcBef>
              <a:buSzTx/>
              <a:buNone/>
              <a:defRPr sz="2688"/>
            </a:pPr>
            <a:r>
              <a:rPr lang="en-US" altLang="ja-JP" dirty="0">
                <a:latin typeface="ＭＳ Ｐゴシック" panose="020B0600070205080204" pitchFamily="50" charset="-128"/>
                <a:ea typeface="ＭＳ Ｐゴシック" panose="020B0600070205080204" pitchFamily="50" charset="-128"/>
              </a:rPr>
              <a:t>	HO</a:t>
            </a:r>
            <a:r>
              <a:rPr lang="ja-JP" altLang="en-US" dirty="0">
                <a:latin typeface="ＭＳ Ｐゴシック" panose="020B0600070205080204" pitchFamily="50" charset="-128"/>
                <a:ea typeface="ＭＳ Ｐゴシック" panose="020B0600070205080204" pitchFamily="50" charset="-128"/>
              </a:rPr>
              <a:t>モデル</a:t>
            </a:r>
          </a:p>
          <a:p>
            <a:pPr marL="0" indent="0" defTabSz="490727">
              <a:spcBef>
                <a:spcPts val="3500"/>
              </a:spcBef>
              <a:buSzTx/>
              <a:buNone/>
              <a:defRPr sz="2688"/>
            </a:pPr>
            <a:r>
              <a:rPr lang="en-US" altLang="ja-JP" dirty="0">
                <a:latin typeface="ＭＳ Ｐゴシック" panose="020B0600070205080204" pitchFamily="50" charset="-128"/>
                <a:ea typeface="ＭＳ Ｐゴシック" panose="020B0600070205080204" pitchFamily="50" charset="-128"/>
              </a:rPr>
              <a:t>	</a:t>
            </a:r>
            <a:r>
              <a:rPr lang="ja-JP" altLang="en-US" dirty="0">
                <a:highlight>
                  <a:srgbClr val="FFFF00"/>
                </a:highlight>
                <a:latin typeface="ＭＳ Ｐゴシック" panose="020B0600070205080204" pitchFamily="50" charset="-128"/>
                <a:ea typeface="ＭＳ Ｐゴシック" panose="020B0600070205080204" pitchFamily="50" charset="-128"/>
              </a:rPr>
              <a:t>生産要素賦存（資源）</a:t>
            </a:r>
            <a:r>
              <a:rPr lang="ja-JP" altLang="en-US" dirty="0">
                <a:latin typeface="ＭＳ Ｐゴシック" panose="020B0600070205080204" pitchFamily="50" charset="-128"/>
                <a:ea typeface="ＭＳ Ｐゴシック" panose="020B0600070205080204" pitchFamily="50" charset="-128"/>
              </a:rPr>
              <a:t>が相対的に多い</a:t>
            </a:r>
            <a:r>
              <a:rPr lang="en-US" altLang="ja-JP" dirty="0">
                <a:latin typeface="ＭＳ Ｐゴシック" panose="020B0600070205080204" pitchFamily="50" charset="-128"/>
                <a:ea typeface="ＭＳ Ｐゴシック" panose="020B0600070205080204" pitchFamily="50" charset="-128"/>
              </a:rPr>
              <a:t>—&gt;</a:t>
            </a:r>
            <a:r>
              <a:rPr lang="ja-JP" altLang="en-US" dirty="0">
                <a:latin typeface="ＭＳ Ｐゴシック" panose="020B0600070205080204" pitchFamily="50" charset="-128"/>
                <a:ea typeface="ＭＳ Ｐゴシック" panose="020B0600070205080204" pitchFamily="50" charset="-128"/>
              </a:rPr>
              <a:t>比較優位</a:t>
            </a:r>
          </a:p>
        </p:txBody>
      </p:sp>
      <p:sp>
        <p:nvSpPr>
          <p:cNvPr id="15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dirty="0"/>
          </a:p>
        </p:txBody>
      </p:sp>
      <p:sp>
        <p:nvSpPr>
          <p:cNvPr id="149" name="Endowment"/>
          <p:cNvSpPr txBox="1"/>
          <p:nvPr/>
        </p:nvSpPr>
        <p:spPr>
          <a:xfrm>
            <a:off x="3735891" y="8049155"/>
            <a:ext cx="2429042"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r>
              <a:rPr dirty="0">
                <a:latin typeface="ＭＳ Ｐゴシック" panose="020B0600070205080204" pitchFamily="50" charset="-128"/>
                <a:ea typeface="ＭＳ Ｐゴシック" panose="020B0600070205080204" pitchFamily="50" charset="-128"/>
              </a:rPr>
              <a:t>Endowment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補論：エリ・ヘクシャー…"/>
          <p:cNvSpPr txBox="1">
            <a:spLocks noGrp="1"/>
          </p:cNvSpPr>
          <p:nvPr>
            <p:ph type="title"/>
          </p:nvPr>
        </p:nvSpPr>
        <p:spPr>
          <a:prstGeom prst="rect">
            <a:avLst/>
          </a:prstGeom>
        </p:spPr>
        <p:txBody>
          <a:bodyPr/>
          <a:lstStyle/>
          <a:p>
            <a:pPr defTabSz="420624">
              <a:defRPr sz="5760"/>
            </a:pPr>
            <a:r>
              <a:rPr lang="ja-JP" altLang="en-US" dirty="0">
                <a:latin typeface="ＭＳ Ｐゴシック" panose="020B0600070205080204" pitchFamily="50" charset="-128"/>
                <a:ea typeface="ＭＳ Ｐゴシック" panose="020B0600070205080204" pitchFamily="50" charset="-128"/>
              </a:rPr>
              <a:t>エリ・ヘクシャー</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a:t>
            </a:r>
            <a:r>
              <a:rPr lang="en-US" altLang="ja-JP" dirty="0">
                <a:latin typeface="ＭＳ Ｐゴシック" panose="020B0600070205080204" pitchFamily="50" charset="-128"/>
                <a:ea typeface="ＭＳ Ｐゴシック" panose="020B0600070205080204" pitchFamily="50" charset="-128"/>
              </a:rPr>
              <a:t>Eli Heckscher, 1879–1952</a:t>
            </a:r>
            <a:r>
              <a:rPr lang="ja-JP" altLang="en-US" dirty="0">
                <a:latin typeface="ＭＳ Ｐゴシック" panose="020B0600070205080204" pitchFamily="50" charset="-128"/>
                <a:ea typeface="ＭＳ Ｐゴシック" panose="020B0600070205080204" pitchFamily="50" charset="-128"/>
              </a:rPr>
              <a:t>）</a:t>
            </a:r>
            <a:endParaRPr dirty="0">
              <a:latin typeface="ＭＳ Ｐゴシック" panose="020B0600070205080204" pitchFamily="50" charset="-128"/>
              <a:ea typeface="ＭＳ Ｐゴシック" panose="020B0600070205080204" pitchFamily="50" charset="-128"/>
            </a:endParaRPr>
          </a:p>
        </p:txBody>
      </p:sp>
      <p:sp>
        <p:nvSpPr>
          <p:cNvPr id="210" name="ヘクシャーは、スウェーデンの経済学者。…"/>
          <p:cNvSpPr txBox="1">
            <a:spLocks noGrp="1"/>
          </p:cNvSpPr>
          <p:nvPr>
            <p:ph type="body" idx="1"/>
          </p:nvPr>
        </p:nvSpPr>
        <p:spPr>
          <a:prstGeom prst="rect">
            <a:avLst/>
          </a:prstGeom>
        </p:spPr>
        <p:txBody>
          <a:bodyPr anchor="t"/>
          <a:lstStyle/>
          <a:p>
            <a:r>
              <a:rPr lang="ja-JP" altLang="en-US" dirty="0">
                <a:latin typeface="ＭＳ Ｐゴシック" panose="020B0600070205080204" pitchFamily="50" charset="-128"/>
                <a:ea typeface="ＭＳ Ｐゴシック" panose="020B0600070205080204" pitchFamily="50" charset="-128"/>
              </a:rPr>
              <a:t>ヘクシャーは，スウェーデンの経済学者。</a:t>
            </a:r>
          </a:p>
          <a:p>
            <a:r>
              <a:rPr lang="ja-JP" altLang="en-US" dirty="0">
                <a:latin typeface="ＭＳ Ｐゴシック" panose="020B0600070205080204" pitchFamily="50" charset="-128"/>
                <a:ea typeface="ＭＳ Ｐゴシック" panose="020B0600070205080204" pitchFamily="50" charset="-128"/>
              </a:rPr>
              <a:t>ストックホルム生まれ。ウプサラ大学で博士号を取得。</a:t>
            </a:r>
            <a:r>
              <a:rPr lang="en-US" altLang="ja-JP" dirty="0">
                <a:latin typeface="ＭＳ Ｐゴシック" panose="020B0600070205080204" pitchFamily="50" charset="-128"/>
                <a:ea typeface="ＭＳ Ｐゴシック" panose="020B0600070205080204" pitchFamily="50" charset="-128"/>
              </a:rPr>
              <a:t>1909</a:t>
            </a:r>
            <a:r>
              <a:rPr lang="ja-JP" altLang="en-US" dirty="0">
                <a:latin typeface="ＭＳ Ｐゴシック" panose="020B0600070205080204" pitchFamily="50" charset="-128"/>
                <a:ea typeface="ＭＳ Ｐゴシック" panose="020B0600070205080204" pitchFamily="50" charset="-128"/>
              </a:rPr>
              <a:t>年から</a:t>
            </a:r>
            <a:r>
              <a:rPr lang="en-US" altLang="ja-JP" dirty="0">
                <a:latin typeface="ＭＳ Ｐゴシック" panose="020B0600070205080204" pitchFamily="50" charset="-128"/>
                <a:ea typeface="ＭＳ Ｐゴシック" panose="020B0600070205080204" pitchFamily="50" charset="-128"/>
              </a:rPr>
              <a:t>1945</a:t>
            </a:r>
            <a:r>
              <a:rPr lang="ja-JP" altLang="en-US" dirty="0">
                <a:latin typeface="ＭＳ Ｐゴシック" panose="020B0600070205080204" pitchFamily="50" charset="-128"/>
                <a:ea typeface="ＭＳ Ｐゴシック" panose="020B0600070205080204" pitchFamily="50" charset="-128"/>
              </a:rPr>
              <a:t>年までストックホルム商科大学（</a:t>
            </a:r>
            <a:r>
              <a:rPr lang="en-US" altLang="ja-JP" dirty="0">
                <a:latin typeface="ＭＳ Ｐゴシック" panose="020B0600070205080204" pitchFamily="50" charset="-128"/>
                <a:ea typeface="ＭＳ Ｐゴシック" panose="020B0600070205080204" pitchFamily="50" charset="-128"/>
              </a:rPr>
              <a:t>Stockholm School of Economics</a:t>
            </a:r>
            <a:r>
              <a:rPr lang="ja-JP" altLang="en-US" dirty="0">
                <a:latin typeface="ＭＳ Ｐゴシック" panose="020B0600070205080204" pitchFamily="50" charset="-128"/>
                <a:ea typeface="ＭＳ Ｐゴシック" panose="020B0600070205080204" pitchFamily="50" charset="-128"/>
              </a:rPr>
              <a:t>）教授。</a:t>
            </a:r>
          </a:p>
          <a:p>
            <a:r>
              <a:rPr lang="ja-JP" altLang="en-US" dirty="0">
                <a:latin typeface="ＭＳ Ｐゴシック" panose="020B0600070205080204" pitchFamily="50" charset="-128"/>
                <a:ea typeface="ＭＳ Ｐゴシック" panose="020B0600070205080204" pitchFamily="50" charset="-128"/>
              </a:rPr>
              <a:t>ストックホルム商科大学でオリーンとともにヘクシャー＝オリーン・モデルを開発した。経済史の分野でも業績がある。</a:t>
            </a:r>
          </a:p>
        </p:txBody>
      </p:sp>
      <p:sp>
        <p:nvSpPr>
          <p:cNvPr id="211" name="Slide Number"/>
          <p:cNvSpPr txBox="1">
            <a:spLocks noGrp="1"/>
          </p:cNvSpPr>
          <p:nvPr>
            <p:ph type="sldNum" sz="quarter" idx="2"/>
          </p:nvPr>
        </p:nvSpPr>
        <p:spPr>
          <a:xfrm>
            <a:off x="16674977" y="9296400"/>
            <a:ext cx="216406" cy="34881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Tree>
    <p:extLst>
      <p:ext uri="{BB962C8B-B14F-4D97-AF65-F5344CB8AC3E}">
        <p14:creationId xmlns:p14="http://schemas.microsoft.com/office/powerpoint/2010/main" val="16031369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補論：ベルティル・オリーン（Bertil Ohlin, 1899 –1979）"/>
          <p:cNvSpPr txBox="1">
            <a:spLocks noGrp="1"/>
          </p:cNvSpPr>
          <p:nvPr>
            <p:ph type="title"/>
          </p:nvPr>
        </p:nvSpPr>
        <p:spPr>
          <a:prstGeom prst="rect">
            <a:avLst/>
          </a:prstGeom>
        </p:spPr>
        <p:txBody>
          <a:bodyPr/>
          <a:lstStyle>
            <a:lvl1pPr defTabSz="443991">
              <a:defRPr sz="6080"/>
            </a:lvl1pPr>
          </a:lstStyle>
          <a:p>
            <a:r>
              <a:rPr lang="ja-JP" altLang="en-US" dirty="0">
                <a:latin typeface="ＭＳ Ｐゴシック" panose="020B0600070205080204" pitchFamily="50" charset="-128"/>
                <a:ea typeface="ＭＳ Ｐゴシック" panose="020B0600070205080204" pitchFamily="50" charset="-128"/>
              </a:rPr>
              <a:t>ベルティル・オリーン</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a:t>
            </a:r>
            <a:r>
              <a:rPr lang="en-US" altLang="ja-JP" dirty="0" err="1">
                <a:latin typeface="ＭＳ Ｐゴシック" panose="020B0600070205080204" pitchFamily="50" charset="-128"/>
                <a:ea typeface="ＭＳ Ｐゴシック" panose="020B0600070205080204" pitchFamily="50" charset="-128"/>
              </a:rPr>
              <a:t>Bertil</a:t>
            </a:r>
            <a:r>
              <a:rPr lang="en-US" altLang="ja-JP" dirty="0">
                <a:latin typeface="ＭＳ Ｐゴシック" panose="020B0600070205080204" pitchFamily="50" charset="-128"/>
                <a:ea typeface="ＭＳ Ｐゴシック" panose="020B0600070205080204" pitchFamily="50" charset="-128"/>
              </a:rPr>
              <a:t> Ohlin, 1899 –1979</a:t>
            </a:r>
            <a:r>
              <a:rPr lang="ja-JP" altLang="en-US" dirty="0">
                <a:latin typeface="ＭＳ Ｐゴシック" panose="020B0600070205080204" pitchFamily="50" charset="-128"/>
                <a:ea typeface="ＭＳ Ｐゴシック" panose="020B0600070205080204" pitchFamily="50" charset="-128"/>
              </a:rPr>
              <a:t>）</a:t>
            </a:r>
            <a:endParaRPr dirty="0">
              <a:latin typeface="ＭＳ Ｐゴシック" panose="020B0600070205080204" pitchFamily="50" charset="-128"/>
              <a:ea typeface="ＭＳ Ｐゴシック" panose="020B0600070205080204" pitchFamily="50" charset="-128"/>
            </a:endParaRPr>
          </a:p>
        </p:txBody>
      </p:sp>
      <p:sp>
        <p:nvSpPr>
          <p:cNvPr id="214" name="オリーンは、スウェーデンの経済学者。ヘクシャーの学生。…"/>
          <p:cNvSpPr txBox="1">
            <a:spLocks noGrp="1"/>
          </p:cNvSpPr>
          <p:nvPr>
            <p:ph type="body" idx="1"/>
          </p:nvPr>
        </p:nvSpPr>
        <p:spPr>
          <a:prstGeom prst="rect">
            <a:avLst/>
          </a:prstGeom>
        </p:spPr>
        <p:txBody>
          <a:bodyPr anchor="t">
            <a:normAutofit/>
          </a:bodyPr>
          <a:lstStyle/>
          <a:p>
            <a:pPr marL="328929" indent="-328929" defTabSz="432308">
              <a:spcBef>
                <a:spcPts val="3100"/>
              </a:spcBef>
              <a:defRPr sz="2368"/>
            </a:pPr>
            <a:r>
              <a:rPr lang="ja-JP" altLang="en-US" sz="2800" dirty="0">
                <a:latin typeface="ＭＳ Ｐゴシック" panose="020B0600070205080204" pitchFamily="50" charset="-128"/>
                <a:ea typeface="ＭＳ Ｐゴシック" panose="020B0600070205080204" pitchFamily="50" charset="-128"/>
              </a:rPr>
              <a:t>オリーンは，スウェーデンの経済学者。ヘクシャーの学生。</a:t>
            </a:r>
          </a:p>
          <a:p>
            <a:pPr marL="328929" indent="-328929" defTabSz="432308">
              <a:spcBef>
                <a:spcPts val="3100"/>
              </a:spcBef>
              <a:defRPr sz="2368"/>
            </a:pPr>
            <a:r>
              <a:rPr lang="en-US" altLang="ja-JP" sz="2800" dirty="0">
                <a:latin typeface="ＭＳ Ｐゴシック" panose="020B0600070205080204" pitchFamily="50" charset="-128"/>
                <a:ea typeface="ＭＳ Ｐゴシック" panose="020B0600070205080204" pitchFamily="50" charset="-128"/>
              </a:rPr>
              <a:t>1919</a:t>
            </a:r>
            <a:r>
              <a:rPr lang="ja-JP" altLang="en-US" sz="2800" dirty="0">
                <a:latin typeface="ＭＳ Ｐゴシック" panose="020B0600070205080204" pitchFamily="50" charset="-128"/>
                <a:ea typeface="ＭＳ Ｐゴシック" panose="020B0600070205080204" pitchFamily="50" charset="-128"/>
              </a:rPr>
              <a:t>年にストックホルム商科大学で修士号取得。</a:t>
            </a:r>
            <a:r>
              <a:rPr lang="en-US" altLang="ja-JP" sz="2800" dirty="0">
                <a:latin typeface="ＭＳ Ｐゴシック" panose="020B0600070205080204" pitchFamily="50" charset="-128"/>
                <a:ea typeface="ＭＳ Ｐゴシック" panose="020B0600070205080204" pitchFamily="50" charset="-128"/>
              </a:rPr>
              <a:t>1924</a:t>
            </a:r>
            <a:r>
              <a:rPr lang="ja-JP" altLang="en-US" sz="2800" dirty="0">
                <a:latin typeface="ＭＳ Ｐゴシック" panose="020B0600070205080204" pitchFamily="50" charset="-128"/>
                <a:ea typeface="ＭＳ Ｐゴシック" panose="020B0600070205080204" pitchFamily="50" charset="-128"/>
              </a:rPr>
              <a:t>年にストックホルム大学で博士号を取得。</a:t>
            </a:r>
            <a:r>
              <a:rPr lang="en-US" altLang="ja-JP" sz="2800" dirty="0">
                <a:latin typeface="ＭＳ Ｐゴシック" panose="020B0600070205080204" pitchFamily="50" charset="-128"/>
                <a:ea typeface="ＭＳ Ｐゴシック" panose="020B0600070205080204" pitchFamily="50" charset="-128"/>
              </a:rPr>
              <a:t>1929</a:t>
            </a:r>
            <a:r>
              <a:rPr lang="ja-JP" altLang="en-US" sz="2800" dirty="0">
                <a:latin typeface="ＭＳ Ｐゴシック" panose="020B0600070205080204" pitchFamily="50" charset="-128"/>
                <a:ea typeface="ＭＳ Ｐゴシック" panose="020B0600070205080204" pitchFamily="50" charset="-128"/>
              </a:rPr>
              <a:t>年から</a:t>
            </a:r>
            <a:r>
              <a:rPr lang="en-US" altLang="ja-JP" sz="2800" dirty="0">
                <a:latin typeface="ＭＳ Ｐゴシック" panose="020B0600070205080204" pitchFamily="50" charset="-128"/>
                <a:ea typeface="ＭＳ Ｐゴシック" panose="020B0600070205080204" pitchFamily="50" charset="-128"/>
              </a:rPr>
              <a:t>1965</a:t>
            </a:r>
            <a:r>
              <a:rPr lang="ja-JP" altLang="en-US" sz="2800" dirty="0">
                <a:latin typeface="ＭＳ Ｐゴシック" panose="020B0600070205080204" pitchFamily="50" charset="-128"/>
                <a:ea typeface="ＭＳ Ｐゴシック" panose="020B0600070205080204" pitchFamily="50" charset="-128"/>
              </a:rPr>
              <a:t>年までストックホルム商科大学教授。</a:t>
            </a:r>
          </a:p>
          <a:p>
            <a:pPr marL="328929" indent="-328929" defTabSz="432308">
              <a:spcBef>
                <a:spcPts val="3100"/>
              </a:spcBef>
              <a:defRPr sz="2368"/>
            </a:pPr>
            <a:r>
              <a:rPr lang="en-US" altLang="ja-JP" sz="2800" dirty="0">
                <a:latin typeface="ＭＳ Ｐゴシック" panose="020B0600070205080204" pitchFamily="50" charset="-128"/>
                <a:ea typeface="ＭＳ Ｐゴシック" panose="020B0600070205080204" pitchFamily="50" charset="-128"/>
              </a:rPr>
              <a:t>1933</a:t>
            </a:r>
            <a:r>
              <a:rPr lang="ja-JP" altLang="en-US" sz="2800" dirty="0">
                <a:latin typeface="ＭＳ Ｐゴシック" panose="020B0600070205080204" pitchFamily="50" charset="-128"/>
                <a:ea typeface="ＭＳ Ｐゴシック" panose="020B0600070205080204" pitchFamily="50" charset="-128"/>
              </a:rPr>
              <a:t>年に博士論文を拡張し</a:t>
            </a:r>
            <a:r>
              <a:rPr lang="en-US" altLang="ja-JP" sz="2800" dirty="0">
                <a:latin typeface="ＭＳ Ｐゴシック" panose="020B0600070205080204" pitchFamily="50" charset="-128"/>
                <a:ea typeface="ＭＳ Ｐゴシック" panose="020B0600070205080204" pitchFamily="50" charset="-128"/>
              </a:rPr>
              <a:t>Interregional and International Trade</a:t>
            </a:r>
            <a:r>
              <a:rPr lang="ja-JP" altLang="en-US" sz="2800" dirty="0">
                <a:latin typeface="ＭＳ Ｐゴシック" panose="020B0600070205080204" pitchFamily="50" charset="-128"/>
                <a:ea typeface="ＭＳ Ｐゴシック" panose="020B0600070205080204" pitchFamily="50" charset="-128"/>
              </a:rPr>
              <a:t>と題した書籍を公刊し，ヘクシャー＝オリーン・モデルを展開した。</a:t>
            </a:r>
          </a:p>
          <a:p>
            <a:pPr marL="328929" indent="-328929" defTabSz="432308">
              <a:spcBef>
                <a:spcPts val="3100"/>
              </a:spcBef>
              <a:defRPr sz="2368"/>
            </a:pPr>
            <a:r>
              <a:rPr lang="ja-JP" altLang="en-US" sz="2800" dirty="0">
                <a:latin typeface="ＭＳ Ｐゴシック" panose="020B0600070205080204" pitchFamily="50" charset="-128"/>
                <a:ea typeface="ＭＳ Ｐゴシック" panose="020B0600070205080204" pitchFamily="50" charset="-128"/>
              </a:rPr>
              <a:t>国際貿易理論への貢献によって，イギリスの経済学者ジェイムズ・ミード（</a:t>
            </a:r>
            <a:r>
              <a:rPr lang="en-US" altLang="ja-JP" sz="2800" dirty="0">
                <a:latin typeface="ＭＳ Ｐゴシック" panose="020B0600070205080204" pitchFamily="50" charset="-128"/>
                <a:ea typeface="ＭＳ Ｐゴシック" panose="020B0600070205080204" pitchFamily="50" charset="-128"/>
              </a:rPr>
              <a:t>James Meade</a:t>
            </a:r>
            <a:r>
              <a:rPr lang="ja-JP" altLang="en-US" sz="2800" dirty="0">
                <a:latin typeface="ＭＳ Ｐゴシック" panose="020B0600070205080204" pitchFamily="50" charset="-128"/>
                <a:ea typeface="ＭＳ Ｐゴシック" panose="020B0600070205080204" pitchFamily="50" charset="-128"/>
              </a:rPr>
              <a:t>）とともに，</a:t>
            </a:r>
            <a:r>
              <a:rPr lang="en-US" altLang="ja-JP" sz="2800" dirty="0">
                <a:latin typeface="ＭＳ Ｐゴシック" panose="020B0600070205080204" pitchFamily="50" charset="-128"/>
                <a:ea typeface="ＭＳ Ｐゴシック" panose="020B0600070205080204" pitchFamily="50" charset="-128"/>
              </a:rPr>
              <a:t>1977</a:t>
            </a:r>
            <a:r>
              <a:rPr lang="ja-JP" altLang="en-US" sz="2800" dirty="0">
                <a:latin typeface="ＭＳ Ｐゴシック" panose="020B0600070205080204" pitchFamily="50" charset="-128"/>
                <a:ea typeface="ＭＳ Ｐゴシック" panose="020B0600070205080204" pitchFamily="50" charset="-128"/>
              </a:rPr>
              <a:t>年にノーベル経済学賞を受賞。</a:t>
            </a:r>
          </a:p>
          <a:p>
            <a:pPr marL="328929" indent="-328929" defTabSz="432308">
              <a:spcBef>
                <a:spcPts val="3100"/>
              </a:spcBef>
              <a:defRPr sz="2368"/>
            </a:pPr>
            <a:r>
              <a:rPr lang="ja-JP" altLang="en-US" sz="2800" dirty="0">
                <a:latin typeface="ＭＳ Ｐゴシック" panose="020B0600070205080204" pitchFamily="50" charset="-128"/>
                <a:ea typeface="ＭＳ Ｐゴシック" panose="020B0600070205080204" pitchFamily="50" charset="-128"/>
              </a:rPr>
              <a:t>政治家としても活動した。スウェーデン・リベラル党の党首を</a:t>
            </a:r>
            <a:r>
              <a:rPr lang="en-US" altLang="ja-JP" sz="2800" dirty="0">
                <a:latin typeface="ＭＳ Ｐゴシック" panose="020B0600070205080204" pitchFamily="50" charset="-128"/>
                <a:ea typeface="ＭＳ Ｐゴシック" panose="020B0600070205080204" pitchFamily="50" charset="-128"/>
              </a:rPr>
              <a:t>1944</a:t>
            </a:r>
            <a:r>
              <a:rPr lang="ja-JP" altLang="en-US" sz="2800" dirty="0">
                <a:latin typeface="ＭＳ Ｐゴシック" panose="020B0600070205080204" pitchFamily="50" charset="-128"/>
                <a:ea typeface="ＭＳ Ｐゴシック" panose="020B0600070205080204" pitchFamily="50" charset="-128"/>
              </a:rPr>
              <a:t>年から</a:t>
            </a:r>
            <a:r>
              <a:rPr lang="en-US" altLang="ja-JP" sz="2800" dirty="0">
                <a:latin typeface="ＭＳ Ｐゴシック" panose="020B0600070205080204" pitchFamily="50" charset="-128"/>
                <a:ea typeface="ＭＳ Ｐゴシック" panose="020B0600070205080204" pitchFamily="50" charset="-128"/>
              </a:rPr>
              <a:t>1967</a:t>
            </a:r>
            <a:r>
              <a:rPr lang="ja-JP" altLang="en-US" sz="2800" dirty="0">
                <a:latin typeface="ＭＳ Ｐゴシック" panose="020B0600070205080204" pitchFamily="50" charset="-128"/>
                <a:ea typeface="ＭＳ Ｐゴシック" panose="020B0600070205080204" pitchFamily="50" charset="-128"/>
              </a:rPr>
              <a:t>年までの長きにわたり務めた。</a:t>
            </a:r>
            <a:r>
              <a:rPr lang="en-US" altLang="ja-JP" sz="2800" dirty="0">
                <a:latin typeface="ＭＳ Ｐゴシック" panose="020B0600070205080204" pitchFamily="50" charset="-128"/>
                <a:ea typeface="ＭＳ Ｐゴシック" panose="020B0600070205080204" pitchFamily="50" charset="-128"/>
              </a:rPr>
              <a:t>1944</a:t>
            </a:r>
            <a:r>
              <a:rPr lang="ja-JP" altLang="en-US" sz="2800" dirty="0">
                <a:latin typeface="ＭＳ Ｐゴシック" panose="020B0600070205080204" pitchFamily="50" charset="-128"/>
                <a:ea typeface="ＭＳ Ｐゴシック" panose="020B0600070205080204" pitchFamily="50" charset="-128"/>
              </a:rPr>
              <a:t>年から</a:t>
            </a:r>
            <a:r>
              <a:rPr lang="en-US" altLang="ja-JP" sz="2800" dirty="0">
                <a:latin typeface="ＭＳ Ｐゴシック" panose="020B0600070205080204" pitchFamily="50" charset="-128"/>
                <a:ea typeface="ＭＳ Ｐゴシック" panose="020B0600070205080204" pitchFamily="50" charset="-128"/>
              </a:rPr>
              <a:t>1945</a:t>
            </a:r>
            <a:r>
              <a:rPr lang="ja-JP" altLang="en-US" sz="2800" dirty="0">
                <a:latin typeface="ＭＳ Ｐゴシック" panose="020B0600070205080204" pitchFamily="50" charset="-128"/>
                <a:ea typeface="ＭＳ Ｐゴシック" panose="020B0600070205080204" pitchFamily="50" charset="-128"/>
              </a:rPr>
              <a:t>年までの短い期間，商務大臣（</a:t>
            </a:r>
            <a:r>
              <a:rPr lang="en-US" altLang="ja-JP" sz="2800" dirty="0">
                <a:latin typeface="ＭＳ Ｐゴシック" panose="020B0600070205080204" pitchFamily="50" charset="-128"/>
                <a:ea typeface="ＭＳ Ｐゴシック" panose="020B0600070205080204" pitchFamily="50" charset="-128"/>
              </a:rPr>
              <a:t>Minister for Trade</a:t>
            </a:r>
            <a:r>
              <a:rPr lang="ja-JP" altLang="en-US" sz="2800" dirty="0">
                <a:latin typeface="ＭＳ Ｐゴシック" panose="020B0600070205080204" pitchFamily="50" charset="-128"/>
                <a:ea typeface="ＭＳ Ｐゴシック" panose="020B0600070205080204" pitchFamily="50" charset="-128"/>
              </a:rPr>
              <a:t>）も務めた。</a:t>
            </a:r>
          </a:p>
        </p:txBody>
      </p:sp>
      <p:sp>
        <p:nvSpPr>
          <p:cNvPr id="215" name="Slide Number"/>
          <p:cNvSpPr txBox="1">
            <a:spLocks noGrp="1"/>
          </p:cNvSpPr>
          <p:nvPr>
            <p:ph type="sldNum" sz="quarter" idx="2"/>
          </p:nvPr>
        </p:nvSpPr>
        <p:spPr>
          <a:xfrm>
            <a:off x="16674977" y="9296400"/>
            <a:ext cx="216406" cy="34881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Tree>
    <p:extLst>
      <p:ext uri="{BB962C8B-B14F-4D97-AF65-F5344CB8AC3E}">
        <p14:creationId xmlns:p14="http://schemas.microsoft.com/office/powerpoint/2010/main" val="236224875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4. 生産要素"/>
          <p:cNvSpPr txBox="1">
            <a:spLocks noGrp="1"/>
          </p:cNvSpPr>
          <p:nvPr>
            <p:ph type="title"/>
          </p:nvPr>
        </p:nvSpPr>
        <p:spPr>
          <a:prstGeom prst="rect">
            <a:avLst/>
          </a:prstGeom>
        </p:spPr>
        <p:txBody>
          <a:bodyPr/>
          <a:lstStyle/>
          <a:p>
            <a:r>
              <a:rPr lang="ja-JP" altLang="en-US" dirty="0">
                <a:solidFill>
                  <a:schemeClr val="tx1"/>
                </a:solidFill>
                <a:latin typeface="ＭＳ Ｐゴシック" panose="020B0600070205080204" pitchFamily="50" charset="-128"/>
                <a:ea typeface="ＭＳ Ｐゴシック" panose="020B0600070205080204" pitchFamily="50" charset="-128"/>
              </a:rPr>
              <a:t>生産要素</a:t>
            </a:r>
            <a:endParaRPr dirty="0">
              <a:solidFill>
                <a:schemeClr val="tx1"/>
              </a:solidFill>
              <a:latin typeface="ＭＳ Ｐゴシック" panose="020B0600070205080204" pitchFamily="50" charset="-128"/>
              <a:ea typeface="ＭＳ Ｐゴシック" panose="020B0600070205080204" pitchFamily="50" charset="-128"/>
            </a:endParaRPr>
          </a:p>
        </p:txBody>
      </p:sp>
      <p:sp>
        <p:nvSpPr>
          <p:cNvPr id="155" name="財・サービスの生産に用いられるもの。…"/>
          <p:cNvSpPr txBox="1">
            <a:spLocks noGrp="1"/>
          </p:cNvSpPr>
          <p:nvPr>
            <p:ph type="body" idx="1"/>
          </p:nvPr>
        </p:nvSpPr>
        <p:spPr>
          <a:xfrm>
            <a:off x="1270039" y="2203995"/>
            <a:ext cx="14800185" cy="6286500"/>
          </a:xfrm>
          <a:prstGeom prst="rect">
            <a:avLst/>
          </a:prstGeom>
        </p:spPr>
        <p:txBody>
          <a:bodyPr anchor="t">
            <a:normAutofit/>
          </a:bodyPr>
          <a:lstStyle/>
          <a:p>
            <a:pPr marL="0" indent="0">
              <a:buSzTx/>
              <a:buNone/>
            </a:pPr>
            <a:r>
              <a:rPr lang="ja-JP" altLang="en-US" dirty="0">
                <a:latin typeface="ＭＳ Ｐゴシック" panose="020B0600070205080204" pitchFamily="50" charset="-128"/>
                <a:ea typeface="ＭＳ Ｐゴシック" panose="020B0600070205080204" pitchFamily="50" charset="-128"/>
              </a:rPr>
              <a:t>ヘクシャー＝オリーン・モデルは生産要素に着目。</a:t>
            </a:r>
          </a:p>
          <a:p>
            <a:pPr marL="0" indent="0">
              <a:buSzTx/>
              <a:buNone/>
            </a:pPr>
            <a:r>
              <a:rPr lang="ja-JP" altLang="en-US" dirty="0">
                <a:highlight>
                  <a:srgbClr val="FFFF00"/>
                </a:highlight>
                <a:latin typeface="ＭＳ Ｐゴシック" panose="020B0600070205080204" pitchFamily="50" charset="-128"/>
                <a:ea typeface="ＭＳ Ｐゴシック" panose="020B0600070205080204" pitchFamily="50" charset="-128"/>
              </a:rPr>
              <a:t>生産要素</a:t>
            </a:r>
            <a:r>
              <a:rPr lang="ja-JP" altLang="en-US" dirty="0">
                <a:latin typeface="ＭＳ Ｐゴシック" panose="020B0600070205080204" pitchFamily="50" charset="-128"/>
                <a:ea typeface="ＭＳ Ｐゴシック" panose="020B0600070205080204" pitchFamily="50" charset="-128"/>
              </a:rPr>
              <a:t>：財・サービスの生産に用いられるもの。</a:t>
            </a:r>
          </a:p>
          <a:p>
            <a:pPr marL="0" indent="0">
              <a:buSzTx/>
              <a:buNone/>
            </a:pPr>
            <a:r>
              <a:rPr lang="ja-JP" altLang="en-US" dirty="0">
                <a:latin typeface="ＭＳ Ｐゴシック" panose="020B0600070205080204" pitchFamily="50" charset="-128"/>
                <a:ea typeface="ＭＳ Ｐゴシック" panose="020B0600070205080204" pitchFamily="50" charset="-128"/>
              </a:rPr>
              <a:t>　例）</a:t>
            </a:r>
            <a:r>
              <a:rPr lang="ja-JP" altLang="en-US" u="sng" dirty="0">
                <a:latin typeface="ＭＳ Ｐゴシック" panose="020B0600070205080204" pitchFamily="50" charset="-128"/>
                <a:ea typeface="ＭＳ Ｐゴシック" panose="020B0600070205080204" pitchFamily="50" charset="-128"/>
              </a:rPr>
              <a:t>労働，資本（機械，工場），土地，原材料</a:t>
            </a:r>
          </a:p>
        </p:txBody>
      </p:sp>
      <p:sp>
        <p:nvSpPr>
          <p:cNvPr id="17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sp>
        <p:nvSpPr>
          <p:cNvPr id="156" name="Shape"/>
          <p:cNvSpPr/>
          <p:nvPr/>
        </p:nvSpPr>
        <p:spPr>
          <a:xfrm>
            <a:off x="3082131" y="5347245"/>
            <a:ext cx="3476576" cy="320585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p:spPr>
        <p:txBody>
          <a:bodyPr lIns="50800" tIns="50800" rIns="50800" bIns="50800" anchor="ctr"/>
          <a:lstStyle/>
          <a:p>
            <a:pPr>
              <a:defRPr sz="3900">
                <a:latin typeface="+mn-lt"/>
                <a:ea typeface="+mn-ea"/>
                <a:cs typeface="+mn-cs"/>
                <a:sym typeface="ヒラギノ角ゴ ProN W3"/>
              </a:defRPr>
            </a:pPr>
            <a:endParaRPr sz="3900">
              <a:latin typeface="ＭＳ Ｐゴシック" panose="020B0600070205080204" pitchFamily="50" charset="-128"/>
              <a:ea typeface="ＭＳ Ｐゴシック" panose="020B0600070205080204" pitchFamily="50" charset="-128"/>
            </a:endParaRPr>
          </a:p>
        </p:txBody>
      </p:sp>
      <p:sp>
        <p:nvSpPr>
          <p:cNvPr id="157" name="Line"/>
          <p:cNvSpPr/>
          <p:nvPr/>
        </p:nvSpPr>
        <p:spPr>
          <a:xfrm>
            <a:off x="6779702" y="6253027"/>
            <a:ext cx="2863234" cy="1"/>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58" name="Line"/>
          <p:cNvSpPr/>
          <p:nvPr/>
        </p:nvSpPr>
        <p:spPr>
          <a:xfrm flipH="1">
            <a:off x="6836809" y="7311638"/>
            <a:ext cx="2794710" cy="1"/>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59" name="例"/>
          <p:cNvSpPr txBox="1"/>
          <p:nvPr/>
        </p:nvSpPr>
        <p:spPr>
          <a:xfrm>
            <a:off x="2520604" y="4726305"/>
            <a:ext cx="564257" cy="6565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600"/>
            </a:lvl1pPr>
          </a:lstStyle>
          <a:p>
            <a:r>
              <a:rPr dirty="0">
                <a:latin typeface="ＭＳ Ｐゴシック" panose="020B0600070205080204" pitchFamily="50" charset="-128"/>
                <a:ea typeface="ＭＳ Ｐゴシック" panose="020B0600070205080204" pitchFamily="50" charset="-128"/>
              </a:rPr>
              <a:t>例</a:t>
            </a:r>
          </a:p>
        </p:txBody>
      </p:sp>
      <p:sp>
        <p:nvSpPr>
          <p:cNvPr id="160" name="日本"/>
          <p:cNvSpPr txBox="1"/>
          <p:nvPr/>
        </p:nvSpPr>
        <p:spPr>
          <a:xfrm>
            <a:off x="3834344" y="4703222"/>
            <a:ext cx="1695977" cy="7027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9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アメリカ</a:t>
            </a:r>
            <a:endParaRPr dirty="0">
              <a:latin typeface="ＭＳ Ｐゴシック" panose="020B0600070205080204" pitchFamily="50" charset="-128"/>
              <a:ea typeface="ＭＳ Ｐゴシック" panose="020B0600070205080204" pitchFamily="50" charset="-128"/>
            </a:endParaRPr>
          </a:p>
        </p:txBody>
      </p:sp>
      <p:sp>
        <p:nvSpPr>
          <p:cNvPr id="161" name="労働者"/>
          <p:cNvSpPr/>
          <p:nvPr/>
        </p:nvSpPr>
        <p:spPr>
          <a:xfrm>
            <a:off x="3272631" y="5727899"/>
            <a:ext cx="1452166"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大卒</a:t>
            </a:r>
            <a:endParaRPr dirty="0">
              <a:latin typeface="ＭＳ Ｐゴシック" panose="020B0600070205080204" pitchFamily="50" charset="-128"/>
              <a:ea typeface="ＭＳ Ｐゴシック" panose="020B0600070205080204" pitchFamily="50" charset="-128"/>
            </a:endParaRPr>
          </a:p>
        </p:txBody>
      </p:sp>
      <p:sp>
        <p:nvSpPr>
          <p:cNvPr id="162" name="資本"/>
          <p:cNvSpPr/>
          <p:nvPr/>
        </p:nvSpPr>
        <p:spPr>
          <a:xfrm>
            <a:off x="3272631" y="7162999"/>
            <a:ext cx="1452166"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高卒</a:t>
            </a:r>
            <a:endParaRPr dirty="0">
              <a:latin typeface="ＭＳ Ｐゴシック" panose="020B0600070205080204" pitchFamily="50" charset="-128"/>
              <a:ea typeface="ＭＳ Ｐゴシック" panose="020B0600070205080204" pitchFamily="50" charset="-128"/>
            </a:endParaRPr>
          </a:p>
        </p:txBody>
      </p:sp>
      <p:sp>
        <p:nvSpPr>
          <p:cNvPr id="163" name="財"/>
          <p:cNvSpPr/>
          <p:nvPr/>
        </p:nvSpPr>
        <p:spPr>
          <a:xfrm>
            <a:off x="5606355" y="6578799"/>
            <a:ext cx="858342"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en-US" altLang="ja-JP" dirty="0">
                <a:latin typeface="ＭＳ Ｐゴシック" panose="020B0600070205080204" pitchFamily="50" charset="-128"/>
                <a:ea typeface="ＭＳ Ｐゴシック" panose="020B0600070205080204" pitchFamily="50" charset="-128"/>
              </a:rPr>
              <a:t>PC</a:t>
            </a:r>
            <a:endParaRPr dirty="0">
              <a:latin typeface="ＭＳ Ｐゴシック" panose="020B0600070205080204" pitchFamily="50" charset="-128"/>
              <a:ea typeface="ＭＳ Ｐゴシック" panose="020B0600070205080204" pitchFamily="50" charset="-128"/>
            </a:endParaRPr>
          </a:p>
        </p:txBody>
      </p:sp>
      <p:sp>
        <p:nvSpPr>
          <p:cNvPr id="164" name="Line"/>
          <p:cNvSpPr/>
          <p:nvPr/>
        </p:nvSpPr>
        <p:spPr>
          <a:xfrm>
            <a:off x="4707732" y="5951810"/>
            <a:ext cx="1099285" cy="613525"/>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65" name="Line"/>
          <p:cNvSpPr/>
          <p:nvPr/>
        </p:nvSpPr>
        <p:spPr>
          <a:xfrm flipV="1">
            <a:off x="4707732" y="7175965"/>
            <a:ext cx="1096535" cy="287146"/>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66" name="Shape"/>
          <p:cNvSpPr/>
          <p:nvPr/>
        </p:nvSpPr>
        <p:spPr>
          <a:xfrm>
            <a:off x="9863931" y="5347245"/>
            <a:ext cx="3476576" cy="320585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0"/>
                </a:lnTo>
                <a:lnTo>
                  <a:pt x="21600" y="21600"/>
                </a:lnTo>
                <a:lnTo>
                  <a:pt x="0" y="21600"/>
                </a:lnTo>
                <a:lnTo>
                  <a:pt x="0" y="0"/>
                </a:lnTo>
                <a:close/>
              </a:path>
            </a:pathLst>
          </a:custGeom>
          <a:ln w="25400">
            <a:solidFill>
              <a:srgbClr val="000000"/>
            </a:solidFill>
            <a:miter lim="400000"/>
          </a:ln>
        </p:spPr>
        <p:txBody>
          <a:bodyPr lIns="50800" tIns="50800" rIns="50800" bIns="50800" anchor="ctr"/>
          <a:lstStyle/>
          <a:p>
            <a:pPr>
              <a:defRPr sz="3900">
                <a:latin typeface="+mn-lt"/>
                <a:ea typeface="+mn-ea"/>
                <a:cs typeface="+mn-cs"/>
                <a:sym typeface="ヒラギノ角ゴ ProN W3"/>
              </a:defRPr>
            </a:pPr>
            <a:endParaRPr sz="3900">
              <a:latin typeface="ＭＳ Ｐゴシック" panose="020B0600070205080204" pitchFamily="50" charset="-128"/>
              <a:ea typeface="ＭＳ Ｐゴシック" panose="020B0600070205080204" pitchFamily="50" charset="-128"/>
            </a:endParaRPr>
          </a:p>
        </p:txBody>
      </p:sp>
      <p:sp>
        <p:nvSpPr>
          <p:cNvPr id="167" name="労働者"/>
          <p:cNvSpPr/>
          <p:nvPr/>
        </p:nvSpPr>
        <p:spPr>
          <a:xfrm>
            <a:off x="11743531" y="5727899"/>
            <a:ext cx="1452166"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大卒</a:t>
            </a:r>
            <a:endParaRPr dirty="0">
              <a:latin typeface="ＭＳ Ｐゴシック" panose="020B0600070205080204" pitchFamily="50" charset="-128"/>
              <a:ea typeface="ＭＳ Ｐゴシック" panose="020B0600070205080204" pitchFamily="50" charset="-128"/>
            </a:endParaRPr>
          </a:p>
        </p:txBody>
      </p:sp>
      <p:sp>
        <p:nvSpPr>
          <p:cNvPr id="168" name="資本"/>
          <p:cNvSpPr/>
          <p:nvPr/>
        </p:nvSpPr>
        <p:spPr>
          <a:xfrm>
            <a:off x="11743531" y="7277299"/>
            <a:ext cx="1452166"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高卒</a:t>
            </a:r>
            <a:endParaRPr dirty="0">
              <a:latin typeface="ＭＳ Ｐゴシック" panose="020B0600070205080204" pitchFamily="50" charset="-128"/>
              <a:ea typeface="ＭＳ Ｐゴシック" panose="020B0600070205080204" pitchFamily="50" charset="-128"/>
            </a:endParaRPr>
          </a:p>
        </p:txBody>
      </p:sp>
      <p:sp>
        <p:nvSpPr>
          <p:cNvPr id="169" name="財"/>
          <p:cNvSpPr/>
          <p:nvPr/>
        </p:nvSpPr>
        <p:spPr>
          <a:xfrm>
            <a:off x="10114855" y="6671519"/>
            <a:ext cx="858342" cy="55731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3500" y="0"/>
                </a:lnTo>
                <a:cubicBezTo>
                  <a:pt x="14400" y="0"/>
                  <a:pt x="15300" y="0"/>
                  <a:pt x="16200" y="0"/>
                </a:cubicBezTo>
                <a:cubicBezTo>
                  <a:pt x="18000" y="0"/>
                  <a:pt x="19800" y="0"/>
                  <a:pt x="21600" y="0"/>
                </a:cubicBezTo>
                <a:lnTo>
                  <a:pt x="21600" y="21600"/>
                </a:lnTo>
                <a:lnTo>
                  <a:pt x="0" y="21600"/>
                </a:lnTo>
                <a:lnTo>
                  <a:pt x="0" y="0"/>
                </a:lnTo>
                <a:close/>
              </a:path>
            </a:pathLst>
          </a:custGeom>
          <a:ln w="254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lvl1pPr>
              <a:defRPr sz="2800">
                <a:latin typeface="+mn-lt"/>
                <a:ea typeface="+mn-ea"/>
                <a:cs typeface="+mn-cs"/>
                <a:sym typeface="ヒラギノ角ゴ ProN W3"/>
              </a:defRPr>
            </a:lvl1pPr>
          </a:lstStyle>
          <a:p>
            <a:r>
              <a:rPr lang="ja-JP" altLang="en-US">
                <a:latin typeface="ＭＳ Ｐゴシック" panose="020B0600070205080204" pitchFamily="50" charset="-128"/>
                <a:ea typeface="ＭＳ Ｐゴシック" panose="020B0600070205080204" pitchFamily="50" charset="-128"/>
              </a:rPr>
              <a:t>衣服</a:t>
            </a:r>
            <a:endParaRPr dirty="0">
              <a:latin typeface="ＭＳ Ｐゴシック" panose="020B0600070205080204" pitchFamily="50" charset="-128"/>
              <a:ea typeface="ＭＳ Ｐゴシック" panose="020B0600070205080204" pitchFamily="50" charset="-128"/>
            </a:endParaRPr>
          </a:p>
        </p:txBody>
      </p:sp>
      <p:sp>
        <p:nvSpPr>
          <p:cNvPr id="170" name="Line"/>
          <p:cNvSpPr/>
          <p:nvPr/>
        </p:nvSpPr>
        <p:spPr>
          <a:xfrm flipH="1">
            <a:off x="10780926" y="5951810"/>
            <a:ext cx="749906" cy="572461"/>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71" name="Line"/>
          <p:cNvSpPr/>
          <p:nvPr/>
        </p:nvSpPr>
        <p:spPr>
          <a:xfrm flipH="1" flipV="1">
            <a:off x="10724900" y="7351442"/>
            <a:ext cx="864914" cy="408193"/>
          </a:xfrm>
          <a:prstGeom prst="line">
            <a:avLst/>
          </a:prstGeom>
          <a:ln w="25400">
            <a:solidFill>
              <a:srgbClr val="000000"/>
            </a:solidFill>
            <a:miter lim="400000"/>
            <a:tailEnd type="triangle"/>
          </a:ln>
        </p:spPr>
        <p:txBody>
          <a:bodyPr lIns="50800" tIns="50800" rIns="50800" bIns="50800" anchor="ctr"/>
          <a:lstStyle/>
          <a:p>
            <a:pPr>
              <a:defRPr sz="2200">
                <a:solidFill>
                  <a:srgbClr val="FFFFFF"/>
                </a:solidFill>
                <a:latin typeface="+mn-lt"/>
                <a:ea typeface="+mn-ea"/>
                <a:cs typeface="+mn-cs"/>
                <a:sym typeface="ヒラギノ角ゴ ProN W3"/>
              </a:defRPr>
            </a:pPr>
            <a:endParaRPr sz="2200">
              <a:latin typeface="ＭＳ Ｐゴシック" panose="020B0600070205080204" pitchFamily="50" charset="-128"/>
              <a:ea typeface="ＭＳ Ｐゴシック" panose="020B0600070205080204" pitchFamily="50" charset="-128"/>
            </a:endParaRPr>
          </a:p>
        </p:txBody>
      </p:sp>
      <p:sp>
        <p:nvSpPr>
          <p:cNvPr id="172" name="輸出"/>
          <p:cNvSpPr txBox="1"/>
          <p:nvPr/>
        </p:nvSpPr>
        <p:spPr>
          <a:xfrm>
            <a:off x="7732733" y="5770593"/>
            <a:ext cx="1114088"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0433FF"/>
                </a:solidFill>
              </a:defRPr>
            </a:lvl1pPr>
          </a:lstStyle>
          <a:p>
            <a:r>
              <a:rPr lang="en-US" altLang="ja-JP" dirty="0">
                <a:latin typeface="ＭＳ Ｐゴシック" panose="020B0600070205080204" pitchFamily="50" charset="-128"/>
                <a:ea typeface="ＭＳ Ｐゴシック" panose="020B0600070205080204" pitchFamily="50" charset="-128"/>
              </a:rPr>
              <a:t>PC</a:t>
            </a:r>
            <a:r>
              <a:rPr lang="ja-JP" altLang="en-US" dirty="0">
                <a:latin typeface="ＭＳ Ｐゴシック" panose="020B0600070205080204" pitchFamily="50" charset="-128"/>
                <a:ea typeface="ＭＳ Ｐゴシック" panose="020B0600070205080204" pitchFamily="50" charset="-128"/>
              </a:rPr>
              <a:t>輸出</a:t>
            </a:r>
            <a:endParaRPr dirty="0">
              <a:latin typeface="ＭＳ Ｐゴシック" panose="020B0600070205080204" pitchFamily="50" charset="-128"/>
              <a:ea typeface="ＭＳ Ｐゴシック" panose="020B0600070205080204" pitchFamily="50" charset="-128"/>
            </a:endParaRPr>
          </a:p>
        </p:txBody>
      </p:sp>
      <p:sp>
        <p:nvSpPr>
          <p:cNvPr id="173" name="生産要素"/>
          <p:cNvSpPr txBox="1"/>
          <p:nvPr/>
        </p:nvSpPr>
        <p:spPr>
          <a:xfrm>
            <a:off x="3341108" y="7866638"/>
            <a:ext cx="1477567"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defRPr>
                <a:solidFill>
                  <a:srgbClr val="0433FF"/>
                </a:solidFill>
              </a:defRPr>
            </a:lvl1pPr>
          </a:lstStyle>
          <a:p>
            <a:r>
              <a:rPr lang="ja-JP" altLang="en-US" dirty="0">
                <a:latin typeface="ＭＳ Ｐゴシック" panose="020B0600070205080204" pitchFamily="50" charset="-128"/>
                <a:ea typeface="ＭＳ Ｐゴシック" panose="020B0600070205080204" pitchFamily="50" charset="-128"/>
              </a:rPr>
              <a:t>生産要素</a:t>
            </a:r>
            <a:endParaRPr dirty="0">
              <a:latin typeface="ＭＳ Ｐゴシック" panose="020B0600070205080204" pitchFamily="50" charset="-128"/>
              <a:ea typeface="ＭＳ Ｐゴシック" panose="020B0600070205080204" pitchFamily="50" charset="-128"/>
            </a:endParaRPr>
          </a:p>
        </p:txBody>
      </p:sp>
      <p:sp>
        <p:nvSpPr>
          <p:cNvPr id="175" name="インド"/>
          <p:cNvSpPr txBox="1"/>
          <p:nvPr/>
        </p:nvSpPr>
        <p:spPr>
          <a:xfrm>
            <a:off x="10491712" y="4703222"/>
            <a:ext cx="1790554" cy="7027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sz="3900">
                <a:latin typeface="+mn-lt"/>
                <a:ea typeface="+mn-ea"/>
                <a:cs typeface="+mn-cs"/>
                <a:sym typeface="ヒラギノ角ゴ ProN W3"/>
              </a:defRPr>
            </a:lvl1pPr>
          </a:lstStyle>
          <a:p>
            <a:r>
              <a:rPr lang="ja-JP" altLang="en-US" dirty="0">
                <a:latin typeface="ＭＳ Ｐゴシック" panose="020B0600070205080204" pitchFamily="50" charset="-128"/>
                <a:ea typeface="ＭＳ Ｐゴシック" panose="020B0600070205080204" pitchFamily="50" charset="-128"/>
              </a:rPr>
              <a:t>メキシコ</a:t>
            </a:r>
            <a:endParaRPr dirty="0">
              <a:latin typeface="ＭＳ Ｐゴシック" panose="020B0600070205080204" pitchFamily="50" charset="-128"/>
              <a:ea typeface="ＭＳ Ｐゴシック" panose="020B0600070205080204" pitchFamily="50" charset="-128"/>
            </a:endParaRPr>
          </a:p>
        </p:txBody>
      </p:sp>
      <p:sp>
        <p:nvSpPr>
          <p:cNvPr id="2" name="輸出">
            <a:extLst>
              <a:ext uri="{FF2B5EF4-FFF2-40B4-BE49-F238E27FC236}">
                <a16:creationId xmlns:a16="http://schemas.microsoft.com/office/drawing/2014/main" id="{04108FED-8913-DE19-B6C0-E556FCCC5611}"/>
              </a:ext>
            </a:extLst>
          </p:cNvPr>
          <p:cNvSpPr txBox="1"/>
          <p:nvPr/>
        </p:nvSpPr>
        <p:spPr>
          <a:xfrm>
            <a:off x="7544469" y="7427476"/>
            <a:ext cx="1333698"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a:solidFill>
                  <a:srgbClr val="0433FF"/>
                </a:solidFill>
              </a:defRPr>
            </a:lvl1pPr>
          </a:lstStyle>
          <a:p>
            <a:r>
              <a:rPr lang="ja-JP" altLang="en-US" dirty="0">
                <a:latin typeface="ＭＳ Ｐゴシック" panose="020B0600070205080204" pitchFamily="50" charset="-128"/>
                <a:ea typeface="ＭＳ Ｐゴシック" panose="020B0600070205080204" pitchFamily="50" charset="-128"/>
              </a:rPr>
              <a:t>衣服輸出</a:t>
            </a:r>
            <a:endParaRPr dirty="0">
              <a:latin typeface="ＭＳ Ｐゴシック" panose="020B0600070205080204" pitchFamily="50" charset="-128"/>
              <a:ea typeface="ＭＳ Ｐゴシック" panose="020B0600070205080204" pitchFamily="50" charset="-128"/>
            </a:endParaRPr>
          </a:p>
        </p:txBody>
      </p:sp>
      <p:sp>
        <p:nvSpPr>
          <p:cNvPr id="3" name="生産要素">
            <a:extLst>
              <a:ext uri="{FF2B5EF4-FFF2-40B4-BE49-F238E27FC236}">
                <a16:creationId xmlns:a16="http://schemas.microsoft.com/office/drawing/2014/main" id="{227B803E-9774-4503-D1FB-C5EB45133352}"/>
              </a:ext>
            </a:extLst>
          </p:cNvPr>
          <p:cNvSpPr txBox="1"/>
          <p:nvPr/>
        </p:nvSpPr>
        <p:spPr>
          <a:xfrm>
            <a:off x="5585767" y="7286776"/>
            <a:ext cx="709828" cy="4728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a:defRPr>
                <a:solidFill>
                  <a:srgbClr val="0433FF"/>
                </a:solidFill>
              </a:defRPr>
            </a:lvl1pPr>
          </a:lstStyle>
          <a:p>
            <a:r>
              <a:rPr lang="ja-JP" altLang="en-US" dirty="0">
                <a:latin typeface="ＭＳ Ｐゴシック" panose="020B0600070205080204" pitchFamily="50" charset="-128"/>
                <a:ea typeface="ＭＳ Ｐゴシック" panose="020B0600070205080204" pitchFamily="50" charset="-128"/>
              </a:rPr>
              <a:t>財</a:t>
            </a:r>
            <a:endParaRPr dirty="0">
              <a:latin typeface="ＭＳ Ｐゴシック" panose="020B0600070205080204" pitchFamily="50" charset="-128"/>
              <a:ea typeface="ＭＳ Ｐゴシック" panose="020B0600070205080204" pitchFamily="50" charset="-128"/>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C00675-5559-4AF8-2B4D-36198782FAD2}"/>
              </a:ext>
            </a:extLst>
          </p:cNvPr>
          <p:cNvSpPr>
            <a:spLocks noGrp="1"/>
          </p:cNvSpPr>
          <p:nvPr>
            <p:ph type="title"/>
          </p:nvPr>
        </p:nvSpPr>
        <p:spPr/>
        <p:txBody>
          <a:bodyPr>
            <a:noAutofit/>
          </a:bodyPr>
          <a:lstStyle/>
          <a:p>
            <a:r>
              <a:rPr lang="en-US" altLang="ja-JP" sz="6600" dirty="0"/>
              <a:t>2 </a:t>
            </a:r>
            <a:r>
              <a:rPr lang="ja-JP" altLang="en-US" sz="6600" dirty="0"/>
              <a:t>生産要素と完全雇用条件</a:t>
            </a:r>
            <a:endParaRPr kumimoji="1" lang="ja-JP" altLang="en-US" sz="6600" dirty="0"/>
          </a:p>
        </p:txBody>
      </p:sp>
      <p:sp>
        <p:nvSpPr>
          <p:cNvPr id="3" name="テキスト プレースホルダー 2">
            <a:extLst>
              <a:ext uri="{FF2B5EF4-FFF2-40B4-BE49-F238E27FC236}">
                <a16:creationId xmlns:a16="http://schemas.microsoft.com/office/drawing/2014/main" id="{B4E7C547-105B-82AF-ACD6-AF639164813C}"/>
              </a:ext>
            </a:extLst>
          </p:cNvPr>
          <p:cNvSpPr>
            <a:spLocks noGrp="1"/>
          </p:cNvSpPr>
          <p:nvPr>
            <p:ph type="body" idx="1"/>
          </p:nvPr>
        </p:nvSpPr>
        <p:spPr/>
        <p:txBody>
          <a:bodyPr>
            <a:normAutofit fontScale="92500" lnSpcReduction="20000"/>
          </a:bodyPr>
          <a:lstStyle/>
          <a:p>
            <a:pPr marL="0" indent="0">
              <a:buNone/>
            </a:pPr>
            <a:r>
              <a:rPr lang="en-US" altLang="ja-JP" u="sng" dirty="0">
                <a:latin typeface="ＭＳ Ｐゴシック" panose="020B0600070205080204" pitchFamily="50" charset="-128"/>
                <a:ea typeface="ＭＳ Ｐゴシック" panose="020B0600070205080204" pitchFamily="50" charset="-128"/>
              </a:rPr>
              <a:t>2 </a:t>
            </a:r>
            <a:r>
              <a:rPr lang="ja-JP" altLang="en-US" u="sng" dirty="0">
                <a:latin typeface="ＭＳ Ｐゴシック" panose="020B0600070205080204" pitchFamily="50" charset="-128"/>
                <a:ea typeface="ＭＳ Ｐゴシック" panose="020B0600070205080204" pitchFamily="50" charset="-128"/>
              </a:rPr>
              <a:t>財 </a:t>
            </a:r>
            <a:r>
              <a:rPr lang="en-US" altLang="ja-JP" u="sng" dirty="0">
                <a:latin typeface="ＭＳ Ｐゴシック" panose="020B0600070205080204" pitchFamily="50" charset="-128"/>
                <a:ea typeface="ＭＳ Ｐゴシック" panose="020B0600070205080204" pitchFamily="50" charset="-128"/>
              </a:rPr>
              <a:t>2 </a:t>
            </a:r>
            <a:r>
              <a:rPr lang="ja-JP" altLang="en-US" u="sng" dirty="0">
                <a:latin typeface="ＭＳ Ｐゴシック" panose="020B0600070205080204" pitchFamily="50" charset="-128"/>
                <a:ea typeface="ＭＳ Ｐゴシック" panose="020B0600070205080204" pitchFamily="50" charset="-128"/>
              </a:rPr>
              <a:t>生産要素 </a:t>
            </a:r>
            <a:r>
              <a:rPr lang="en-US" altLang="ja-JP" u="sng" dirty="0">
                <a:latin typeface="ＭＳ Ｐゴシック" panose="020B0600070205080204" pitchFamily="50" charset="-128"/>
                <a:ea typeface="ＭＳ Ｐゴシック" panose="020B0600070205080204" pitchFamily="50" charset="-128"/>
              </a:rPr>
              <a:t>2 </a:t>
            </a:r>
            <a:r>
              <a:rPr lang="ja-JP" altLang="en-US" u="sng" dirty="0">
                <a:latin typeface="ＭＳ Ｐゴシック" panose="020B0600070205080204" pitchFamily="50" charset="-128"/>
                <a:ea typeface="ＭＳ Ｐゴシック" panose="020B0600070205080204" pitchFamily="50" charset="-128"/>
              </a:rPr>
              <a:t>国モデル</a:t>
            </a:r>
            <a:endParaRPr lang="en-US" altLang="ja-JP" u="sng"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国：アメリカとメキ シコ</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生産要素：大卒労働者と高卒労働者</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財： </a:t>
            </a:r>
            <a:endParaRPr lang="en-US" altLang="ja-JP" dirty="0">
              <a:latin typeface="ＭＳ Ｐゴシック" panose="020B0600070205080204" pitchFamily="50" charset="-128"/>
              <a:ea typeface="ＭＳ Ｐゴシック" panose="020B0600070205080204" pitchFamily="50" charset="-128"/>
            </a:endParaRPr>
          </a:p>
          <a:p>
            <a:pPr lvl="1"/>
            <a:r>
              <a:rPr lang="ja-JP" altLang="en-US" dirty="0">
                <a:solidFill>
                  <a:schemeClr val="accent5"/>
                </a:solidFill>
                <a:latin typeface="ＭＳ Ｐゴシック" panose="020B0600070205080204" pitchFamily="50" charset="-128"/>
                <a:ea typeface="ＭＳ Ｐゴシック" panose="020B0600070205080204" pitchFamily="50" charset="-128"/>
              </a:rPr>
              <a:t>パソコン（</a:t>
            </a:r>
            <a:r>
              <a:rPr lang="en-US" altLang="ja-JP" dirty="0">
                <a:solidFill>
                  <a:schemeClr val="accent5"/>
                </a:solidFill>
                <a:latin typeface="ＭＳ Ｐゴシック" panose="020B0600070205080204" pitchFamily="50" charset="-128"/>
                <a:ea typeface="ＭＳ Ｐゴシック" panose="020B0600070205080204" pitchFamily="50" charset="-128"/>
              </a:rPr>
              <a:t>PC</a:t>
            </a:r>
            <a:r>
              <a:rPr lang="ja-JP" altLang="en-US" dirty="0">
                <a:solidFill>
                  <a:schemeClr val="accent5"/>
                </a:solidFill>
                <a:latin typeface="ＭＳ Ｐゴシック" panose="020B0600070205080204" pitchFamily="50" charset="-128"/>
                <a:ea typeface="ＭＳ Ｐゴシック" panose="020B0600070205080204" pitchFamily="50" charset="-128"/>
              </a:rPr>
              <a:t>）</a:t>
            </a:r>
            <a:r>
              <a:rPr lang="ja-JP" altLang="en-US" dirty="0">
                <a:latin typeface="ＭＳ Ｐゴシック" panose="020B0600070205080204" pitchFamily="50" charset="-128"/>
                <a:ea typeface="ＭＳ Ｐゴシック" panose="020B0600070205080204" pitchFamily="50" charset="-128"/>
              </a:rPr>
              <a:t>：</a:t>
            </a:r>
            <a:r>
              <a:rPr lang="ja-JP" altLang="en-US" dirty="0">
                <a:solidFill>
                  <a:schemeClr val="accent5"/>
                </a:solidFill>
                <a:latin typeface="ＭＳ Ｐゴシック" panose="020B0600070205080204" pitchFamily="50" charset="-128"/>
                <a:ea typeface="ＭＳ Ｐゴシック" panose="020B0600070205080204" pitchFamily="50" charset="-128"/>
              </a:rPr>
              <a:t>大卒集約財（ハイテク製品）</a:t>
            </a:r>
            <a:endParaRPr lang="en-US" altLang="ja-JP" dirty="0">
              <a:solidFill>
                <a:schemeClr val="accent5"/>
              </a:solidFill>
              <a:latin typeface="ＭＳ Ｐゴシック" panose="020B0600070205080204" pitchFamily="50" charset="-128"/>
              <a:ea typeface="ＭＳ Ｐゴシック" panose="020B0600070205080204" pitchFamily="50" charset="-128"/>
            </a:endParaRPr>
          </a:p>
          <a:p>
            <a:pPr lvl="1"/>
            <a:r>
              <a:rPr lang="ja-JP" altLang="en-US" dirty="0">
                <a:solidFill>
                  <a:schemeClr val="accent3"/>
                </a:solidFill>
                <a:latin typeface="ＭＳ Ｐゴシック" panose="020B0600070205080204" pitchFamily="50" charset="-128"/>
                <a:ea typeface="ＭＳ Ｐゴシック" panose="020B0600070205080204" pitchFamily="50" charset="-128"/>
              </a:rPr>
              <a:t>衣服</a:t>
            </a:r>
            <a:r>
              <a:rPr lang="ja-JP" altLang="en-US" dirty="0">
                <a:latin typeface="ＭＳ Ｐゴシック" panose="020B0600070205080204" pitchFamily="50" charset="-128"/>
                <a:ea typeface="ＭＳ Ｐゴシック" panose="020B0600070205080204" pitchFamily="50" charset="-128"/>
              </a:rPr>
              <a:t>：</a:t>
            </a:r>
            <a:r>
              <a:rPr lang="ja-JP" altLang="en-US" dirty="0">
                <a:solidFill>
                  <a:schemeClr val="accent3"/>
                </a:solidFill>
                <a:latin typeface="ＭＳ Ｐゴシック" panose="020B0600070205080204" pitchFamily="50" charset="-128"/>
                <a:ea typeface="ＭＳ Ｐゴシック" panose="020B0600070205080204" pitchFamily="50" charset="-128"/>
              </a:rPr>
              <a:t>高卒集約財（ローテク製品）</a:t>
            </a:r>
            <a:endParaRPr lang="en-US" altLang="ja-JP" dirty="0">
              <a:solidFill>
                <a:schemeClr val="accent3"/>
              </a:solidFill>
              <a:latin typeface="ＭＳ Ｐゴシック" panose="020B0600070205080204" pitchFamily="50" charset="-128"/>
              <a:ea typeface="ＭＳ Ｐゴシック" panose="020B0600070205080204" pitchFamily="50" charset="-128"/>
            </a:endParaRPr>
          </a:p>
          <a:p>
            <a:pPr marL="0" indent="0">
              <a:buNone/>
            </a:pPr>
            <a:r>
              <a:rPr lang="en-US" altLang="ja-JP" dirty="0">
                <a:latin typeface="ＭＳ Ｐゴシック" panose="020B0600070205080204" pitchFamily="50" charset="-128"/>
                <a:ea typeface="ＭＳ Ｐゴシック" panose="020B0600070205080204" pitchFamily="50" charset="-128"/>
              </a:rPr>
              <a:t>※</a:t>
            </a:r>
            <a:r>
              <a:rPr lang="ja-JP" altLang="en-US" dirty="0">
                <a:latin typeface="ＭＳ Ｐゴシック" panose="020B0600070205080204" pitchFamily="50" charset="-128"/>
                <a:ea typeface="ＭＳ Ｐゴシック" panose="020B0600070205080204" pitchFamily="50" charset="-128"/>
              </a:rPr>
              <a:t>「集約的に」とは， </a:t>
            </a:r>
            <a:r>
              <a:rPr lang="ja-JP" altLang="en-US" b="1" u="sng" dirty="0">
                <a:solidFill>
                  <a:srgbClr val="0000FF"/>
                </a:solidFill>
                <a:latin typeface="ＭＳ Ｐゴシック" panose="020B0600070205080204" pitchFamily="50" charset="-128"/>
                <a:ea typeface="ＭＳ Ｐゴシック" panose="020B0600070205080204" pitchFamily="50" charset="-128"/>
              </a:rPr>
              <a:t>相対的に大きな比率</a:t>
            </a:r>
            <a:r>
              <a:rPr lang="ja-JP" altLang="en-US" dirty="0">
                <a:latin typeface="ＭＳ Ｐゴシック" panose="020B0600070205080204" pitchFamily="50" charset="-128"/>
                <a:ea typeface="ＭＳ Ｐゴシック" panose="020B0600070205080204" pitchFamily="50" charset="-128"/>
              </a:rPr>
              <a:t>でという意味。たとえば，大卒集約財とは，大卒労働者を相対的に大きな</a:t>
            </a:r>
            <a:r>
              <a:rPr lang="ja-JP" altLang="en-US" b="1" dirty="0">
                <a:solidFill>
                  <a:srgbClr val="0000FF"/>
                </a:solidFill>
                <a:latin typeface="ＭＳ Ｐゴシック" panose="020B0600070205080204" pitchFamily="50" charset="-128"/>
                <a:ea typeface="ＭＳ Ｐゴシック" panose="020B0600070205080204" pitchFamily="50" charset="-128"/>
              </a:rPr>
              <a:t>比率</a:t>
            </a:r>
            <a:r>
              <a:rPr lang="ja-JP" altLang="en-US" dirty="0">
                <a:latin typeface="ＭＳ Ｐゴシック" panose="020B0600070205080204" pitchFamily="50" charset="-128"/>
                <a:ea typeface="ＭＳ Ｐゴシック" panose="020B0600070205080204" pitchFamily="50" charset="-128"/>
              </a:rPr>
              <a:t>で用いて生産される財のこと。</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id="{04541FB6-33E6-D0DB-B7BB-4C6D41C7D35F}"/>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10</a:t>
            </a:fld>
            <a:endParaRPr lang="ja-JP" altLang="en-US"/>
          </a:p>
        </p:txBody>
      </p:sp>
    </p:spTree>
    <p:extLst>
      <p:ext uri="{BB962C8B-B14F-4D97-AF65-F5344CB8AC3E}">
        <p14:creationId xmlns:p14="http://schemas.microsoft.com/office/powerpoint/2010/main" val="257918993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5F25BD-5BA7-9067-CB5C-301767354F52}"/>
              </a:ext>
            </a:extLst>
          </p:cNvPr>
          <p:cNvSpPr>
            <a:spLocks noGrp="1"/>
          </p:cNvSpPr>
          <p:nvPr>
            <p:ph type="title"/>
          </p:nvPr>
        </p:nvSpPr>
        <p:spPr>
          <a:xfrm>
            <a:off x="3061810" y="413994"/>
            <a:ext cx="11216639" cy="1326490"/>
          </a:xfrm>
        </p:spPr>
        <p:txBody>
          <a:bodyPr vert="horz" lIns="91440" tIns="45720" rIns="91440" bIns="45720" rtlCol="0" anchor="b">
            <a:normAutofit/>
          </a:bodyPr>
          <a:lstStyle/>
          <a:p>
            <a:pPr algn="l" defTabSz="914400">
              <a:lnSpc>
                <a:spcPct val="90000"/>
              </a:lnSpc>
              <a:spcBef>
                <a:spcPct val="0"/>
              </a:spcBef>
            </a:pPr>
            <a:r>
              <a:rPr lang="zh-TW" altLang="en-US" sz="6700" kern="1200" dirty="0">
                <a:solidFill>
                  <a:schemeClr val="tx1"/>
                </a:solidFill>
                <a:cs typeface="+mj-cs"/>
              </a:rPr>
              <a:t>固定技術係数</a:t>
            </a:r>
            <a:endParaRPr kumimoji="1" lang="en-US" altLang="ja-JP" sz="6700" kern="1200" dirty="0">
              <a:solidFill>
                <a:schemeClr val="tx1"/>
              </a:solidFill>
              <a:cs typeface="+mj-cs"/>
            </a:endParaRPr>
          </a:p>
        </p:txBody>
      </p:sp>
      <p:pic>
        <p:nvPicPr>
          <p:cNvPr id="4" name="図 3" descr="テーブル&#10;&#10;自動的に生成された説明">
            <a:extLst>
              <a:ext uri="{FF2B5EF4-FFF2-40B4-BE49-F238E27FC236}">
                <a16:creationId xmlns:a16="http://schemas.microsoft.com/office/drawing/2014/main" id="{70845AAA-1010-F175-B3AA-0FB03009D55D}"/>
              </a:ext>
            </a:extLst>
          </p:cNvPr>
          <p:cNvPicPr>
            <a:picLocks noChangeAspect="1"/>
          </p:cNvPicPr>
          <p:nvPr/>
        </p:nvPicPr>
        <p:blipFill>
          <a:blip r:embed="rId2"/>
          <a:stretch>
            <a:fillRect/>
          </a:stretch>
        </p:blipFill>
        <p:spPr>
          <a:xfrm>
            <a:off x="2871310" y="2997653"/>
            <a:ext cx="11216638" cy="3757574"/>
          </a:xfrm>
          <a:prstGeom prst="rect">
            <a:avLst/>
          </a:prstGeom>
        </p:spPr>
      </p:pic>
      <p:sp>
        <p:nvSpPr>
          <p:cNvPr id="6" name="テキスト ボックス 5">
            <a:extLst>
              <a:ext uri="{FF2B5EF4-FFF2-40B4-BE49-F238E27FC236}">
                <a16:creationId xmlns:a16="http://schemas.microsoft.com/office/drawing/2014/main" id="{F89B7C4B-DA43-E6C8-19D6-EB0F6A76B12A}"/>
              </a:ext>
            </a:extLst>
          </p:cNvPr>
          <p:cNvSpPr txBox="1"/>
          <p:nvPr/>
        </p:nvSpPr>
        <p:spPr>
          <a:xfrm>
            <a:off x="2871311" y="8328970"/>
            <a:ext cx="78359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ja-JP" altLang="en-US" dirty="0">
                <a:latin typeface="ＭＳ Ｐゴシック" panose="020B0600070205080204" pitchFamily="50" charset="-128"/>
                <a:ea typeface="ＭＳ Ｐゴシック" panose="020B0600070205080204" pitchFamily="50" charset="-128"/>
              </a:rPr>
              <a:t>技術係数はアメリカとメキシコで共通であると仮定</a:t>
            </a:r>
          </a:p>
        </p:txBody>
      </p:sp>
      <p:sp>
        <p:nvSpPr>
          <p:cNvPr id="3" name="スライド番号プレースホルダー 2">
            <a:extLst>
              <a:ext uri="{FF2B5EF4-FFF2-40B4-BE49-F238E27FC236}">
                <a16:creationId xmlns:a16="http://schemas.microsoft.com/office/drawing/2014/main" id="{FEC00408-A04B-2057-8FD1-9AE903894FED}"/>
              </a:ext>
            </a:extLst>
          </p:cNvPr>
          <p:cNvSpPr>
            <a:spLocks noGrp="1"/>
          </p:cNvSpPr>
          <p:nvPr>
            <p:ph type="sldNum" sz="quarter" idx="2"/>
          </p:nvPr>
        </p:nvSpPr>
        <p:spPr>
          <a:xfrm>
            <a:off x="16457647" y="9296400"/>
            <a:ext cx="330219" cy="348813"/>
          </a:xfrm>
        </p:spPr>
        <p:txBody>
          <a:bodyPr/>
          <a:lstStyle/>
          <a:p>
            <a:fld id="{86CB4B4D-7CA3-9044-876B-883B54F8677D}" type="slidenum">
              <a:rPr lang="en-US" altLang="ja-JP" smtClean="0"/>
              <a:t>11</a:t>
            </a:fld>
            <a:endParaRPr lang="ja-JP" altLang="en-US"/>
          </a:p>
        </p:txBody>
      </p:sp>
      <p:sp>
        <p:nvSpPr>
          <p:cNvPr id="16" name="Rounded Rectangle 15">
            <a:extLst>
              <a:ext uri="{FF2B5EF4-FFF2-40B4-BE49-F238E27FC236}">
                <a16:creationId xmlns:a16="http://schemas.microsoft.com/office/drawing/2014/main" id="{BE6DE02D-DB40-DAF3-6A7C-2827183B0A7F}"/>
              </a:ext>
            </a:extLst>
          </p:cNvPr>
          <p:cNvSpPr/>
          <p:nvPr/>
        </p:nvSpPr>
        <p:spPr>
          <a:xfrm>
            <a:off x="7440353" y="3935438"/>
            <a:ext cx="2545080" cy="97536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7" name="Rounded Rectangle 16">
            <a:extLst>
              <a:ext uri="{FF2B5EF4-FFF2-40B4-BE49-F238E27FC236}">
                <a16:creationId xmlns:a16="http://schemas.microsoft.com/office/drawing/2014/main" id="{F07C2664-8D6D-B72E-AAA3-A21CA9BE063B}"/>
              </a:ext>
            </a:extLst>
          </p:cNvPr>
          <p:cNvSpPr/>
          <p:nvPr/>
        </p:nvSpPr>
        <p:spPr>
          <a:xfrm>
            <a:off x="10858471" y="3988040"/>
            <a:ext cx="2545080" cy="97536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8" name="Rounded Rectangle 17">
            <a:extLst>
              <a:ext uri="{FF2B5EF4-FFF2-40B4-BE49-F238E27FC236}">
                <a16:creationId xmlns:a16="http://schemas.microsoft.com/office/drawing/2014/main" id="{6EEF306A-00F5-42C8-559D-0C1003F7C9A9}"/>
              </a:ext>
            </a:extLst>
          </p:cNvPr>
          <p:cNvSpPr/>
          <p:nvPr/>
        </p:nvSpPr>
        <p:spPr>
          <a:xfrm>
            <a:off x="8310678" y="5035371"/>
            <a:ext cx="863801"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9" name="Rounded Rectangle 18">
            <a:extLst>
              <a:ext uri="{FF2B5EF4-FFF2-40B4-BE49-F238E27FC236}">
                <a16:creationId xmlns:a16="http://schemas.microsoft.com/office/drawing/2014/main" id="{8F7131A4-D2BE-D0A3-009C-46370EEC5F98}"/>
              </a:ext>
            </a:extLst>
          </p:cNvPr>
          <p:cNvSpPr/>
          <p:nvPr/>
        </p:nvSpPr>
        <p:spPr>
          <a:xfrm>
            <a:off x="7837963" y="5958249"/>
            <a:ext cx="863801"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0" name="Rounded Rectangle 19">
            <a:extLst>
              <a:ext uri="{FF2B5EF4-FFF2-40B4-BE49-F238E27FC236}">
                <a16:creationId xmlns:a16="http://schemas.microsoft.com/office/drawing/2014/main" id="{EEBD7207-1122-36DA-0773-EFA4026DE4C7}"/>
              </a:ext>
            </a:extLst>
          </p:cNvPr>
          <p:cNvSpPr/>
          <p:nvPr/>
        </p:nvSpPr>
        <p:spPr>
          <a:xfrm>
            <a:off x="11699110" y="5064801"/>
            <a:ext cx="863801"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1" name="Rounded Rectangle 20">
            <a:extLst>
              <a:ext uri="{FF2B5EF4-FFF2-40B4-BE49-F238E27FC236}">
                <a16:creationId xmlns:a16="http://schemas.microsoft.com/office/drawing/2014/main" id="{7ED75166-9E55-EE8A-A23B-D5387A79EA8A}"/>
              </a:ext>
            </a:extLst>
          </p:cNvPr>
          <p:cNvSpPr/>
          <p:nvPr/>
        </p:nvSpPr>
        <p:spPr>
          <a:xfrm>
            <a:off x="11150470" y="5918241"/>
            <a:ext cx="863801"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2" name="Rounded Rectangle 21">
            <a:extLst>
              <a:ext uri="{FF2B5EF4-FFF2-40B4-BE49-F238E27FC236}">
                <a16:creationId xmlns:a16="http://schemas.microsoft.com/office/drawing/2014/main" id="{27167ED1-8E14-C69E-3913-A7E9D8F5405D}"/>
              </a:ext>
            </a:extLst>
          </p:cNvPr>
          <p:cNvSpPr/>
          <p:nvPr/>
        </p:nvSpPr>
        <p:spPr>
          <a:xfrm>
            <a:off x="8315307" y="5521781"/>
            <a:ext cx="863801"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3" name="Rounded Rectangle 22">
            <a:extLst>
              <a:ext uri="{FF2B5EF4-FFF2-40B4-BE49-F238E27FC236}">
                <a16:creationId xmlns:a16="http://schemas.microsoft.com/office/drawing/2014/main" id="{527240CE-A749-5CA5-49AE-A0CB3B9958C4}"/>
              </a:ext>
            </a:extLst>
          </p:cNvPr>
          <p:cNvSpPr/>
          <p:nvPr/>
        </p:nvSpPr>
        <p:spPr>
          <a:xfrm>
            <a:off x="8879187" y="5963741"/>
            <a:ext cx="863801"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4" name="Rounded Rectangle 23">
            <a:extLst>
              <a:ext uri="{FF2B5EF4-FFF2-40B4-BE49-F238E27FC236}">
                <a16:creationId xmlns:a16="http://schemas.microsoft.com/office/drawing/2014/main" id="{567E09AD-3215-23D2-756F-CB23FFA36C2E}"/>
              </a:ext>
            </a:extLst>
          </p:cNvPr>
          <p:cNvSpPr/>
          <p:nvPr/>
        </p:nvSpPr>
        <p:spPr>
          <a:xfrm>
            <a:off x="12292947" y="5963741"/>
            <a:ext cx="863801"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5" name="Rounded Rectangle 24">
            <a:extLst>
              <a:ext uri="{FF2B5EF4-FFF2-40B4-BE49-F238E27FC236}">
                <a16:creationId xmlns:a16="http://schemas.microsoft.com/office/drawing/2014/main" id="{C782764C-FDB9-2E85-A193-8494FDE00687}"/>
              </a:ext>
            </a:extLst>
          </p:cNvPr>
          <p:cNvSpPr/>
          <p:nvPr/>
        </p:nvSpPr>
        <p:spPr>
          <a:xfrm>
            <a:off x="11713827" y="5552261"/>
            <a:ext cx="863801"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extLst>
      <p:ext uri="{BB962C8B-B14F-4D97-AF65-F5344CB8AC3E}">
        <p14:creationId xmlns:p14="http://schemas.microsoft.com/office/powerpoint/2010/main" val="273221983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312619-9BF3-9A93-2329-4974FDA6B446}"/>
              </a:ext>
            </a:extLst>
          </p:cNvPr>
          <p:cNvSpPr>
            <a:spLocks noGrp="1"/>
          </p:cNvSpPr>
          <p:nvPr>
            <p:ph type="title"/>
          </p:nvPr>
        </p:nvSpPr>
        <p:spPr>
          <a:xfrm>
            <a:off x="3061810" y="413994"/>
            <a:ext cx="11216639" cy="1326490"/>
          </a:xfrm>
        </p:spPr>
        <p:txBody>
          <a:bodyPr vert="horz" lIns="91440" tIns="45720" rIns="91440" bIns="45720" rtlCol="0" anchor="b">
            <a:normAutofit/>
          </a:bodyPr>
          <a:lstStyle/>
          <a:p>
            <a:pPr algn="l" defTabSz="914400">
              <a:lnSpc>
                <a:spcPct val="90000"/>
              </a:lnSpc>
              <a:spcBef>
                <a:spcPct val="0"/>
              </a:spcBef>
            </a:pPr>
            <a:r>
              <a:rPr lang="zh-TW" altLang="en-US" sz="6700" kern="1200" dirty="0">
                <a:solidFill>
                  <a:schemeClr val="tx1"/>
                </a:solidFill>
                <a:cs typeface="+mj-cs"/>
              </a:rPr>
              <a:t>資源（生産要素賦存</a:t>
            </a:r>
            <a:r>
              <a:rPr lang="ja-JP" altLang="en-US" sz="6700" kern="1200" dirty="0">
                <a:solidFill>
                  <a:schemeClr val="tx1"/>
                </a:solidFill>
                <a:cs typeface="+mj-cs"/>
              </a:rPr>
              <a:t>）</a:t>
            </a:r>
            <a:endParaRPr kumimoji="1" lang="en-US" altLang="ja-JP" sz="6700" kern="1200" dirty="0">
              <a:solidFill>
                <a:schemeClr val="tx1"/>
              </a:solidFill>
              <a:cs typeface="+mj-cs"/>
            </a:endParaRPr>
          </a:p>
        </p:txBody>
      </p:sp>
      <p:pic>
        <p:nvPicPr>
          <p:cNvPr id="4" name="図 3">
            <a:extLst>
              <a:ext uri="{FF2B5EF4-FFF2-40B4-BE49-F238E27FC236}">
                <a16:creationId xmlns:a16="http://schemas.microsoft.com/office/drawing/2014/main" id="{9D5CD79D-E745-0D8E-7A98-1B3937C0EC9F}"/>
              </a:ext>
            </a:extLst>
          </p:cNvPr>
          <p:cNvPicPr>
            <a:picLocks noChangeAspect="1"/>
          </p:cNvPicPr>
          <p:nvPr/>
        </p:nvPicPr>
        <p:blipFill>
          <a:blip r:embed="rId2"/>
          <a:stretch>
            <a:fillRect/>
          </a:stretch>
        </p:blipFill>
        <p:spPr>
          <a:xfrm>
            <a:off x="2839740" y="2017154"/>
            <a:ext cx="11216638" cy="4682947"/>
          </a:xfrm>
          <a:prstGeom prst="rect">
            <a:avLst/>
          </a:prstGeom>
        </p:spPr>
      </p:pic>
      <p:sp>
        <p:nvSpPr>
          <p:cNvPr id="6" name="テキスト ボックス 5">
            <a:extLst>
              <a:ext uri="{FF2B5EF4-FFF2-40B4-BE49-F238E27FC236}">
                <a16:creationId xmlns:a16="http://schemas.microsoft.com/office/drawing/2014/main" id="{130E9D57-46DF-2F4B-F72F-E33E53639A63}"/>
              </a:ext>
            </a:extLst>
          </p:cNvPr>
          <p:cNvSpPr txBox="1"/>
          <p:nvPr/>
        </p:nvSpPr>
        <p:spPr>
          <a:xfrm>
            <a:off x="3061809" y="7464365"/>
            <a:ext cx="11659328"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ja-JP" altLang="en-US" dirty="0">
                <a:latin typeface="ＭＳ Ｐゴシック" panose="020B0600070205080204" pitchFamily="50" charset="-128"/>
                <a:ea typeface="ＭＳ Ｐゴシック" panose="020B0600070205080204" pitchFamily="50" charset="-128"/>
              </a:rPr>
              <a:t>ヘクシャー </a:t>
            </a:r>
            <a:r>
              <a:rPr lang="en-US" altLang="ja-JP" dirty="0">
                <a:latin typeface="ＭＳ Ｐゴシック" panose="020B0600070205080204" pitchFamily="50" charset="-128"/>
                <a:ea typeface="ＭＳ Ｐゴシック" panose="020B0600070205080204" pitchFamily="50" charset="-128"/>
              </a:rPr>
              <a:t>= </a:t>
            </a:r>
            <a:r>
              <a:rPr lang="ja-JP" altLang="en-US" dirty="0">
                <a:latin typeface="ＭＳ Ｐゴシック" panose="020B0600070205080204" pitchFamily="50" charset="-128"/>
                <a:ea typeface="ＭＳ Ｐゴシック" panose="020B0600070205080204" pitchFamily="50" charset="-128"/>
              </a:rPr>
              <a:t>オリーン・モデルは，各国に存在する資源 の量（生産要素賦存量）は異なると仮定し，保有する資源の違いから 貿易が生じることを導き出す。</a:t>
            </a:r>
          </a:p>
        </p:txBody>
      </p:sp>
      <p:sp>
        <p:nvSpPr>
          <p:cNvPr id="7" name="スライド番号プレースホルダー 6">
            <a:extLst>
              <a:ext uri="{FF2B5EF4-FFF2-40B4-BE49-F238E27FC236}">
                <a16:creationId xmlns:a16="http://schemas.microsoft.com/office/drawing/2014/main" id="{0C2C5A9F-F035-7A3A-FB4F-3D6224260090}"/>
              </a:ext>
            </a:extLst>
          </p:cNvPr>
          <p:cNvSpPr>
            <a:spLocks noGrp="1"/>
          </p:cNvSpPr>
          <p:nvPr>
            <p:ph type="sldNum" sz="quarter" idx="2"/>
          </p:nvPr>
        </p:nvSpPr>
        <p:spPr>
          <a:xfrm>
            <a:off x="16457647" y="9296400"/>
            <a:ext cx="330219" cy="348813"/>
          </a:xfrm>
        </p:spPr>
        <p:txBody>
          <a:bodyPr/>
          <a:lstStyle/>
          <a:p>
            <a:fld id="{86CB4B4D-7CA3-9044-876B-883B54F8677D}" type="slidenum">
              <a:rPr lang="en-US" altLang="ja-JP" smtClean="0"/>
              <a:t>12</a:t>
            </a:fld>
            <a:endParaRPr lang="ja-JP" altLang="en-US"/>
          </a:p>
        </p:txBody>
      </p:sp>
      <p:sp>
        <p:nvSpPr>
          <p:cNvPr id="16" name="Rounded Rectangle 15">
            <a:extLst>
              <a:ext uri="{FF2B5EF4-FFF2-40B4-BE49-F238E27FC236}">
                <a16:creationId xmlns:a16="http://schemas.microsoft.com/office/drawing/2014/main" id="{ED6388D4-E505-C477-6862-5E464B93ECA3}"/>
              </a:ext>
            </a:extLst>
          </p:cNvPr>
          <p:cNvSpPr/>
          <p:nvPr/>
        </p:nvSpPr>
        <p:spPr>
          <a:xfrm>
            <a:off x="8950483" y="3885609"/>
            <a:ext cx="2037557"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7" name="Rounded Rectangle 16">
            <a:extLst>
              <a:ext uri="{FF2B5EF4-FFF2-40B4-BE49-F238E27FC236}">
                <a16:creationId xmlns:a16="http://schemas.microsoft.com/office/drawing/2014/main" id="{3EA36CB4-9F37-90DC-2BCC-5C55E31F6061}"/>
              </a:ext>
            </a:extLst>
          </p:cNvPr>
          <p:cNvSpPr/>
          <p:nvPr/>
        </p:nvSpPr>
        <p:spPr>
          <a:xfrm>
            <a:off x="11632723" y="3885609"/>
            <a:ext cx="2037557"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8" name="Rounded Rectangle 17">
            <a:extLst>
              <a:ext uri="{FF2B5EF4-FFF2-40B4-BE49-F238E27FC236}">
                <a16:creationId xmlns:a16="http://schemas.microsoft.com/office/drawing/2014/main" id="{5C5FDC76-5466-2ACF-FF75-CAC4A862F608}"/>
              </a:ext>
            </a:extLst>
          </p:cNvPr>
          <p:cNvSpPr/>
          <p:nvPr/>
        </p:nvSpPr>
        <p:spPr>
          <a:xfrm>
            <a:off x="8982913" y="5320805"/>
            <a:ext cx="2037557"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9" name="Rounded Rectangle 18">
            <a:extLst>
              <a:ext uri="{FF2B5EF4-FFF2-40B4-BE49-F238E27FC236}">
                <a16:creationId xmlns:a16="http://schemas.microsoft.com/office/drawing/2014/main" id="{271626A2-10D8-7F1E-5AE5-FD8C293CD161}"/>
              </a:ext>
            </a:extLst>
          </p:cNvPr>
          <p:cNvSpPr/>
          <p:nvPr/>
        </p:nvSpPr>
        <p:spPr>
          <a:xfrm>
            <a:off x="11519645" y="5320805"/>
            <a:ext cx="2037557"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0" name="Rounded Rectangle 19">
            <a:extLst>
              <a:ext uri="{FF2B5EF4-FFF2-40B4-BE49-F238E27FC236}">
                <a16:creationId xmlns:a16="http://schemas.microsoft.com/office/drawing/2014/main" id="{4B54CD7C-B3E7-8DC5-1353-CC2A8B0D9156}"/>
              </a:ext>
            </a:extLst>
          </p:cNvPr>
          <p:cNvSpPr/>
          <p:nvPr/>
        </p:nvSpPr>
        <p:spPr>
          <a:xfrm>
            <a:off x="11641565" y="4391165"/>
            <a:ext cx="2037557"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1" name="Rounded Rectangle 20">
            <a:extLst>
              <a:ext uri="{FF2B5EF4-FFF2-40B4-BE49-F238E27FC236}">
                <a16:creationId xmlns:a16="http://schemas.microsoft.com/office/drawing/2014/main" id="{F3977416-6ED7-9684-3EB9-E2E8936AC40E}"/>
              </a:ext>
            </a:extLst>
          </p:cNvPr>
          <p:cNvSpPr/>
          <p:nvPr/>
        </p:nvSpPr>
        <p:spPr>
          <a:xfrm>
            <a:off x="8959325" y="4391165"/>
            <a:ext cx="2037557"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2" name="Rounded Rectangle 21">
            <a:extLst>
              <a:ext uri="{FF2B5EF4-FFF2-40B4-BE49-F238E27FC236}">
                <a16:creationId xmlns:a16="http://schemas.microsoft.com/office/drawing/2014/main" id="{6B202659-2655-BECC-FBBE-2AF4D66FD29A}"/>
              </a:ext>
            </a:extLst>
          </p:cNvPr>
          <p:cNvSpPr/>
          <p:nvPr/>
        </p:nvSpPr>
        <p:spPr>
          <a:xfrm>
            <a:off x="12588240" y="4817885"/>
            <a:ext cx="450802"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3" name="Rounded Rectangle 22">
            <a:extLst>
              <a:ext uri="{FF2B5EF4-FFF2-40B4-BE49-F238E27FC236}">
                <a16:creationId xmlns:a16="http://schemas.microsoft.com/office/drawing/2014/main" id="{5C3AAC49-7F2E-EAEC-9137-39BA5C354D30}"/>
              </a:ext>
            </a:extLst>
          </p:cNvPr>
          <p:cNvSpPr/>
          <p:nvPr/>
        </p:nvSpPr>
        <p:spPr>
          <a:xfrm>
            <a:off x="10012680" y="4878845"/>
            <a:ext cx="450802"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4" name="Rounded Rectangle 23">
            <a:extLst>
              <a:ext uri="{FF2B5EF4-FFF2-40B4-BE49-F238E27FC236}">
                <a16:creationId xmlns:a16="http://schemas.microsoft.com/office/drawing/2014/main" id="{82C08F1F-9084-F87B-6D76-18CCE015118E}"/>
              </a:ext>
            </a:extLst>
          </p:cNvPr>
          <p:cNvSpPr/>
          <p:nvPr/>
        </p:nvSpPr>
        <p:spPr>
          <a:xfrm>
            <a:off x="9403080" y="4848365"/>
            <a:ext cx="450802" cy="456980"/>
          </a:xfrm>
          <a:prstGeom prst="round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25" name="Rounded Rectangle 24">
            <a:extLst>
              <a:ext uri="{FF2B5EF4-FFF2-40B4-BE49-F238E27FC236}">
                <a16:creationId xmlns:a16="http://schemas.microsoft.com/office/drawing/2014/main" id="{DB630FFA-4B7F-9EFD-A22B-AA8AEC8A31D0}"/>
              </a:ext>
            </a:extLst>
          </p:cNvPr>
          <p:cNvSpPr/>
          <p:nvPr/>
        </p:nvSpPr>
        <p:spPr>
          <a:xfrm>
            <a:off x="12024360" y="4833125"/>
            <a:ext cx="450802" cy="456980"/>
          </a:xfrm>
          <a:prstGeom prst="roundRect">
            <a:avLst/>
          </a:prstGeom>
          <a:noFill/>
          <a:ln>
            <a:solidFill>
              <a:schemeClr val="accent5"/>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extLst>
      <p:ext uri="{BB962C8B-B14F-4D97-AF65-F5344CB8AC3E}">
        <p14:creationId xmlns:p14="http://schemas.microsoft.com/office/powerpoint/2010/main" val="4246649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30169-3AD7-D369-D94F-BCBFDFC1A888}"/>
              </a:ext>
            </a:extLst>
          </p:cNvPr>
          <p:cNvSpPr>
            <a:spLocks noGrp="1"/>
          </p:cNvSpPr>
          <p:nvPr>
            <p:ph type="sldNum" sz="quarter" idx="2"/>
          </p:nvPr>
        </p:nvSpPr>
        <p:spPr/>
        <p:txBody>
          <a:bodyPr/>
          <a:lstStyle/>
          <a:p>
            <a:fld id="{86CB4B4D-7CA3-9044-876B-883B54F8677D}" type="slidenum">
              <a:rPr lang="en-JP" smtClean="0"/>
              <a:t>13</a:t>
            </a:fld>
            <a:endParaRPr lang="en-JP"/>
          </a:p>
        </p:txBody>
      </p:sp>
      <p:graphicFrame>
        <p:nvGraphicFramePr>
          <p:cNvPr id="3" name="Table 2">
            <a:extLst>
              <a:ext uri="{FF2B5EF4-FFF2-40B4-BE49-F238E27FC236}">
                <a16:creationId xmlns:a16="http://schemas.microsoft.com/office/drawing/2014/main" id="{83572E9C-8B4A-D52B-0244-CD65770CC83C}"/>
              </a:ext>
            </a:extLst>
          </p:cNvPr>
          <p:cNvGraphicFramePr>
            <a:graphicFrameLocks noGrp="1"/>
          </p:cNvGraphicFramePr>
          <p:nvPr>
            <p:extLst>
              <p:ext uri="{D42A27DB-BD31-4B8C-83A1-F6EECF244321}">
                <p14:modId xmlns:p14="http://schemas.microsoft.com/office/powerpoint/2010/main" val="3951607738"/>
              </p:ext>
            </p:extLst>
          </p:nvPr>
        </p:nvGraphicFramePr>
        <p:xfrm>
          <a:off x="721273" y="5996851"/>
          <a:ext cx="14555898" cy="2552514"/>
        </p:xfrm>
        <a:graphic>
          <a:graphicData uri="http://schemas.openxmlformats.org/drawingml/2006/table">
            <a:tbl>
              <a:tblPr firstRow="1" bandRow="1">
                <a:tableStyleId>{5940675A-B579-460E-94D1-54222C63F5DA}</a:tableStyleId>
              </a:tblPr>
              <a:tblGrid>
                <a:gridCol w="7316978">
                  <a:extLst>
                    <a:ext uri="{9D8B030D-6E8A-4147-A177-3AD203B41FA5}">
                      <a16:colId xmlns:a16="http://schemas.microsoft.com/office/drawing/2014/main" val="4156785848"/>
                    </a:ext>
                  </a:extLst>
                </a:gridCol>
                <a:gridCol w="7238920">
                  <a:extLst>
                    <a:ext uri="{9D8B030D-6E8A-4147-A177-3AD203B41FA5}">
                      <a16:colId xmlns:a16="http://schemas.microsoft.com/office/drawing/2014/main" val="2853485595"/>
                    </a:ext>
                  </a:extLst>
                </a:gridCol>
              </a:tblGrid>
              <a:tr h="618610">
                <a:tc>
                  <a:txBody>
                    <a:bodyPr/>
                    <a:lstStyle/>
                    <a:p>
                      <a:r>
                        <a:rPr lang="en-JP" sz="3600" dirty="0"/>
                        <a:t>PCの生産に必要な大卒労働者数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a:t>
                      </a:r>
                    </a:p>
                  </a:txBody>
                  <a:tcPr/>
                </a:tc>
                <a:extLst>
                  <a:ext uri="{0D108BD9-81ED-4DB2-BD59-A6C34878D82A}">
                    <a16:rowId xmlns:a16="http://schemas.microsoft.com/office/drawing/2014/main" val="2581464226"/>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衣服の生産に必要な大卒労働者数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1y</a:t>
                      </a:r>
                    </a:p>
                  </a:txBody>
                  <a:tcPr/>
                </a:tc>
                <a:extLst>
                  <a:ext uri="{0D108BD9-81ED-4DB2-BD59-A6C34878D82A}">
                    <a16:rowId xmlns:a16="http://schemas.microsoft.com/office/drawing/2014/main" val="3433603818"/>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アメリカの大卒労働者合計</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2x+y=1200</a:t>
                      </a:r>
                    </a:p>
                  </a:txBody>
                  <a:tcPr/>
                </a:tc>
                <a:extLst>
                  <a:ext uri="{0D108BD9-81ED-4DB2-BD59-A6C34878D82A}">
                    <a16:rowId xmlns:a16="http://schemas.microsoft.com/office/drawing/2014/main" val="749597862"/>
                  </a:ext>
                </a:extLst>
              </a:tr>
            </a:tbl>
          </a:graphicData>
        </a:graphic>
      </p:graphicFrame>
      <p:pic>
        <p:nvPicPr>
          <p:cNvPr id="6" name="図 3" descr="テーブル&#10;&#10;自動的に生成された説明">
            <a:extLst>
              <a:ext uri="{FF2B5EF4-FFF2-40B4-BE49-F238E27FC236}">
                <a16:creationId xmlns:a16="http://schemas.microsoft.com/office/drawing/2014/main" id="{487E8571-13D8-844D-7CD7-1C70159B73C5}"/>
              </a:ext>
            </a:extLst>
          </p:cNvPr>
          <p:cNvPicPr>
            <a:picLocks noChangeAspect="1"/>
          </p:cNvPicPr>
          <p:nvPr/>
        </p:nvPicPr>
        <p:blipFill>
          <a:blip r:embed="rId2"/>
          <a:stretch>
            <a:fillRect/>
          </a:stretch>
        </p:blipFill>
        <p:spPr>
          <a:xfrm>
            <a:off x="1064814" y="1765088"/>
            <a:ext cx="11216638" cy="3757574"/>
          </a:xfrm>
          <a:prstGeom prst="rect">
            <a:avLst/>
          </a:prstGeom>
        </p:spPr>
      </p:pic>
      <p:sp>
        <p:nvSpPr>
          <p:cNvPr id="10" name="Rounded Rectangle 9">
            <a:extLst>
              <a:ext uri="{FF2B5EF4-FFF2-40B4-BE49-F238E27FC236}">
                <a16:creationId xmlns:a16="http://schemas.microsoft.com/office/drawing/2014/main" id="{0BEE4DB5-F89F-5F11-4666-8DD473B08181}"/>
              </a:ext>
            </a:extLst>
          </p:cNvPr>
          <p:cNvSpPr/>
          <p:nvPr/>
        </p:nvSpPr>
        <p:spPr>
          <a:xfrm>
            <a:off x="10487947" y="6097405"/>
            <a:ext cx="2037557"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1" name="Rounded Rectangle 10">
            <a:extLst>
              <a:ext uri="{FF2B5EF4-FFF2-40B4-BE49-F238E27FC236}">
                <a16:creationId xmlns:a16="http://schemas.microsoft.com/office/drawing/2014/main" id="{DD444AE4-674E-5CAB-22C6-91957911AC07}"/>
              </a:ext>
            </a:extLst>
          </p:cNvPr>
          <p:cNvSpPr/>
          <p:nvPr/>
        </p:nvSpPr>
        <p:spPr>
          <a:xfrm>
            <a:off x="10487946" y="6701720"/>
            <a:ext cx="2037557"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extLst>
      <p:ext uri="{BB962C8B-B14F-4D97-AF65-F5344CB8AC3E}">
        <p14:creationId xmlns:p14="http://schemas.microsoft.com/office/powerpoint/2010/main" val="110237956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30169-3AD7-D369-D94F-BCBFDFC1A888}"/>
              </a:ext>
            </a:extLst>
          </p:cNvPr>
          <p:cNvSpPr>
            <a:spLocks noGrp="1"/>
          </p:cNvSpPr>
          <p:nvPr>
            <p:ph type="sldNum" sz="quarter" idx="2"/>
          </p:nvPr>
        </p:nvSpPr>
        <p:spPr/>
        <p:txBody>
          <a:bodyPr/>
          <a:lstStyle/>
          <a:p>
            <a:fld id="{86CB4B4D-7CA3-9044-876B-883B54F8677D}" type="slidenum">
              <a:rPr lang="en-JP" smtClean="0"/>
              <a:t>14</a:t>
            </a:fld>
            <a:endParaRPr lang="en-JP"/>
          </a:p>
        </p:txBody>
      </p:sp>
      <p:graphicFrame>
        <p:nvGraphicFramePr>
          <p:cNvPr id="3" name="Table 2">
            <a:extLst>
              <a:ext uri="{FF2B5EF4-FFF2-40B4-BE49-F238E27FC236}">
                <a16:creationId xmlns:a16="http://schemas.microsoft.com/office/drawing/2014/main" id="{83572E9C-8B4A-D52B-0244-CD65770CC83C}"/>
              </a:ext>
            </a:extLst>
          </p:cNvPr>
          <p:cNvGraphicFramePr>
            <a:graphicFrameLocks noGrp="1"/>
          </p:cNvGraphicFramePr>
          <p:nvPr>
            <p:extLst>
              <p:ext uri="{D42A27DB-BD31-4B8C-83A1-F6EECF244321}">
                <p14:modId xmlns:p14="http://schemas.microsoft.com/office/powerpoint/2010/main" val="2388511450"/>
              </p:ext>
            </p:extLst>
          </p:nvPr>
        </p:nvGraphicFramePr>
        <p:xfrm>
          <a:off x="721273" y="5996851"/>
          <a:ext cx="14555898" cy="2552514"/>
        </p:xfrm>
        <a:graphic>
          <a:graphicData uri="http://schemas.openxmlformats.org/drawingml/2006/table">
            <a:tbl>
              <a:tblPr firstRow="1" bandRow="1">
                <a:tableStyleId>{5940675A-B579-460E-94D1-54222C63F5DA}</a:tableStyleId>
              </a:tblPr>
              <a:tblGrid>
                <a:gridCol w="7316978">
                  <a:extLst>
                    <a:ext uri="{9D8B030D-6E8A-4147-A177-3AD203B41FA5}">
                      <a16:colId xmlns:a16="http://schemas.microsoft.com/office/drawing/2014/main" val="4156785848"/>
                    </a:ext>
                  </a:extLst>
                </a:gridCol>
                <a:gridCol w="7238920">
                  <a:extLst>
                    <a:ext uri="{9D8B030D-6E8A-4147-A177-3AD203B41FA5}">
                      <a16:colId xmlns:a16="http://schemas.microsoft.com/office/drawing/2014/main" val="2853485595"/>
                    </a:ext>
                  </a:extLst>
                </a:gridCol>
              </a:tblGrid>
              <a:tr h="618610">
                <a:tc>
                  <a:txBody>
                    <a:bodyPr/>
                    <a:lstStyle/>
                    <a:p>
                      <a:r>
                        <a:rPr lang="en-JP" sz="3600" dirty="0"/>
                        <a:t>PCの生産に必要な高卒労働者数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a:t>
                      </a:r>
                    </a:p>
                  </a:txBody>
                  <a:tcPr/>
                </a:tc>
                <a:extLst>
                  <a:ext uri="{0D108BD9-81ED-4DB2-BD59-A6C34878D82A}">
                    <a16:rowId xmlns:a16="http://schemas.microsoft.com/office/drawing/2014/main" val="2581464226"/>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衣服の生産に必要な高卒労働者数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3y</a:t>
                      </a:r>
                    </a:p>
                  </a:txBody>
                  <a:tcPr/>
                </a:tc>
                <a:extLst>
                  <a:ext uri="{0D108BD9-81ED-4DB2-BD59-A6C34878D82A}">
                    <a16:rowId xmlns:a16="http://schemas.microsoft.com/office/drawing/2014/main" val="3433603818"/>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アメリカの高卒労働者合計</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2x+3y=1800</a:t>
                      </a:r>
                    </a:p>
                  </a:txBody>
                  <a:tcPr/>
                </a:tc>
                <a:extLst>
                  <a:ext uri="{0D108BD9-81ED-4DB2-BD59-A6C34878D82A}">
                    <a16:rowId xmlns:a16="http://schemas.microsoft.com/office/drawing/2014/main" val="749597862"/>
                  </a:ext>
                </a:extLst>
              </a:tr>
            </a:tbl>
          </a:graphicData>
        </a:graphic>
      </p:graphicFrame>
      <p:pic>
        <p:nvPicPr>
          <p:cNvPr id="6" name="図 3" descr="テーブル&#10;&#10;自動的に生成された説明">
            <a:extLst>
              <a:ext uri="{FF2B5EF4-FFF2-40B4-BE49-F238E27FC236}">
                <a16:creationId xmlns:a16="http://schemas.microsoft.com/office/drawing/2014/main" id="{487E8571-13D8-844D-7CD7-1C70159B73C5}"/>
              </a:ext>
            </a:extLst>
          </p:cNvPr>
          <p:cNvPicPr>
            <a:picLocks noChangeAspect="1"/>
          </p:cNvPicPr>
          <p:nvPr/>
        </p:nvPicPr>
        <p:blipFill>
          <a:blip r:embed="rId2"/>
          <a:stretch>
            <a:fillRect/>
          </a:stretch>
        </p:blipFill>
        <p:spPr>
          <a:xfrm>
            <a:off x="161566" y="1273727"/>
            <a:ext cx="8844862" cy="2963029"/>
          </a:xfrm>
          <a:prstGeom prst="rect">
            <a:avLst/>
          </a:prstGeom>
        </p:spPr>
      </p:pic>
      <p:pic>
        <p:nvPicPr>
          <p:cNvPr id="4" name="図 3">
            <a:extLst>
              <a:ext uri="{FF2B5EF4-FFF2-40B4-BE49-F238E27FC236}">
                <a16:creationId xmlns:a16="http://schemas.microsoft.com/office/drawing/2014/main" id="{FF87D9FD-4AE1-AF69-5E95-A8B14E46CC83}"/>
              </a:ext>
            </a:extLst>
          </p:cNvPr>
          <p:cNvPicPr>
            <a:picLocks noChangeAspect="1"/>
          </p:cNvPicPr>
          <p:nvPr/>
        </p:nvPicPr>
        <p:blipFill>
          <a:blip r:embed="rId3"/>
          <a:stretch>
            <a:fillRect/>
          </a:stretch>
        </p:blipFill>
        <p:spPr>
          <a:xfrm>
            <a:off x="9009857" y="949634"/>
            <a:ext cx="8168840" cy="3410491"/>
          </a:xfrm>
          <a:prstGeom prst="rect">
            <a:avLst/>
          </a:prstGeom>
        </p:spPr>
      </p:pic>
      <p:sp>
        <p:nvSpPr>
          <p:cNvPr id="12" name="Rounded Rectangle 11">
            <a:extLst>
              <a:ext uri="{FF2B5EF4-FFF2-40B4-BE49-F238E27FC236}">
                <a16:creationId xmlns:a16="http://schemas.microsoft.com/office/drawing/2014/main" id="{D368574E-A213-7EB2-1971-36959DC28DA6}"/>
              </a:ext>
            </a:extLst>
          </p:cNvPr>
          <p:cNvSpPr/>
          <p:nvPr/>
        </p:nvSpPr>
        <p:spPr>
          <a:xfrm>
            <a:off x="10487947" y="6097405"/>
            <a:ext cx="2037557" cy="456980"/>
          </a:xfrm>
          <a:prstGeom prst="roundRect">
            <a:avLst/>
          </a:prstGeom>
          <a:no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
        <p:nvSpPr>
          <p:cNvPr id="13" name="Rounded Rectangle 12">
            <a:extLst>
              <a:ext uri="{FF2B5EF4-FFF2-40B4-BE49-F238E27FC236}">
                <a16:creationId xmlns:a16="http://schemas.microsoft.com/office/drawing/2014/main" id="{519F6862-AF75-FA10-8B9C-76E504C353E2}"/>
              </a:ext>
            </a:extLst>
          </p:cNvPr>
          <p:cNvSpPr/>
          <p:nvPr/>
        </p:nvSpPr>
        <p:spPr>
          <a:xfrm>
            <a:off x="10487946" y="6701720"/>
            <a:ext cx="2037557" cy="456980"/>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JP" sz="2200" b="0" i="0" u="none" strike="noStrike" cap="none" spc="0" normalizeH="0" baseline="0">
              <a:ln>
                <a:noFill/>
              </a:ln>
              <a:solidFill>
                <a:srgbClr val="FFFFFF"/>
              </a:solidFill>
              <a:effectLst/>
              <a:uFillTx/>
              <a:latin typeface="+mn-lt"/>
              <a:ea typeface="+mn-ea"/>
              <a:cs typeface="+mn-cs"/>
              <a:sym typeface="ヒラギノ角ゴ ProN W3"/>
            </a:endParaRPr>
          </a:p>
        </p:txBody>
      </p:sp>
    </p:spTree>
    <p:extLst>
      <p:ext uri="{BB962C8B-B14F-4D97-AF65-F5344CB8AC3E}">
        <p14:creationId xmlns:p14="http://schemas.microsoft.com/office/powerpoint/2010/main" val="123195956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F5864-E1B0-33DD-9D4E-2A8AAFADFB80}"/>
              </a:ext>
            </a:extLst>
          </p:cNvPr>
          <p:cNvSpPr>
            <a:spLocks noGrp="1"/>
          </p:cNvSpPr>
          <p:nvPr>
            <p:ph type="title"/>
          </p:nvPr>
        </p:nvSpPr>
        <p:spPr/>
        <p:txBody>
          <a:bodyPr vert="horz" lIns="91440" tIns="45720" rIns="91440" bIns="45720" rtlCol="0" anchor="b">
            <a:normAutofit/>
          </a:bodyPr>
          <a:lstStyle/>
          <a:p>
            <a:pPr defTabSz="914400">
              <a:lnSpc>
                <a:spcPct val="90000"/>
              </a:lnSpc>
              <a:spcBef>
                <a:spcPct val="0"/>
              </a:spcBef>
            </a:pPr>
            <a:r>
              <a:rPr lang="zh-CN" altLang="en-US" sz="6700" kern="1200" dirty="0">
                <a:solidFill>
                  <a:schemeClr val="tx1"/>
                </a:solidFill>
                <a:cs typeface="+mj-cs"/>
              </a:rPr>
              <a:t>大卒</a:t>
            </a:r>
            <a:r>
              <a:rPr lang="ja-JP" altLang="en-US" sz="6700" kern="1200" dirty="0">
                <a:solidFill>
                  <a:schemeClr val="tx1"/>
                </a:solidFill>
                <a:cs typeface="+mj-cs"/>
              </a:rPr>
              <a:t>労働者の完全</a:t>
            </a:r>
            <a:r>
              <a:rPr lang="zh-CN" altLang="en-US" sz="6700" kern="1200" dirty="0">
                <a:solidFill>
                  <a:schemeClr val="tx1"/>
                </a:solidFill>
                <a:cs typeface="+mj-cs"/>
              </a:rPr>
              <a:t>雇用条件</a:t>
            </a:r>
            <a:endParaRPr kumimoji="1" lang="en-US" altLang="ja-JP" sz="6700" kern="1200" dirty="0">
              <a:solidFill>
                <a:schemeClr val="tx1"/>
              </a:solidFill>
              <a:cs typeface="+mj-cs"/>
            </a:endParaRPr>
          </a:p>
        </p:txBody>
      </p:sp>
      <p:sp>
        <p:nvSpPr>
          <p:cNvPr id="4" name="スライド番号プレースホルダー 3">
            <a:extLst>
              <a:ext uri="{FF2B5EF4-FFF2-40B4-BE49-F238E27FC236}">
                <a16:creationId xmlns:a16="http://schemas.microsoft.com/office/drawing/2014/main" id="{0B8D1D7D-E18E-B4D3-F972-8BEA023AAC95}"/>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15</a:t>
            </a:fld>
            <a:endParaRPr lang="en-US" altLang="ja-JP" sz="1200" kern="1200">
              <a:solidFill>
                <a:schemeClr val="tx1">
                  <a:tint val="75000"/>
                </a:schemeClr>
              </a:solidFill>
              <a:latin typeface="+mn-lt"/>
              <a:ea typeface="+mn-ea"/>
              <a:cs typeface="+mn-cs"/>
            </a:endParaRPr>
          </a:p>
        </p:txBody>
      </p:sp>
      <p:pic>
        <p:nvPicPr>
          <p:cNvPr id="6" name="図 5">
            <a:extLst>
              <a:ext uri="{FF2B5EF4-FFF2-40B4-BE49-F238E27FC236}">
                <a16:creationId xmlns:a16="http://schemas.microsoft.com/office/drawing/2014/main" id="{8BA02AF0-9D97-A712-8529-2E89AC245A95}"/>
              </a:ext>
            </a:extLst>
          </p:cNvPr>
          <p:cNvPicPr>
            <a:picLocks noChangeAspect="1"/>
          </p:cNvPicPr>
          <p:nvPr/>
        </p:nvPicPr>
        <p:blipFill>
          <a:blip r:embed="rId2"/>
          <a:stretch>
            <a:fillRect/>
          </a:stretch>
        </p:blipFill>
        <p:spPr>
          <a:xfrm>
            <a:off x="3061810" y="2826526"/>
            <a:ext cx="11216638" cy="3168700"/>
          </a:xfrm>
          <a:prstGeom prst="rect">
            <a:avLst/>
          </a:prstGeom>
        </p:spPr>
      </p:pic>
      <p:cxnSp>
        <p:nvCxnSpPr>
          <p:cNvPr id="9" name="直線矢印コネクタ 8">
            <a:extLst>
              <a:ext uri="{FF2B5EF4-FFF2-40B4-BE49-F238E27FC236}">
                <a16:creationId xmlns:a16="http://schemas.microsoft.com/office/drawing/2014/main" id="{AC972261-5120-2C02-2CEA-80C41DCF5599}"/>
              </a:ext>
            </a:extLst>
          </p:cNvPr>
          <p:cNvCxnSpPr/>
          <p:nvPr/>
        </p:nvCxnSpPr>
        <p:spPr>
          <a:xfrm>
            <a:off x="8345510" y="5692462"/>
            <a:ext cx="721217" cy="1365161"/>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 name="テキスト ボックス 9">
            <a:extLst>
              <a:ext uri="{FF2B5EF4-FFF2-40B4-BE49-F238E27FC236}">
                <a16:creationId xmlns:a16="http://schemas.microsoft.com/office/drawing/2014/main" id="{5EF76D8B-DF2E-89E6-2B4A-A59FA30856C4}"/>
              </a:ext>
            </a:extLst>
          </p:cNvPr>
          <p:cNvSpPr txBox="1"/>
          <p:nvPr/>
        </p:nvSpPr>
        <p:spPr>
          <a:xfrm>
            <a:off x="8451175" y="7057623"/>
            <a:ext cx="165590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ja-JP"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PC</a:t>
            </a:r>
            <a:r>
              <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の生産量</a:t>
            </a:r>
          </a:p>
        </p:txBody>
      </p:sp>
      <p:cxnSp>
        <p:nvCxnSpPr>
          <p:cNvPr id="11" name="直線矢印コネクタ 10">
            <a:extLst>
              <a:ext uri="{FF2B5EF4-FFF2-40B4-BE49-F238E27FC236}">
                <a16:creationId xmlns:a16="http://schemas.microsoft.com/office/drawing/2014/main" id="{93F423A8-B42F-5D33-8576-D22CB16AEC0B}"/>
              </a:ext>
            </a:extLst>
          </p:cNvPr>
          <p:cNvCxnSpPr>
            <a:cxnSpLocks/>
          </p:cNvCxnSpPr>
          <p:nvPr/>
        </p:nvCxnSpPr>
        <p:spPr>
          <a:xfrm>
            <a:off x="7024769" y="5674656"/>
            <a:ext cx="0" cy="161892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3" name="テキスト ボックス 12">
            <a:extLst>
              <a:ext uri="{FF2B5EF4-FFF2-40B4-BE49-F238E27FC236}">
                <a16:creationId xmlns:a16="http://schemas.microsoft.com/office/drawing/2014/main" id="{A0D4F7E1-E9F3-A4AD-533C-8E84CA3BEC0D}"/>
              </a:ext>
            </a:extLst>
          </p:cNvPr>
          <p:cNvSpPr txBox="1"/>
          <p:nvPr/>
        </p:nvSpPr>
        <p:spPr>
          <a:xfrm>
            <a:off x="6050143" y="7293585"/>
            <a:ext cx="194925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衣服の生産量</a:t>
            </a:r>
          </a:p>
        </p:txBody>
      </p:sp>
      <p:cxnSp>
        <p:nvCxnSpPr>
          <p:cNvPr id="14" name="直線矢印コネクタ 13">
            <a:extLst>
              <a:ext uri="{FF2B5EF4-FFF2-40B4-BE49-F238E27FC236}">
                <a16:creationId xmlns:a16="http://schemas.microsoft.com/office/drawing/2014/main" id="{CD1D1025-238E-3E1B-CCC0-4E98DFFAC85F}"/>
              </a:ext>
            </a:extLst>
          </p:cNvPr>
          <p:cNvCxnSpPr>
            <a:cxnSpLocks/>
          </p:cNvCxnSpPr>
          <p:nvPr/>
        </p:nvCxnSpPr>
        <p:spPr>
          <a:xfrm>
            <a:off x="9569783" y="5474855"/>
            <a:ext cx="1840899" cy="1818730"/>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6" name="テキスト ボックス 15">
            <a:extLst>
              <a:ext uri="{FF2B5EF4-FFF2-40B4-BE49-F238E27FC236}">
                <a16:creationId xmlns:a16="http://schemas.microsoft.com/office/drawing/2014/main" id="{0C6D333A-69A7-F5CA-BB76-6A537DD67534}"/>
              </a:ext>
            </a:extLst>
          </p:cNvPr>
          <p:cNvSpPr txBox="1"/>
          <p:nvPr/>
        </p:nvSpPr>
        <p:spPr>
          <a:xfrm>
            <a:off x="11079035" y="7108919"/>
            <a:ext cx="25648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ja-JP" altLang="en-US" dirty="0"/>
              <a:t>アメリカの</a:t>
            </a:r>
            <a:endParaRPr lang="en-US" altLang="ja-JP" dirty="0"/>
          </a:p>
          <a:p>
            <a:pPr marL="0" marR="0" indent="0" algn="ctr" defTabSz="584200" rtl="0" fontAlgn="auto" latinLnBrk="0" hangingPunct="0">
              <a:lnSpc>
                <a:spcPct val="100000"/>
              </a:lnSpc>
              <a:spcBef>
                <a:spcPts val="0"/>
              </a:spcBef>
              <a:spcAft>
                <a:spcPts val="0"/>
              </a:spcAft>
              <a:buClrTx/>
              <a:buSzTx/>
              <a:buFontTx/>
              <a:buNone/>
              <a:tabLst/>
            </a:pPr>
            <a:r>
              <a:rPr lang="ja-JP" altLang="en-US" dirty="0"/>
              <a:t>大卒労働者数合計</a:t>
            </a:r>
            <a:endPar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endParaRPr>
          </a:p>
        </p:txBody>
      </p:sp>
    </p:spTree>
    <p:extLst>
      <p:ext uri="{BB962C8B-B14F-4D97-AF65-F5344CB8AC3E}">
        <p14:creationId xmlns:p14="http://schemas.microsoft.com/office/powerpoint/2010/main" val="131792009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B895F0-6571-542E-A42A-7A701FB10E93}"/>
              </a:ext>
            </a:extLst>
          </p:cNvPr>
          <p:cNvSpPr>
            <a:spLocks noGrp="1"/>
          </p:cNvSpPr>
          <p:nvPr>
            <p:ph type="title"/>
          </p:nvPr>
        </p:nvSpPr>
        <p:spPr/>
        <p:txBody>
          <a:bodyPr vert="horz" lIns="91440" tIns="45720" rIns="91440" bIns="45720" rtlCol="0" anchor="b">
            <a:normAutofit/>
          </a:bodyPr>
          <a:lstStyle/>
          <a:p>
            <a:pPr algn="l" defTabSz="914400">
              <a:lnSpc>
                <a:spcPct val="90000"/>
              </a:lnSpc>
              <a:spcBef>
                <a:spcPct val="0"/>
              </a:spcBef>
            </a:pPr>
            <a:r>
              <a:rPr lang="zh-CN" altLang="en-US" sz="6700" kern="1200" dirty="0">
                <a:solidFill>
                  <a:schemeClr val="tx1"/>
                </a:solidFill>
                <a:cs typeface="+mj-cs"/>
              </a:rPr>
              <a:t>高卒</a:t>
            </a:r>
            <a:r>
              <a:rPr lang="ja-JP" altLang="en-US" sz="6700" kern="1200" dirty="0">
                <a:solidFill>
                  <a:schemeClr val="tx1"/>
                </a:solidFill>
                <a:cs typeface="+mj-cs"/>
              </a:rPr>
              <a:t>労働者の</a:t>
            </a:r>
            <a:r>
              <a:rPr lang="zh-CN" altLang="en-US" sz="6700" kern="1200" dirty="0">
                <a:solidFill>
                  <a:schemeClr val="tx1"/>
                </a:solidFill>
                <a:cs typeface="+mj-cs"/>
              </a:rPr>
              <a:t>完全雇用条件</a:t>
            </a:r>
            <a:endParaRPr kumimoji="1" lang="en-US" altLang="ja-JP" sz="6700" kern="1200" dirty="0">
              <a:solidFill>
                <a:schemeClr val="tx1"/>
              </a:solidFill>
              <a:cs typeface="+mj-cs"/>
            </a:endParaRPr>
          </a:p>
        </p:txBody>
      </p:sp>
      <p:sp>
        <p:nvSpPr>
          <p:cNvPr id="3" name="スライド番号プレースホルダー 2">
            <a:extLst>
              <a:ext uri="{FF2B5EF4-FFF2-40B4-BE49-F238E27FC236}">
                <a16:creationId xmlns:a16="http://schemas.microsoft.com/office/drawing/2014/main" id="{A6D8CB12-0F3B-BD80-77DC-AB3874A9B07F}"/>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16</a:t>
            </a:fld>
            <a:endParaRPr lang="en-US" altLang="ja-JP" sz="1200" kern="1200">
              <a:solidFill>
                <a:schemeClr val="tx1">
                  <a:tint val="75000"/>
                </a:schemeClr>
              </a:solidFill>
              <a:latin typeface="+mn-lt"/>
              <a:ea typeface="+mn-ea"/>
              <a:cs typeface="+mn-cs"/>
            </a:endParaRPr>
          </a:p>
        </p:txBody>
      </p:sp>
      <p:pic>
        <p:nvPicPr>
          <p:cNvPr id="5" name="図 4" descr="グラフ&#10;&#10;自動的に生成された説明">
            <a:extLst>
              <a:ext uri="{FF2B5EF4-FFF2-40B4-BE49-F238E27FC236}">
                <a16:creationId xmlns:a16="http://schemas.microsoft.com/office/drawing/2014/main" id="{543A10DC-240F-ED4C-ED84-52F011EDAD1A}"/>
              </a:ext>
            </a:extLst>
          </p:cNvPr>
          <p:cNvPicPr>
            <a:picLocks noChangeAspect="1"/>
          </p:cNvPicPr>
          <p:nvPr/>
        </p:nvPicPr>
        <p:blipFill>
          <a:blip r:embed="rId2"/>
          <a:stretch>
            <a:fillRect/>
          </a:stretch>
        </p:blipFill>
        <p:spPr>
          <a:xfrm>
            <a:off x="3061810" y="3750419"/>
            <a:ext cx="11216638" cy="4037988"/>
          </a:xfrm>
          <a:prstGeom prst="rect">
            <a:avLst/>
          </a:prstGeom>
        </p:spPr>
      </p:pic>
      <p:cxnSp>
        <p:nvCxnSpPr>
          <p:cNvPr id="7" name="直線矢印コネクタ 6">
            <a:extLst>
              <a:ext uri="{FF2B5EF4-FFF2-40B4-BE49-F238E27FC236}">
                <a16:creationId xmlns:a16="http://schemas.microsoft.com/office/drawing/2014/main" id="{DE842571-2EC9-6646-1CF8-F5EDF54AFB2E}"/>
              </a:ext>
            </a:extLst>
          </p:cNvPr>
          <p:cNvCxnSpPr>
            <a:cxnSpLocks/>
          </p:cNvCxnSpPr>
          <p:nvPr/>
        </p:nvCxnSpPr>
        <p:spPr>
          <a:xfrm>
            <a:off x="8422783" y="7481140"/>
            <a:ext cx="364797" cy="1418161"/>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8" name="テキスト ボックス 7">
            <a:extLst>
              <a:ext uri="{FF2B5EF4-FFF2-40B4-BE49-F238E27FC236}">
                <a16:creationId xmlns:a16="http://schemas.microsoft.com/office/drawing/2014/main" id="{97503210-3162-D2E0-DCC4-8886DF8703C2}"/>
              </a:ext>
            </a:extLst>
          </p:cNvPr>
          <p:cNvSpPr txBox="1"/>
          <p:nvPr/>
        </p:nvSpPr>
        <p:spPr>
          <a:xfrm>
            <a:off x="8154884" y="8916541"/>
            <a:ext cx="165590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altLang="ja-JP"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PC</a:t>
            </a:r>
            <a:r>
              <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の生産量</a:t>
            </a:r>
          </a:p>
        </p:txBody>
      </p:sp>
      <p:cxnSp>
        <p:nvCxnSpPr>
          <p:cNvPr id="9" name="直線矢印コネクタ 8">
            <a:extLst>
              <a:ext uri="{FF2B5EF4-FFF2-40B4-BE49-F238E27FC236}">
                <a16:creationId xmlns:a16="http://schemas.microsoft.com/office/drawing/2014/main" id="{A7828B03-E833-6B21-0378-E2462D2AC85E}"/>
              </a:ext>
            </a:extLst>
          </p:cNvPr>
          <p:cNvCxnSpPr>
            <a:cxnSpLocks/>
          </p:cNvCxnSpPr>
          <p:nvPr/>
        </p:nvCxnSpPr>
        <p:spPr>
          <a:xfrm>
            <a:off x="6908859" y="7481140"/>
            <a:ext cx="0" cy="1618929"/>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0" name="テキスト ボックス 9">
            <a:extLst>
              <a:ext uri="{FF2B5EF4-FFF2-40B4-BE49-F238E27FC236}">
                <a16:creationId xmlns:a16="http://schemas.microsoft.com/office/drawing/2014/main" id="{3BB2DF05-CA0C-C09E-F154-27AEB170B180}"/>
              </a:ext>
            </a:extLst>
          </p:cNvPr>
          <p:cNvSpPr txBox="1"/>
          <p:nvPr/>
        </p:nvSpPr>
        <p:spPr>
          <a:xfrm>
            <a:off x="5509991" y="9094774"/>
            <a:ext cx="194925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rPr>
              <a:t>衣服の生産量</a:t>
            </a:r>
          </a:p>
        </p:txBody>
      </p:sp>
      <p:cxnSp>
        <p:nvCxnSpPr>
          <p:cNvPr id="11" name="直線矢印コネクタ 10">
            <a:extLst>
              <a:ext uri="{FF2B5EF4-FFF2-40B4-BE49-F238E27FC236}">
                <a16:creationId xmlns:a16="http://schemas.microsoft.com/office/drawing/2014/main" id="{24ABC4B5-E6DC-ED04-8D3E-9A6107BBFF57}"/>
              </a:ext>
            </a:extLst>
          </p:cNvPr>
          <p:cNvCxnSpPr>
            <a:cxnSpLocks/>
          </p:cNvCxnSpPr>
          <p:nvPr/>
        </p:nvCxnSpPr>
        <p:spPr>
          <a:xfrm>
            <a:off x="9810787" y="5288072"/>
            <a:ext cx="1302816" cy="962682"/>
          </a:xfrm>
          <a:prstGeom prst="straightConnector1">
            <a:avLst/>
          </a:prstGeom>
          <a:noFill/>
          <a:ln w="381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2" name="テキスト ボックス 11">
            <a:extLst>
              <a:ext uri="{FF2B5EF4-FFF2-40B4-BE49-F238E27FC236}">
                <a16:creationId xmlns:a16="http://schemas.microsoft.com/office/drawing/2014/main" id="{2487FE7D-4361-8235-0456-CABFF66FFA1F}"/>
              </a:ext>
            </a:extLst>
          </p:cNvPr>
          <p:cNvSpPr txBox="1"/>
          <p:nvPr/>
        </p:nvSpPr>
        <p:spPr>
          <a:xfrm>
            <a:off x="11300084" y="5769413"/>
            <a:ext cx="2564805"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ja-JP" altLang="en-US" dirty="0"/>
              <a:t>アメリカの</a:t>
            </a:r>
            <a:endParaRPr lang="en-US" altLang="ja-JP" dirty="0"/>
          </a:p>
          <a:p>
            <a:pPr marL="0" marR="0" indent="0" algn="ctr" defTabSz="584200" rtl="0" fontAlgn="auto" latinLnBrk="0" hangingPunct="0">
              <a:lnSpc>
                <a:spcPct val="100000"/>
              </a:lnSpc>
              <a:spcBef>
                <a:spcPts val="0"/>
              </a:spcBef>
              <a:spcAft>
                <a:spcPts val="0"/>
              </a:spcAft>
              <a:buClrTx/>
              <a:buSzTx/>
              <a:buFontTx/>
              <a:buNone/>
              <a:tabLst/>
            </a:pPr>
            <a:r>
              <a:rPr lang="ja-JP" altLang="en-US" dirty="0"/>
              <a:t>高卒労働者数合計</a:t>
            </a:r>
            <a:endParaRPr kumimoji="0" lang="ja-JP" altLang="en-US" sz="2400" b="0" i="0" u="none" strike="noStrike" cap="none" spc="0" normalizeH="0" baseline="0" dirty="0">
              <a:ln>
                <a:noFill/>
              </a:ln>
              <a:solidFill>
                <a:srgbClr val="000000"/>
              </a:solidFill>
              <a:effectLst/>
              <a:uFillTx/>
              <a:latin typeface="ヒラギノ角ゴ ProN W6"/>
              <a:ea typeface="ヒラギノ角ゴ ProN W6"/>
              <a:cs typeface="ヒラギノ角ゴ ProN W6"/>
              <a:sym typeface="ヒラギノ角ゴ ProN W6"/>
            </a:endParaRPr>
          </a:p>
        </p:txBody>
      </p:sp>
    </p:spTree>
    <p:extLst>
      <p:ext uri="{BB962C8B-B14F-4D97-AF65-F5344CB8AC3E}">
        <p14:creationId xmlns:p14="http://schemas.microsoft.com/office/powerpoint/2010/main" val="306019981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AC07F0-E1DD-0BD7-7175-E2B20FA17164}"/>
              </a:ext>
            </a:extLst>
          </p:cNvPr>
          <p:cNvSpPr>
            <a:spLocks noGrp="1"/>
          </p:cNvSpPr>
          <p:nvPr>
            <p:ph type="title"/>
          </p:nvPr>
        </p:nvSpPr>
        <p:spPr/>
        <p:txBody>
          <a:bodyPr vert="horz" lIns="91440" tIns="45720" rIns="91440" bIns="45720" rtlCol="0" anchor="b">
            <a:normAutofit/>
          </a:bodyPr>
          <a:lstStyle/>
          <a:p>
            <a:pPr defTabSz="914400">
              <a:lnSpc>
                <a:spcPct val="90000"/>
              </a:lnSpc>
              <a:spcBef>
                <a:spcPct val="0"/>
              </a:spcBef>
            </a:pPr>
            <a:r>
              <a:rPr lang="ja-JP" altLang="en-US" sz="5200" kern="1200" dirty="0">
                <a:solidFill>
                  <a:schemeClr val="tx1"/>
                </a:solidFill>
                <a:cs typeface="+mj-cs"/>
              </a:rPr>
              <a:t>アメリカの生産可能性フロンティア</a:t>
            </a:r>
            <a:endParaRPr kumimoji="1" lang="en-US" altLang="ja-JP" sz="5200" kern="1200" dirty="0">
              <a:solidFill>
                <a:schemeClr val="tx1"/>
              </a:solidFill>
              <a:cs typeface="+mj-cs"/>
            </a:endParaRPr>
          </a:p>
        </p:txBody>
      </p:sp>
      <p:sp>
        <p:nvSpPr>
          <p:cNvPr id="3" name="スライド番号プレースホルダー 2">
            <a:extLst>
              <a:ext uri="{FF2B5EF4-FFF2-40B4-BE49-F238E27FC236}">
                <a16:creationId xmlns:a16="http://schemas.microsoft.com/office/drawing/2014/main" id="{FA2055FC-7B82-D82D-985A-9562A0175BCE}"/>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17</a:t>
            </a:fld>
            <a:endParaRPr lang="en-US" altLang="ja-JP" sz="1200" kern="1200">
              <a:solidFill>
                <a:schemeClr val="tx1">
                  <a:tint val="75000"/>
                </a:schemeClr>
              </a:solidFill>
              <a:latin typeface="+mn-lt"/>
              <a:ea typeface="+mn-ea"/>
              <a:cs typeface="+mn-cs"/>
            </a:endParaRPr>
          </a:p>
        </p:txBody>
      </p:sp>
      <p:pic>
        <p:nvPicPr>
          <p:cNvPr id="5" name="図 4" descr="ダイアグラム&#10;&#10;自動的に生成された説明">
            <a:extLst>
              <a:ext uri="{FF2B5EF4-FFF2-40B4-BE49-F238E27FC236}">
                <a16:creationId xmlns:a16="http://schemas.microsoft.com/office/drawing/2014/main" id="{CA5429AE-3382-A19A-4AC7-FC0C93AB8059}"/>
              </a:ext>
            </a:extLst>
          </p:cNvPr>
          <p:cNvPicPr>
            <a:picLocks noChangeAspect="1"/>
          </p:cNvPicPr>
          <p:nvPr/>
        </p:nvPicPr>
        <p:blipFill>
          <a:blip r:embed="rId2"/>
          <a:stretch>
            <a:fillRect/>
          </a:stretch>
        </p:blipFill>
        <p:spPr>
          <a:xfrm>
            <a:off x="4344289" y="2650740"/>
            <a:ext cx="8651683" cy="6315727"/>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インク 5">
                <a:extLst>
                  <a:ext uri="{FF2B5EF4-FFF2-40B4-BE49-F238E27FC236}">
                    <a16:creationId xmlns:a16="http://schemas.microsoft.com/office/drawing/2014/main" id="{BE284DD7-3709-4D4C-4587-23FD872CBF4C}"/>
                  </a:ext>
                </a:extLst>
              </p14:cNvPr>
              <p14:cNvContentPartPr/>
              <p14:nvPr/>
            </p14:nvContentPartPr>
            <p14:xfrm>
              <a:off x="6413446" y="3889055"/>
              <a:ext cx="2137320" cy="4561560"/>
            </p14:xfrm>
          </p:contentPart>
        </mc:Choice>
        <mc:Fallback xmlns="">
          <p:pic>
            <p:nvPicPr>
              <p:cNvPr id="6" name="インク 5">
                <a:extLst>
                  <a:ext uri="{FF2B5EF4-FFF2-40B4-BE49-F238E27FC236}">
                    <a16:creationId xmlns:a16="http://schemas.microsoft.com/office/drawing/2014/main" id="{BE284DD7-3709-4D4C-4587-23FD872CBF4C}"/>
                  </a:ext>
                </a:extLst>
              </p:cNvPr>
              <p:cNvPicPr/>
              <p:nvPr/>
            </p:nvPicPr>
            <p:blipFill>
              <a:blip r:embed="rId6"/>
              <a:stretch>
                <a:fillRect/>
              </a:stretch>
            </p:blipFill>
            <p:spPr>
              <a:xfrm>
                <a:off x="6359446" y="3781055"/>
                <a:ext cx="2244960" cy="4777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インク 8">
                <a:extLst>
                  <a:ext uri="{FF2B5EF4-FFF2-40B4-BE49-F238E27FC236}">
                    <a16:creationId xmlns:a16="http://schemas.microsoft.com/office/drawing/2014/main" id="{4F9E95E8-C597-CCBE-D221-A485CBD996ED}"/>
                  </a:ext>
                </a:extLst>
              </p14:cNvPr>
              <p14:cNvContentPartPr/>
              <p14:nvPr/>
            </p14:nvContentPartPr>
            <p14:xfrm>
              <a:off x="6413446" y="6194495"/>
              <a:ext cx="3536640" cy="2362320"/>
            </p14:xfrm>
          </p:contentPart>
        </mc:Choice>
        <mc:Fallback xmlns="">
          <p:pic>
            <p:nvPicPr>
              <p:cNvPr id="9" name="インク 8">
                <a:extLst>
                  <a:ext uri="{FF2B5EF4-FFF2-40B4-BE49-F238E27FC236}">
                    <a16:creationId xmlns:a16="http://schemas.microsoft.com/office/drawing/2014/main" id="{4F9E95E8-C597-CCBE-D221-A485CBD996ED}"/>
                  </a:ext>
                </a:extLst>
              </p:cNvPr>
              <p:cNvPicPr/>
              <p:nvPr/>
            </p:nvPicPr>
            <p:blipFill>
              <a:blip r:embed="rId10"/>
              <a:stretch>
                <a:fillRect/>
              </a:stretch>
            </p:blipFill>
            <p:spPr>
              <a:xfrm>
                <a:off x="6359446" y="6086495"/>
                <a:ext cx="3644280" cy="2577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9023D00B-333B-127E-3CDF-57E69FCB09E2}"/>
                  </a:ext>
                </a:extLst>
              </p14:cNvPr>
              <p14:cNvContentPartPr/>
              <p14:nvPr/>
            </p14:nvContentPartPr>
            <p14:xfrm>
              <a:off x="6972120" y="4281360"/>
              <a:ext cx="1542960" cy="62280"/>
            </p14:xfrm>
          </p:contentPart>
        </mc:Choice>
        <mc:Fallback xmlns="">
          <p:pic>
            <p:nvPicPr>
              <p:cNvPr id="8" name="Ink 7">
                <a:extLst>
                  <a:ext uri="{FF2B5EF4-FFF2-40B4-BE49-F238E27FC236}">
                    <a16:creationId xmlns:a16="http://schemas.microsoft.com/office/drawing/2014/main" id="{9023D00B-333B-127E-3CDF-57E69FCB09E2}"/>
                  </a:ext>
                </a:extLst>
              </p:cNvPr>
              <p:cNvPicPr/>
              <p:nvPr/>
            </p:nvPicPr>
            <p:blipFill>
              <a:blip r:embed="rId12"/>
              <a:stretch>
                <a:fillRect/>
              </a:stretch>
            </p:blipFill>
            <p:spPr>
              <a:xfrm>
                <a:off x="6900120" y="4137360"/>
                <a:ext cx="168660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15F26DF4-643D-BC5E-FCFE-FD20DE0438A1}"/>
                  </a:ext>
                </a:extLst>
              </p14:cNvPr>
              <p14:cNvContentPartPr/>
              <p14:nvPr/>
            </p14:nvContentPartPr>
            <p14:xfrm>
              <a:off x="9126000" y="7452600"/>
              <a:ext cx="1579680" cy="93960"/>
            </p14:xfrm>
          </p:contentPart>
        </mc:Choice>
        <mc:Fallback xmlns="">
          <p:pic>
            <p:nvPicPr>
              <p:cNvPr id="10" name="Ink 9">
                <a:extLst>
                  <a:ext uri="{FF2B5EF4-FFF2-40B4-BE49-F238E27FC236}">
                    <a16:creationId xmlns:a16="http://schemas.microsoft.com/office/drawing/2014/main" id="{15F26DF4-643D-BC5E-FCFE-FD20DE0438A1}"/>
                  </a:ext>
                </a:extLst>
              </p:cNvPr>
              <p:cNvPicPr/>
              <p:nvPr/>
            </p:nvPicPr>
            <p:blipFill>
              <a:blip r:embed="rId14"/>
              <a:stretch>
                <a:fillRect/>
              </a:stretch>
            </p:blipFill>
            <p:spPr>
              <a:xfrm>
                <a:off x="9054360" y="7308960"/>
                <a:ext cx="1723320" cy="381600"/>
              </a:xfrm>
              <a:prstGeom prst="rect">
                <a:avLst/>
              </a:prstGeom>
            </p:spPr>
          </p:pic>
        </mc:Fallback>
      </mc:AlternateContent>
    </p:spTree>
    <p:extLst>
      <p:ext uri="{BB962C8B-B14F-4D97-AF65-F5344CB8AC3E}">
        <p14:creationId xmlns:p14="http://schemas.microsoft.com/office/powerpoint/2010/main" val="16485115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30169-3AD7-D369-D94F-BCBFDFC1A888}"/>
              </a:ext>
            </a:extLst>
          </p:cNvPr>
          <p:cNvSpPr>
            <a:spLocks noGrp="1"/>
          </p:cNvSpPr>
          <p:nvPr>
            <p:ph type="sldNum" sz="quarter" idx="2"/>
          </p:nvPr>
        </p:nvSpPr>
        <p:spPr/>
        <p:txBody>
          <a:bodyPr/>
          <a:lstStyle/>
          <a:p>
            <a:fld id="{86CB4B4D-7CA3-9044-876B-883B54F8677D}" type="slidenum">
              <a:rPr lang="en-JP" smtClean="0"/>
              <a:t>18</a:t>
            </a:fld>
            <a:endParaRPr lang="en-JP"/>
          </a:p>
        </p:txBody>
      </p:sp>
      <p:graphicFrame>
        <p:nvGraphicFramePr>
          <p:cNvPr id="3" name="Table 2">
            <a:extLst>
              <a:ext uri="{FF2B5EF4-FFF2-40B4-BE49-F238E27FC236}">
                <a16:creationId xmlns:a16="http://schemas.microsoft.com/office/drawing/2014/main" id="{83572E9C-8B4A-D52B-0244-CD65770CC83C}"/>
              </a:ext>
            </a:extLst>
          </p:cNvPr>
          <p:cNvGraphicFramePr>
            <a:graphicFrameLocks noGrp="1"/>
          </p:cNvGraphicFramePr>
          <p:nvPr>
            <p:extLst>
              <p:ext uri="{D42A27DB-BD31-4B8C-83A1-F6EECF244321}">
                <p14:modId xmlns:p14="http://schemas.microsoft.com/office/powerpoint/2010/main" val="2654280578"/>
              </p:ext>
            </p:extLst>
          </p:nvPr>
        </p:nvGraphicFramePr>
        <p:xfrm>
          <a:off x="721273" y="5996851"/>
          <a:ext cx="14555898" cy="2552514"/>
        </p:xfrm>
        <a:graphic>
          <a:graphicData uri="http://schemas.openxmlformats.org/drawingml/2006/table">
            <a:tbl>
              <a:tblPr firstRow="1" bandRow="1">
                <a:tableStyleId>{5940675A-B579-460E-94D1-54222C63F5DA}</a:tableStyleId>
              </a:tblPr>
              <a:tblGrid>
                <a:gridCol w="7316978">
                  <a:extLst>
                    <a:ext uri="{9D8B030D-6E8A-4147-A177-3AD203B41FA5}">
                      <a16:colId xmlns:a16="http://schemas.microsoft.com/office/drawing/2014/main" val="4156785848"/>
                    </a:ext>
                  </a:extLst>
                </a:gridCol>
                <a:gridCol w="7238920">
                  <a:extLst>
                    <a:ext uri="{9D8B030D-6E8A-4147-A177-3AD203B41FA5}">
                      <a16:colId xmlns:a16="http://schemas.microsoft.com/office/drawing/2014/main" val="2853485595"/>
                    </a:ext>
                  </a:extLst>
                </a:gridCol>
              </a:tblGrid>
              <a:tr h="618610">
                <a:tc>
                  <a:txBody>
                    <a:bodyPr/>
                    <a:lstStyle/>
                    <a:p>
                      <a:r>
                        <a:rPr lang="en-JP" sz="3600" dirty="0"/>
                        <a:t>PCの生産に必要な大卒労働者数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a:t>
                      </a:r>
                    </a:p>
                  </a:txBody>
                  <a:tcPr/>
                </a:tc>
                <a:extLst>
                  <a:ext uri="{0D108BD9-81ED-4DB2-BD59-A6C34878D82A}">
                    <a16:rowId xmlns:a16="http://schemas.microsoft.com/office/drawing/2014/main" val="2581464226"/>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衣服の生産に必要な大卒労働者数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y</a:t>
                      </a:r>
                    </a:p>
                  </a:txBody>
                  <a:tcPr/>
                </a:tc>
                <a:extLst>
                  <a:ext uri="{0D108BD9-81ED-4DB2-BD59-A6C34878D82A}">
                    <a16:rowId xmlns:a16="http://schemas.microsoft.com/office/drawing/2014/main" val="3433603818"/>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メキシコの</a:t>
                      </a:r>
                      <a:r>
                        <a:rPr lang="ja-JP" altLang="en-US" sz="3600" dirty="0">
                          <a:solidFill>
                            <a:srgbClr val="FF0000"/>
                          </a:solidFill>
                        </a:rPr>
                        <a:t>大</a:t>
                      </a:r>
                      <a:r>
                        <a:rPr lang="ja-JP" altLang="en-US" sz="3600" dirty="0"/>
                        <a:t>卒</a:t>
                      </a:r>
                      <a:r>
                        <a:rPr lang="en-JP" sz="3600" dirty="0"/>
                        <a:t>労働者合計</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2x+y=600</a:t>
                      </a:r>
                    </a:p>
                  </a:txBody>
                  <a:tcPr/>
                </a:tc>
                <a:extLst>
                  <a:ext uri="{0D108BD9-81ED-4DB2-BD59-A6C34878D82A}">
                    <a16:rowId xmlns:a16="http://schemas.microsoft.com/office/drawing/2014/main" val="749597862"/>
                  </a:ext>
                </a:extLst>
              </a:tr>
            </a:tbl>
          </a:graphicData>
        </a:graphic>
      </p:graphicFrame>
      <p:pic>
        <p:nvPicPr>
          <p:cNvPr id="6" name="図 3" descr="テーブル&#10;&#10;自動的に生成された説明">
            <a:extLst>
              <a:ext uri="{FF2B5EF4-FFF2-40B4-BE49-F238E27FC236}">
                <a16:creationId xmlns:a16="http://schemas.microsoft.com/office/drawing/2014/main" id="{487E8571-13D8-844D-7CD7-1C70159B73C5}"/>
              </a:ext>
            </a:extLst>
          </p:cNvPr>
          <p:cNvPicPr>
            <a:picLocks noChangeAspect="1"/>
          </p:cNvPicPr>
          <p:nvPr/>
        </p:nvPicPr>
        <p:blipFill>
          <a:blip r:embed="rId2"/>
          <a:stretch>
            <a:fillRect/>
          </a:stretch>
        </p:blipFill>
        <p:spPr>
          <a:xfrm>
            <a:off x="161566" y="1204235"/>
            <a:ext cx="8844862" cy="2963029"/>
          </a:xfrm>
          <a:prstGeom prst="rect">
            <a:avLst/>
          </a:prstGeom>
        </p:spPr>
      </p:pic>
      <p:pic>
        <p:nvPicPr>
          <p:cNvPr id="4" name="図 3">
            <a:extLst>
              <a:ext uri="{FF2B5EF4-FFF2-40B4-BE49-F238E27FC236}">
                <a16:creationId xmlns:a16="http://schemas.microsoft.com/office/drawing/2014/main" id="{FF87D9FD-4AE1-AF69-5E95-A8B14E46CC83}"/>
              </a:ext>
            </a:extLst>
          </p:cNvPr>
          <p:cNvPicPr>
            <a:picLocks noChangeAspect="1"/>
          </p:cNvPicPr>
          <p:nvPr/>
        </p:nvPicPr>
        <p:blipFill>
          <a:blip r:embed="rId3"/>
          <a:stretch>
            <a:fillRect/>
          </a:stretch>
        </p:blipFill>
        <p:spPr>
          <a:xfrm>
            <a:off x="9009857" y="949634"/>
            <a:ext cx="8168840" cy="3410491"/>
          </a:xfrm>
          <a:prstGeom prst="rect">
            <a:avLst/>
          </a:prstGeom>
        </p:spPr>
      </p:pic>
    </p:spTree>
    <p:extLst>
      <p:ext uri="{BB962C8B-B14F-4D97-AF65-F5344CB8AC3E}">
        <p14:creationId xmlns:p14="http://schemas.microsoft.com/office/powerpoint/2010/main" val="203403976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030169-3AD7-D369-D94F-BCBFDFC1A888}"/>
              </a:ext>
            </a:extLst>
          </p:cNvPr>
          <p:cNvSpPr>
            <a:spLocks noGrp="1"/>
          </p:cNvSpPr>
          <p:nvPr>
            <p:ph type="sldNum" sz="quarter" idx="2"/>
          </p:nvPr>
        </p:nvSpPr>
        <p:spPr/>
        <p:txBody>
          <a:bodyPr/>
          <a:lstStyle/>
          <a:p>
            <a:fld id="{86CB4B4D-7CA3-9044-876B-883B54F8677D}" type="slidenum">
              <a:rPr lang="en-JP" smtClean="0"/>
              <a:t>19</a:t>
            </a:fld>
            <a:endParaRPr lang="en-JP"/>
          </a:p>
        </p:txBody>
      </p:sp>
      <p:graphicFrame>
        <p:nvGraphicFramePr>
          <p:cNvPr id="3" name="Table 2">
            <a:extLst>
              <a:ext uri="{FF2B5EF4-FFF2-40B4-BE49-F238E27FC236}">
                <a16:creationId xmlns:a16="http://schemas.microsoft.com/office/drawing/2014/main" id="{83572E9C-8B4A-D52B-0244-CD65770CC83C}"/>
              </a:ext>
            </a:extLst>
          </p:cNvPr>
          <p:cNvGraphicFramePr>
            <a:graphicFrameLocks noGrp="1"/>
          </p:cNvGraphicFramePr>
          <p:nvPr>
            <p:extLst>
              <p:ext uri="{D42A27DB-BD31-4B8C-83A1-F6EECF244321}">
                <p14:modId xmlns:p14="http://schemas.microsoft.com/office/powerpoint/2010/main" val="3013459932"/>
              </p:ext>
            </p:extLst>
          </p:nvPr>
        </p:nvGraphicFramePr>
        <p:xfrm>
          <a:off x="721273" y="5996851"/>
          <a:ext cx="14555898" cy="2552514"/>
        </p:xfrm>
        <a:graphic>
          <a:graphicData uri="http://schemas.openxmlformats.org/drawingml/2006/table">
            <a:tbl>
              <a:tblPr firstRow="1" bandRow="1">
                <a:tableStyleId>{5940675A-B579-460E-94D1-54222C63F5DA}</a:tableStyleId>
              </a:tblPr>
              <a:tblGrid>
                <a:gridCol w="7316978">
                  <a:extLst>
                    <a:ext uri="{9D8B030D-6E8A-4147-A177-3AD203B41FA5}">
                      <a16:colId xmlns:a16="http://schemas.microsoft.com/office/drawing/2014/main" val="4156785848"/>
                    </a:ext>
                  </a:extLst>
                </a:gridCol>
                <a:gridCol w="7238920">
                  <a:extLst>
                    <a:ext uri="{9D8B030D-6E8A-4147-A177-3AD203B41FA5}">
                      <a16:colId xmlns:a16="http://schemas.microsoft.com/office/drawing/2014/main" val="2853485595"/>
                    </a:ext>
                  </a:extLst>
                </a:gridCol>
              </a:tblGrid>
              <a:tr h="618610">
                <a:tc>
                  <a:txBody>
                    <a:bodyPr/>
                    <a:lstStyle/>
                    <a:p>
                      <a:r>
                        <a:rPr lang="en-JP" sz="3600" dirty="0"/>
                        <a:t>PCの生産に必要な高卒労働者数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2x</a:t>
                      </a:r>
                    </a:p>
                  </a:txBody>
                  <a:tcPr/>
                </a:tc>
                <a:extLst>
                  <a:ext uri="{0D108BD9-81ED-4DB2-BD59-A6C34878D82A}">
                    <a16:rowId xmlns:a16="http://schemas.microsoft.com/office/drawing/2014/main" val="2581464226"/>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衣服の生産に必要な高卒労働者数</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dirty="0"/>
                        <a:t>3y</a:t>
                      </a:r>
                    </a:p>
                  </a:txBody>
                  <a:tcPr/>
                </a:tc>
                <a:extLst>
                  <a:ext uri="{0D108BD9-81ED-4DB2-BD59-A6C34878D82A}">
                    <a16:rowId xmlns:a16="http://schemas.microsoft.com/office/drawing/2014/main" val="3433603818"/>
                  </a:ext>
                </a:extLst>
              </a:tr>
              <a:tr h="956217">
                <a:tc>
                  <a:txBody>
                    <a:bodyPr/>
                    <a:lstStyle/>
                    <a:p>
                      <a:pPr marL="0" marR="0" lvl="0" indent="0" algn="ctr" defTabSz="584200" rtl="0" eaLnBrk="1" fontAlgn="auto" latinLnBrk="0" hangingPunct="1">
                        <a:lnSpc>
                          <a:spcPct val="100000"/>
                        </a:lnSpc>
                        <a:spcBef>
                          <a:spcPts val="0"/>
                        </a:spcBef>
                        <a:spcAft>
                          <a:spcPts val="0"/>
                        </a:spcAft>
                        <a:buClrTx/>
                        <a:buSzTx/>
                        <a:buFontTx/>
                        <a:buNone/>
                        <a:tabLst/>
                        <a:defRPr/>
                      </a:pPr>
                      <a:r>
                        <a:rPr lang="en-JP" sz="3600" dirty="0"/>
                        <a:t>メキシコの高卒労働者合計</a:t>
                      </a:r>
                    </a:p>
                  </a:txBody>
                  <a:tcPr/>
                </a:tc>
                <a:tc>
                  <a:txBody>
                    <a:bodyPr/>
                    <a:lstStyle/>
                    <a:p>
                      <a:pPr marL="0" marR="0" indent="0" algn="ctr" defTabSz="584200" rtl="0" latinLnBrk="0">
                        <a:lnSpc>
                          <a:spcPct val="100000"/>
                        </a:lnSpc>
                        <a:spcBef>
                          <a:spcPts val="0"/>
                        </a:spcBef>
                        <a:spcAft>
                          <a:spcPts val="0"/>
                        </a:spcAft>
                        <a:buClrTx/>
                        <a:buSzTx/>
                        <a:buFontTx/>
                        <a:buNone/>
                        <a:tabLst/>
                      </a:pPr>
                      <a:r>
                        <a:rPr lang="en-JP" sz="3600"/>
                        <a:t>2x+3y=1200</a:t>
                      </a:r>
                      <a:endParaRPr lang="en-JP" sz="3600" dirty="0"/>
                    </a:p>
                  </a:txBody>
                  <a:tcPr/>
                </a:tc>
                <a:extLst>
                  <a:ext uri="{0D108BD9-81ED-4DB2-BD59-A6C34878D82A}">
                    <a16:rowId xmlns:a16="http://schemas.microsoft.com/office/drawing/2014/main" val="749597862"/>
                  </a:ext>
                </a:extLst>
              </a:tr>
            </a:tbl>
          </a:graphicData>
        </a:graphic>
      </p:graphicFrame>
      <p:pic>
        <p:nvPicPr>
          <p:cNvPr id="6" name="図 3" descr="テーブル&#10;&#10;自動的に生成された説明">
            <a:extLst>
              <a:ext uri="{FF2B5EF4-FFF2-40B4-BE49-F238E27FC236}">
                <a16:creationId xmlns:a16="http://schemas.microsoft.com/office/drawing/2014/main" id="{487E8571-13D8-844D-7CD7-1C70159B73C5}"/>
              </a:ext>
            </a:extLst>
          </p:cNvPr>
          <p:cNvPicPr>
            <a:picLocks noChangeAspect="1"/>
          </p:cNvPicPr>
          <p:nvPr/>
        </p:nvPicPr>
        <p:blipFill>
          <a:blip r:embed="rId2"/>
          <a:stretch>
            <a:fillRect/>
          </a:stretch>
        </p:blipFill>
        <p:spPr>
          <a:xfrm>
            <a:off x="161566" y="1204235"/>
            <a:ext cx="8844862" cy="2963029"/>
          </a:xfrm>
          <a:prstGeom prst="rect">
            <a:avLst/>
          </a:prstGeom>
        </p:spPr>
      </p:pic>
      <p:pic>
        <p:nvPicPr>
          <p:cNvPr id="4" name="図 3">
            <a:extLst>
              <a:ext uri="{FF2B5EF4-FFF2-40B4-BE49-F238E27FC236}">
                <a16:creationId xmlns:a16="http://schemas.microsoft.com/office/drawing/2014/main" id="{FF87D9FD-4AE1-AF69-5E95-A8B14E46CC83}"/>
              </a:ext>
            </a:extLst>
          </p:cNvPr>
          <p:cNvPicPr>
            <a:picLocks noChangeAspect="1"/>
          </p:cNvPicPr>
          <p:nvPr/>
        </p:nvPicPr>
        <p:blipFill>
          <a:blip r:embed="rId3"/>
          <a:stretch>
            <a:fillRect/>
          </a:stretch>
        </p:blipFill>
        <p:spPr>
          <a:xfrm>
            <a:off x="9009857" y="949634"/>
            <a:ext cx="8168840" cy="3410491"/>
          </a:xfrm>
          <a:prstGeom prst="rect">
            <a:avLst/>
          </a:prstGeom>
        </p:spPr>
      </p:pic>
    </p:spTree>
    <p:extLst>
      <p:ext uri="{BB962C8B-B14F-4D97-AF65-F5344CB8AC3E}">
        <p14:creationId xmlns:p14="http://schemas.microsoft.com/office/powerpoint/2010/main" val="133790305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82EF72-2D25-DCF4-54DE-16DB76A96A53}"/>
              </a:ext>
            </a:extLst>
          </p:cNvPr>
          <p:cNvSpPr>
            <a:spLocks noGrp="1"/>
          </p:cNvSpPr>
          <p:nvPr>
            <p:ph type="title"/>
          </p:nvPr>
        </p:nvSpPr>
        <p:spPr/>
        <p:txBody>
          <a:bodyPr vert="horz" lIns="91440" tIns="45720" rIns="91440" bIns="45720" rtlCol="0" anchor="b">
            <a:normAutofit/>
          </a:bodyPr>
          <a:lstStyle/>
          <a:p>
            <a:pPr defTabSz="914400">
              <a:lnSpc>
                <a:spcPct val="90000"/>
              </a:lnSpc>
              <a:spcBef>
                <a:spcPct val="0"/>
              </a:spcBef>
            </a:pPr>
            <a:r>
              <a:rPr kumimoji="1" lang="ja-JP" altLang="en-US" sz="5200" kern="1200" dirty="0">
                <a:solidFill>
                  <a:schemeClr val="tx1"/>
                </a:solidFill>
                <a:cs typeface="+mj-cs"/>
              </a:rPr>
              <a:t>メキシコの生産可能性フロンティア</a:t>
            </a:r>
          </a:p>
        </p:txBody>
      </p:sp>
      <p:sp>
        <p:nvSpPr>
          <p:cNvPr id="3" name="スライド番号プレースホルダー 2">
            <a:extLst>
              <a:ext uri="{FF2B5EF4-FFF2-40B4-BE49-F238E27FC236}">
                <a16:creationId xmlns:a16="http://schemas.microsoft.com/office/drawing/2014/main" id="{93581583-6F0D-87A5-11DD-0739269C1078}"/>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20</a:t>
            </a:fld>
            <a:endParaRPr lang="en-US" altLang="ja-JP" sz="1200" kern="1200">
              <a:solidFill>
                <a:schemeClr val="tx1">
                  <a:tint val="75000"/>
                </a:schemeClr>
              </a:solidFill>
              <a:latin typeface="+mn-lt"/>
              <a:ea typeface="+mn-ea"/>
              <a:cs typeface="+mn-cs"/>
            </a:endParaRPr>
          </a:p>
        </p:txBody>
      </p:sp>
      <p:pic>
        <p:nvPicPr>
          <p:cNvPr id="6" name="図 5">
            <a:extLst>
              <a:ext uri="{FF2B5EF4-FFF2-40B4-BE49-F238E27FC236}">
                <a16:creationId xmlns:a16="http://schemas.microsoft.com/office/drawing/2014/main" id="{088EE250-1991-8F8D-93CB-3DF0709079AF}"/>
              </a:ext>
            </a:extLst>
          </p:cNvPr>
          <p:cNvPicPr>
            <a:picLocks noChangeAspect="1"/>
          </p:cNvPicPr>
          <p:nvPr/>
        </p:nvPicPr>
        <p:blipFill>
          <a:blip r:embed="rId2"/>
          <a:stretch>
            <a:fillRect/>
          </a:stretch>
        </p:blipFill>
        <p:spPr>
          <a:xfrm>
            <a:off x="4710426" y="2650740"/>
            <a:ext cx="7919408" cy="631572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インク 4">
                <a:extLst>
                  <a:ext uri="{FF2B5EF4-FFF2-40B4-BE49-F238E27FC236}">
                    <a16:creationId xmlns:a16="http://schemas.microsoft.com/office/drawing/2014/main" id="{975D93E3-3524-C557-BCC8-7D6074327BD9}"/>
                  </a:ext>
                </a:extLst>
              </p14:cNvPr>
              <p14:cNvContentPartPr/>
              <p14:nvPr/>
            </p14:nvContentPartPr>
            <p14:xfrm>
              <a:off x="6464926" y="5808215"/>
              <a:ext cx="4418797" cy="2553120"/>
            </p14:xfrm>
          </p:contentPart>
        </mc:Choice>
        <mc:Fallback xmlns="">
          <p:pic>
            <p:nvPicPr>
              <p:cNvPr id="5" name="インク 4">
                <a:extLst>
                  <a:ext uri="{FF2B5EF4-FFF2-40B4-BE49-F238E27FC236}">
                    <a16:creationId xmlns:a16="http://schemas.microsoft.com/office/drawing/2014/main" id="{975D93E3-3524-C557-BCC8-7D6074327BD9}"/>
                  </a:ext>
                </a:extLst>
              </p:cNvPr>
              <p:cNvPicPr/>
              <p:nvPr/>
            </p:nvPicPr>
            <p:blipFill>
              <a:blip r:embed="rId4"/>
              <a:stretch>
                <a:fillRect/>
              </a:stretch>
            </p:blipFill>
            <p:spPr>
              <a:xfrm>
                <a:off x="6410928" y="5700215"/>
                <a:ext cx="4526432" cy="2768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インク 6">
                <a:extLst>
                  <a:ext uri="{FF2B5EF4-FFF2-40B4-BE49-F238E27FC236}">
                    <a16:creationId xmlns:a16="http://schemas.microsoft.com/office/drawing/2014/main" id="{5DF112C8-BC49-6522-67F5-CF9A6348DC48}"/>
                  </a:ext>
                </a:extLst>
              </p14:cNvPr>
              <p14:cNvContentPartPr/>
              <p14:nvPr/>
            </p14:nvContentPartPr>
            <p14:xfrm>
              <a:off x="9645886" y="7352975"/>
              <a:ext cx="1467360" cy="28080"/>
            </p14:xfrm>
          </p:contentPart>
        </mc:Choice>
        <mc:Fallback xmlns="">
          <p:pic>
            <p:nvPicPr>
              <p:cNvPr id="7" name="インク 6">
                <a:extLst>
                  <a:ext uri="{FF2B5EF4-FFF2-40B4-BE49-F238E27FC236}">
                    <a16:creationId xmlns:a16="http://schemas.microsoft.com/office/drawing/2014/main" id="{5DF112C8-BC49-6522-67F5-CF9A6348DC48}"/>
                  </a:ext>
                </a:extLst>
              </p:cNvPr>
              <p:cNvPicPr/>
              <p:nvPr/>
            </p:nvPicPr>
            <p:blipFill>
              <a:blip r:embed="rId6"/>
              <a:stretch>
                <a:fillRect/>
              </a:stretch>
            </p:blipFill>
            <p:spPr>
              <a:xfrm>
                <a:off x="9592246" y="7244975"/>
                <a:ext cx="15750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インク 7">
                <a:extLst>
                  <a:ext uri="{FF2B5EF4-FFF2-40B4-BE49-F238E27FC236}">
                    <a16:creationId xmlns:a16="http://schemas.microsoft.com/office/drawing/2014/main" id="{1B2610D0-31AE-7BA2-3ECA-E76B86FE94F8}"/>
                  </a:ext>
                </a:extLst>
              </p14:cNvPr>
              <p14:cNvContentPartPr/>
              <p14:nvPr/>
            </p14:nvContentPartPr>
            <p14:xfrm>
              <a:off x="6554926" y="4456055"/>
              <a:ext cx="2147400" cy="3905280"/>
            </p14:xfrm>
          </p:contentPart>
        </mc:Choice>
        <mc:Fallback xmlns="">
          <p:pic>
            <p:nvPicPr>
              <p:cNvPr id="8" name="インク 7">
                <a:extLst>
                  <a:ext uri="{FF2B5EF4-FFF2-40B4-BE49-F238E27FC236}">
                    <a16:creationId xmlns:a16="http://schemas.microsoft.com/office/drawing/2014/main" id="{1B2610D0-31AE-7BA2-3ECA-E76B86FE94F8}"/>
                  </a:ext>
                </a:extLst>
              </p:cNvPr>
              <p:cNvPicPr/>
              <p:nvPr/>
            </p:nvPicPr>
            <p:blipFill>
              <a:blip r:embed="rId8"/>
              <a:stretch>
                <a:fillRect/>
              </a:stretch>
            </p:blipFill>
            <p:spPr>
              <a:xfrm>
                <a:off x="6501286" y="4348415"/>
                <a:ext cx="2255040" cy="4120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インク 8">
                <a:extLst>
                  <a:ext uri="{FF2B5EF4-FFF2-40B4-BE49-F238E27FC236}">
                    <a16:creationId xmlns:a16="http://schemas.microsoft.com/office/drawing/2014/main" id="{40439D3B-06D6-E336-27CA-C256DBAC90BD}"/>
                  </a:ext>
                </a:extLst>
              </p14:cNvPr>
              <p14:cNvContentPartPr/>
              <p14:nvPr/>
            </p14:nvContentPartPr>
            <p14:xfrm>
              <a:off x="7057486" y="4945295"/>
              <a:ext cx="1416960" cy="39960"/>
            </p14:xfrm>
          </p:contentPart>
        </mc:Choice>
        <mc:Fallback xmlns="">
          <p:pic>
            <p:nvPicPr>
              <p:cNvPr id="9" name="インク 8">
                <a:extLst>
                  <a:ext uri="{FF2B5EF4-FFF2-40B4-BE49-F238E27FC236}">
                    <a16:creationId xmlns:a16="http://schemas.microsoft.com/office/drawing/2014/main" id="{40439D3B-06D6-E336-27CA-C256DBAC90BD}"/>
                  </a:ext>
                </a:extLst>
              </p:cNvPr>
              <p:cNvPicPr/>
              <p:nvPr/>
            </p:nvPicPr>
            <p:blipFill>
              <a:blip r:embed="rId10"/>
              <a:stretch>
                <a:fillRect/>
              </a:stretch>
            </p:blipFill>
            <p:spPr>
              <a:xfrm>
                <a:off x="7003486" y="4837655"/>
                <a:ext cx="1524600" cy="255600"/>
              </a:xfrm>
              <a:prstGeom prst="rect">
                <a:avLst/>
              </a:prstGeom>
            </p:spPr>
          </p:pic>
        </mc:Fallback>
      </mc:AlternateContent>
    </p:spTree>
    <p:extLst>
      <p:ext uri="{BB962C8B-B14F-4D97-AF65-F5344CB8AC3E}">
        <p14:creationId xmlns:p14="http://schemas.microsoft.com/office/powerpoint/2010/main" val="44465840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763A1E-A986-513C-2DF9-99C56961123F}"/>
              </a:ext>
            </a:extLst>
          </p:cNvPr>
          <p:cNvSpPr>
            <a:spLocks noGrp="1"/>
          </p:cNvSpPr>
          <p:nvPr>
            <p:ph type="title"/>
          </p:nvPr>
        </p:nvSpPr>
        <p:spPr/>
        <p:txBody>
          <a:bodyPr vert="horz" lIns="91440" tIns="45720" rIns="91440" bIns="45720" rtlCol="0" anchor="b">
            <a:normAutofit/>
          </a:bodyPr>
          <a:lstStyle/>
          <a:p>
            <a:pPr defTabSz="914400">
              <a:lnSpc>
                <a:spcPct val="90000"/>
              </a:lnSpc>
              <a:spcBef>
                <a:spcPct val="0"/>
              </a:spcBef>
            </a:pPr>
            <a:r>
              <a:rPr lang="ja-JP" altLang="en-US" sz="6700" kern="1200" dirty="0">
                <a:solidFill>
                  <a:schemeClr val="tx1"/>
                </a:solidFill>
                <a:cs typeface="+mj-cs"/>
              </a:rPr>
              <a:t>各国の生産量</a:t>
            </a:r>
            <a:endParaRPr kumimoji="1" lang="en-US" altLang="ja-JP" sz="6700" kern="1200" dirty="0">
              <a:solidFill>
                <a:schemeClr val="tx1"/>
              </a:solidFill>
              <a:cs typeface="+mj-cs"/>
            </a:endParaRPr>
          </a:p>
        </p:txBody>
      </p:sp>
      <p:sp>
        <p:nvSpPr>
          <p:cNvPr id="3" name="スライド番号プレースホルダー 2">
            <a:extLst>
              <a:ext uri="{FF2B5EF4-FFF2-40B4-BE49-F238E27FC236}">
                <a16:creationId xmlns:a16="http://schemas.microsoft.com/office/drawing/2014/main" id="{7315661D-20FA-400A-605C-F6566B4BE8D7}"/>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21</a:t>
            </a:fld>
            <a:endParaRPr lang="en-US" altLang="ja-JP" sz="1200" kern="1200">
              <a:solidFill>
                <a:schemeClr val="tx1">
                  <a:tint val="75000"/>
                </a:schemeClr>
              </a:solidFill>
              <a:latin typeface="+mn-lt"/>
              <a:ea typeface="+mn-ea"/>
              <a:cs typeface="+mn-cs"/>
            </a:endParaRPr>
          </a:p>
        </p:txBody>
      </p:sp>
      <p:sp>
        <p:nvSpPr>
          <p:cNvPr id="7" name="テキスト ボックス 6">
            <a:extLst>
              <a:ext uri="{FF2B5EF4-FFF2-40B4-BE49-F238E27FC236}">
                <a16:creationId xmlns:a16="http://schemas.microsoft.com/office/drawing/2014/main" id="{5B0385AC-211A-5350-93B8-0CF1F0CA43EB}"/>
              </a:ext>
            </a:extLst>
          </p:cNvPr>
          <p:cNvSpPr txBox="1"/>
          <p:nvPr/>
        </p:nvSpPr>
        <p:spPr>
          <a:xfrm>
            <a:off x="2716372" y="6979281"/>
            <a:ext cx="12247155"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ja-JP" altLang="en-US" dirty="0">
                <a:latin typeface="ＭＳ Ｐゴシック" panose="020B0600070205080204" pitchFamily="50" charset="-128"/>
                <a:ea typeface="ＭＳ Ｐゴシック" panose="020B0600070205080204" pitchFamily="50" charset="-128"/>
              </a:rPr>
              <a:t>大卒労働者豊富国であるアメリカは大卒集約財（</a:t>
            </a:r>
            <a:r>
              <a:rPr lang="en-US" altLang="ja-JP" dirty="0">
                <a:latin typeface="ＭＳ Ｐゴシック" panose="020B0600070205080204" pitchFamily="50" charset="-128"/>
                <a:ea typeface="ＭＳ Ｐゴシック" panose="020B0600070205080204" pitchFamily="50" charset="-128"/>
              </a:rPr>
              <a:t>PC</a:t>
            </a:r>
            <a:r>
              <a:rPr lang="ja-JP" altLang="en-US" dirty="0">
                <a:latin typeface="ＭＳ Ｐゴシック" panose="020B0600070205080204" pitchFamily="50" charset="-128"/>
                <a:ea typeface="ＭＳ Ｐゴシック" panose="020B0600070205080204" pitchFamily="50" charset="-128"/>
              </a:rPr>
              <a:t>）の生産比率が 相対的に高く，</a:t>
            </a:r>
            <a:endParaRPr lang="en-US" altLang="ja-JP" dirty="0">
              <a:latin typeface="ＭＳ Ｐゴシック" panose="020B0600070205080204" pitchFamily="50" charset="-128"/>
              <a:ea typeface="ＭＳ Ｐゴシック" panose="020B0600070205080204" pitchFamily="50" charset="-128"/>
            </a:endParaRPr>
          </a:p>
          <a:p>
            <a:pPr algn="l"/>
            <a:r>
              <a:rPr lang="ja-JP" altLang="en-US" dirty="0">
                <a:latin typeface="ＭＳ Ｐゴシック" panose="020B0600070205080204" pitchFamily="50" charset="-128"/>
                <a:ea typeface="ＭＳ Ｐゴシック" panose="020B0600070205080204" pitchFamily="50" charset="-128"/>
              </a:rPr>
              <a:t>高卒労働者豊富国であるメキシコは高卒集約財（衣 服）の生産比率が相対的に高い。</a:t>
            </a:r>
          </a:p>
        </p:txBody>
      </p:sp>
      <p:pic>
        <p:nvPicPr>
          <p:cNvPr id="9" name="図 8">
            <a:extLst>
              <a:ext uri="{FF2B5EF4-FFF2-40B4-BE49-F238E27FC236}">
                <a16:creationId xmlns:a16="http://schemas.microsoft.com/office/drawing/2014/main" id="{0F5E5C0F-97F7-F678-8A0C-0FB00B680E33}"/>
              </a:ext>
            </a:extLst>
          </p:cNvPr>
          <p:cNvPicPr>
            <a:picLocks noChangeAspect="1"/>
          </p:cNvPicPr>
          <p:nvPr/>
        </p:nvPicPr>
        <p:blipFill>
          <a:blip r:embed="rId2"/>
          <a:stretch>
            <a:fillRect/>
          </a:stretch>
        </p:blipFill>
        <p:spPr>
          <a:xfrm>
            <a:off x="3281633" y="2843989"/>
            <a:ext cx="10776996" cy="2905426"/>
          </a:xfrm>
          <a:prstGeom prst="rect">
            <a:avLst/>
          </a:prstGeom>
        </p:spPr>
      </p:pic>
    </p:spTree>
    <p:extLst>
      <p:ext uri="{BB962C8B-B14F-4D97-AF65-F5344CB8AC3E}">
        <p14:creationId xmlns:p14="http://schemas.microsoft.com/office/powerpoint/2010/main" val="200975625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37612B-2A00-DB4B-CBFC-508403F3A57A}"/>
              </a:ext>
            </a:extLst>
          </p:cNvPr>
          <p:cNvSpPr>
            <a:spLocks noGrp="1"/>
          </p:cNvSpPr>
          <p:nvPr>
            <p:ph type="title"/>
          </p:nvPr>
        </p:nvSpPr>
        <p:spPr/>
        <p:txBody>
          <a:bodyPr>
            <a:normAutofit/>
          </a:bodyPr>
          <a:lstStyle/>
          <a:p>
            <a:r>
              <a:rPr kumimoji="1" lang="ja-JP" altLang="en-US" dirty="0">
                <a:latin typeface="ＭＳ Ｐゴシック" panose="020B0600070205080204" pitchFamily="50" charset="-128"/>
                <a:ea typeface="ＭＳ Ｐゴシック" panose="020B0600070205080204" pitchFamily="50" charset="-128"/>
              </a:rPr>
              <a:t>限界代替率</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7814CD89-7525-1B8C-9428-5A621379454A}"/>
                  </a:ext>
                </a:extLst>
              </p:cNvPr>
              <p:cNvSpPr>
                <a:spLocks noGrp="1"/>
              </p:cNvSpPr>
              <p:nvPr>
                <p:ph type="body" idx="1"/>
              </p:nvPr>
            </p:nvSpPr>
            <p:spPr/>
            <p:txBody>
              <a:bodyPr>
                <a:normAutofit/>
              </a:bodyPr>
              <a:lstStyle/>
              <a:p>
                <a:pPr marL="0" indent="0">
                  <a:buNone/>
                </a:pPr>
                <a:r>
                  <a:rPr lang="ja-JP" altLang="en-US" sz="2800" dirty="0">
                    <a:cs typeface="ＭＳ 明朝" panose="02020609040205080304" pitchFamily="17" charset="-128"/>
                  </a:rPr>
                  <a:t>仮定</a:t>
                </a:r>
                <a:endParaRPr lang="en-US" altLang="ja-JP" sz="2800" dirty="0">
                  <a:cs typeface="ＭＳ 明朝" panose="02020609040205080304" pitchFamily="17" charset="-128"/>
                </a:endParaRPr>
              </a:p>
              <a:p>
                <a:r>
                  <a:rPr lang="ja-JP" altLang="ja-JP" sz="2800" dirty="0">
                    <a:cs typeface="ＭＳ 明朝" panose="02020609040205080304" pitchFamily="17" charset="-128"/>
                  </a:rPr>
                  <a:t>アメリカの代表的消費者の</a:t>
                </a:r>
                <a:r>
                  <a:rPr lang="ja-JP" altLang="ja-JP" sz="2800" b="1" dirty="0">
                    <a:cs typeface="ＭＳ 明朝" panose="02020609040205080304" pitchFamily="17" charset="-128"/>
                  </a:rPr>
                  <a:t>効用関数</a:t>
                </a:r>
                <a:r>
                  <a:rPr lang="en-US" altLang="ja-JP" sz="2800" b="1" dirty="0">
                    <a:cs typeface="ＭＳ 明朝" panose="02020609040205080304" pitchFamily="17" charset="-128"/>
                  </a:rPr>
                  <a:t>: </a:t>
                </a:r>
                <a14:m>
                  <m:oMath xmlns:m="http://schemas.openxmlformats.org/officeDocument/2006/math">
                    <m:r>
                      <a:rPr lang="en-US" altLang="ja-JP" sz="2800" i="1">
                        <a:latin typeface="Cambria Math" panose="02040503050406030204" pitchFamily="18" charset="0"/>
                        <a:cs typeface="ＭＳ 明朝" panose="02020609040205080304" pitchFamily="17" charset="-128"/>
                      </a:rPr>
                      <m:t>𝑢</m:t>
                    </m:r>
                    <m:r>
                      <a:rPr lang="en-US" altLang="ja-JP" sz="2800" i="1">
                        <a:latin typeface="Cambria Math" panose="02040503050406030204" pitchFamily="18" charset="0"/>
                        <a:cs typeface="ＭＳ 明朝" panose="02020609040205080304" pitchFamily="17" charset="-128"/>
                      </a:rPr>
                      <m:t>=</m:t>
                    </m:r>
                    <m:r>
                      <a:rPr lang="en-US" altLang="ja-JP" sz="2800" i="1">
                        <a:latin typeface="Cambria Math" panose="02040503050406030204" pitchFamily="18" charset="0"/>
                        <a:cs typeface="ＭＳ 明朝" panose="02020609040205080304" pitchFamily="17" charset="-128"/>
                      </a:rPr>
                      <m:t>𝑥𝑦</m:t>
                    </m:r>
                  </m:oMath>
                </a14:m>
                <a:endParaRPr kumimoji="1" lang="ja-JP" altLang="en-US" sz="2800" dirty="0"/>
              </a:p>
              <a:p>
                <a:r>
                  <a:rPr lang="ja-JP" altLang="ja-JP" sz="2800" dirty="0">
                    <a:cs typeface="ＭＳ 明朝" panose="02020609040205080304" pitchFamily="17" charset="-128"/>
                  </a:rPr>
                  <a:t>メキシコの代表的消費者の</a:t>
                </a:r>
                <a:r>
                  <a:rPr lang="ja-JP" altLang="ja-JP" sz="2800" b="1" dirty="0">
                    <a:cs typeface="ＭＳ 明朝" panose="02020609040205080304" pitchFamily="17" charset="-128"/>
                  </a:rPr>
                  <a:t>効用関数</a:t>
                </a:r>
                <a:r>
                  <a:rPr lang="en-US" altLang="ja-JP" sz="2800" dirty="0">
                    <a:cs typeface="ＭＳ 明朝" panose="02020609040205080304" pitchFamily="17" charset="-128"/>
                  </a:rPr>
                  <a:t>: </a:t>
                </a:r>
                <a14:m>
                  <m:oMath xmlns:m="http://schemas.openxmlformats.org/officeDocument/2006/math">
                    <m:r>
                      <a:rPr lang="en-US" altLang="ja-JP" sz="2800" i="1">
                        <a:latin typeface="Cambria Math" panose="02040503050406030204" pitchFamily="18" charset="0"/>
                        <a:cs typeface="ＭＳ 明朝" panose="02020609040205080304" pitchFamily="17" charset="-128"/>
                      </a:rPr>
                      <m:t>𝑢</m:t>
                    </m:r>
                    <m:r>
                      <a:rPr lang="en-US" altLang="ja-JP" sz="2800" i="1">
                        <a:latin typeface="Cambria Math" panose="02040503050406030204" pitchFamily="18" charset="0"/>
                        <a:cs typeface="ＭＳ 明朝" panose="02020609040205080304" pitchFamily="17" charset="-128"/>
                      </a:rPr>
                      <m:t>=</m:t>
                    </m:r>
                    <m:sSup>
                      <m:sSupPr>
                        <m:ctrlPr>
                          <a:rPr lang="ja-JP" altLang="ja-JP" sz="2800" i="1">
                            <a:latin typeface="Cambria Math" panose="02040503050406030204" pitchFamily="18" charset="0"/>
                            <a:cs typeface="ＭＳ 明朝" panose="02020609040205080304" pitchFamily="17" charset="-128"/>
                          </a:rPr>
                        </m:ctrlPr>
                      </m:sSupPr>
                      <m:e>
                        <m:r>
                          <a:rPr lang="en-US" altLang="ja-JP" sz="2800" i="1">
                            <a:latin typeface="Cambria Math" panose="02040503050406030204" pitchFamily="18" charset="0"/>
                            <a:cs typeface="ＭＳ 明朝" panose="02020609040205080304" pitchFamily="17" charset="-128"/>
                          </a:rPr>
                          <m:t>𝑥</m:t>
                        </m:r>
                      </m:e>
                      <m:sup>
                        <m:r>
                          <a:rPr lang="en-US" altLang="ja-JP" sz="2800" i="1">
                            <a:latin typeface="Cambria Math" panose="02040503050406030204" pitchFamily="18" charset="0"/>
                            <a:cs typeface="ＭＳ 明朝" panose="02020609040205080304" pitchFamily="17" charset="-128"/>
                          </a:rPr>
                          <m:t>∗</m:t>
                        </m:r>
                      </m:sup>
                    </m:sSup>
                    <m:sSup>
                      <m:sSupPr>
                        <m:ctrlPr>
                          <a:rPr lang="ja-JP" altLang="ja-JP" sz="2800" i="1">
                            <a:latin typeface="Cambria Math" panose="02040503050406030204" pitchFamily="18" charset="0"/>
                            <a:cs typeface="ＭＳ 明朝" panose="02020609040205080304" pitchFamily="17" charset="-128"/>
                          </a:rPr>
                        </m:ctrlPr>
                      </m:sSupPr>
                      <m:e>
                        <m:r>
                          <a:rPr lang="en-US" altLang="ja-JP" sz="2800" i="1">
                            <a:latin typeface="Cambria Math" panose="02040503050406030204" pitchFamily="18" charset="0"/>
                            <a:cs typeface="ＭＳ 明朝" panose="02020609040205080304" pitchFamily="17" charset="-128"/>
                          </a:rPr>
                          <m:t>𝑦</m:t>
                        </m:r>
                      </m:e>
                      <m:sup>
                        <m:r>
                          <a:rPr lang="en-US" altLang="ja-JP" sz="2800" i="1">
                            <a:latin typeface="Cambria Math" panose="02040503050406030204" pitchFamily="18" charset="0"/>
                            <a:cs typeface="ＭＳ 明朝" panose="02020609040205080304" pitchFamily="17" charset="-128"/>
                          </a:rPr>
                          <m:t>∗</m:t>
                        </m:r>
                      </m:sup>
                    </m:sSup>
                  </m:oMath>
                </a14:m>
                <a:endParaRPr kumimoji="1" lang="en-US" altLang="ja-JP" sz="2800" dirty="0"/>
              </a:p>
              <a:p>
                <a:pPr marL="0" indent="0">
                  <a:buNone/>
                </a:pPr>
                <a:r>
                  <a:rPr lang="ja-JP" altLang="en-US" sz="2800" dirty="0">
                    <a:cs typeface="ＭＳ 明朝" panose="02020609040205080304" pitchFamily="17" charset="-128"/>
                  </a:rPr>
                  <a:t>この時，</a:t>
                </a:r>
                <a:r>
                  <a:rPr lang="ja-JP" altLang="ja-JP" sz="2800" dirty="0">
                    <a:cs typeface="ＭＳ 明朝" panose="02020609040205080304" pitchFamily="17" charset="-128"/>
                  </a:rPr>
                  <a:t>アメリカにおいて</a:t>
                </a:r>
                <a:r>
                  <a:rPr lang="ja-JP" altLang="en-US" sz="2800" dirty="0">
                    <a:cs typeface="ＭＳ 明朝" panose="02020609040205080304" pitchFamily="17" charset="-128"/>
                  </a:rPr>
                  <a:t>，</a:t>
                </a:r>
                <a:endParaRPr lang="en-US" altLang="ja-JP" sz="2800" dirty="0">
                  <a:cs typeface="ＭＳ 明朝" panose="02020609040205080304" pitchFamily="17" charset="-128"/>
                </a:endParaRPr>
              </a:p>
              <a:p>
                <a:pPr marL="0" indent="0">
                  <a:buNone/>
                </a:pPr>
                <a:r>
                  <a:rPr lang="en-US" altLang="ja-JP" sz="2800" dirty="0">
                    <a:cs typeface="ＭＳ 明朝" panose="02020609040205080304" pitchFamily="17" charset="-128"/>
                  </a:rPr>
                  <a:t>x</a:t>
                </a:r>
                <a:r>
                  <a:rPr lang="ja-JP" altLang="ja-JP" sz="2800" dirty="0">
                    <a:cs typeface="ＭＳ 明朝" panose="02020609040205080304" pitchFamily="17" charset="-128"/>
                  </a:rPr>
                  <a:t>財の限界効用は</a:t>
                </a:r>
                <a14:m>
                  <m:oMath xmlns:m="http://schemas.openxmlformats.org/officeDocument/2006/math">
                    <m:sSub>
                      <m:sSubPr>
                        <m:ctrlPr>
                          <a:rPr lang="ja-JP" altLang="ja-JP" sz="2800" i="1">
                            <a:latin typeface="Cambria Math" panose="02040503050406030204" pitchFamily="18" charset="0"/>
                            <a:cs typeface="ＭＳ 明朝" panose="02020609040205080304" pitchFamily="17" charset="-128"/>
                          </a:rPr>
                        </m:ctrlPr>
                      </m:sSubPr>
                      <m:e>
                        <m:r>
                          <a:rPr lang="en-US" altLang="ja-JP" sz="2800" i="1">
                            <a:latin typeface="Cambria Math" panose="02040503050406030204" pitchFamily="18" charset="0"/>
                            <a:cs typeface="ＭＳ 明朝" panose="02020609040205080304" pitchFamily="17" charset="-128"/>
                          </a:rPr>
                          <m:t>𝑀𝑈</m:t>
                        </m:r>
                      </m:e>
                      <m:sub>
                        <m:r>
                          <a:rPr lang="en-US" altLang="ja-JP" sz="2800" i="1">
                            <a:latin typeface="Cambria Math" panose="02040503050406030204" pitchFamily="18" charset="0"/>
                            <a:cs typeface="ＭＳ 明朝" panose="02020609040205080304" pitchFamily="17" charset="-128"/>
                          </a:rPr>
                          <m:t>𝑥</m:t>
                        </m:r>
                      </m:sub>
                    </m:sSub>
                    <m:r>
                      <a:rPr lang="en-US" altLang="ja-JP" sz="2800" i="1">
                        <a:latin typeface="Cambria Math" panose="02040503050406030204" pitchFamily="18" charset="0"/>
                        <a:cs typeface="ＭＳ 明朝" panose="02020609040205080304" pitchFamily="17" charset="-128"/>
                      </a:rPr>
                      <m:t>=</m:t>
                    </m:r>
                    <m:r>
                      <a:rPr lang="en-US" altLang="ja-JP" sz="2800" i="1">
                        <a:latin typeface="Cambria Math" panose="02040503050406030204" pitchFamily="18" charset="0"/>
                        <a:cs typeface="ＭＳ 明朝" panose="02020609040205080304" pitchFamily="17" charset="-128"/>
                      </a:rPr>
                      <m:t>𝑦</m:t>
                    </m:r>
                  </m:oMath>
                </a14:m>
                <a:r>
                  <a:rPr lang="ja-JP" altLang="en-US" sz="2800" dirty="0">
                    <a:cs typeface="ＭＳ 明朝" panose="02020609040205080304" pitchFamily="17" charset="-128"/>
                  </a:rPr>
                  <a:t>，</a:t>
                </a:r>
                <a:r>
                  <a:rPr lang="en-US" altLang="ja-JP" sz="2800" dirty="0">
                    <a:cs typeface="ＭＳ 明朝" panose="02020609040205080304" pitchFamily="17" charset="-128"/>
                  </a:rPr>
                  <a:t>y</a:t>
                </a:r>
                <a:r>
                  <a:rPr lang="ja-JP" altLang="ja-JP" sz="2800" dirty="0">
                    <a:cs typeface="ＭＳ 明朝" panose="02020609040205080304" pitchFamily="17" charset="-128"/>
                  </a:rPr>
                  <a:t>財の限界効用は</a:t>
                </a:r>
                <a14:m>
                  <m:oMath xmlns:m="http://schemas.openxmlformats.org/officeDocument/2006/math">
                    <m:sSub>
                      <m:sSubPr>
                        <m:ctrlPr>
                          <a:rPr lang="ja-JP" altLang="ja-JP" sz="2800" i="1">
                            <a:latin typeface="Cambria Math" panose="02040503050406030204" pitchFamily="18" charset="0"/>
                            <a:cs typeface="ＭＳ 明朝" panose="02020609040205080304" pitchFamily="17" charset="-128"/>
                          </a:rPr>
                        </m:ctrlPr>
                      </m:sSubPr>
                      <m:e>
                        <m:r>
                          <a:rPr lang="en-US" altLang="ja-JP" sz="2800" i="1">
                            <a:latin typeface="Cambria Math" panose="02040503050406030204" pitchFamily="18" charset="0"/>
                            <a:cs typeface="ＭＳ 明朝" panose="02020609040205080304" pitchFamily="17" charset="-128"/>
                          </a:rPr>
                          <m:t>𝑀𝑈</m:t>
                        </m:r>
                      </m:e>
                      <m:sub>
                        <m:r>
                          <a:rPr lang="en-US" altLang="ja-JP" sz="2800" i="1">
                            <a:latin typeface="Cambria Math" panose="02040503050406030204" pitchFamily="18" charset="0"/>
                            <a:cs typeface="ＭＳ 明朝" panose="02020609040205080304" pitchFamily="17" charset="-128"/>
                          </a:rPr>
                          <m:t>𝑦</m:t>
                        </m:r>
                      </m:sub>
                    </m:sSub>
                    <m:r>
                      <a:rPr lang="en-US" altLang="ja-JP" sz="2800" i="1">
                        <a:latin typeface="Cambria Math" panose="02040503050406030204" pitchFamily="18" charset="0"/>
                        <a:cs typeface="ＭＳ 明朝" panose="02020609040205080304" pitchFamily="17" charset="-128"/>
                      </a:rPr>
                      <m:t>=</m:t>
                    </m:r>
                    <m:r>
                      <a:rPr lang="en-US" altLang="ja-JP" sz="2800" i="1">
                        <a:latin typeface="Cambria Math" panose="02040503050406030204" pitchFamily="18" charset="0"/>
                        <a:cs typeface="ＭＳ 明朝" panose="02020609040205080304" pitchFamily="17" charset="-128"/>
                      </a:rPr>
                      <m:t>𝑥</m:t>
                    </m:r>
                  </m:oMath>
                </a14:m>
                <a:r>
                  <a:rPr lang="ja-JP" altLang="ja-JP" sz="2800" dirty="0">
                    <a:cs typeface="ＭＳ 明朝" panose="02020609040205080304" pitchFamily="17" charset="-128"/>
                  </a:rPr>
                  <a:t>となる。</a:t>
                </a:r>
                <a:endParaRPr lang="en-US" altLang="ja-JP" sz="2800" dirty="0">
                  <a:cs typeface="ＭＳ 明朝" panose="02020609040205080304" pitchFamily="17" charset="-128"/>
                </a:endParaRPr>
              </a:p>
              <a:p>
                <a:pPr marL="0" indent="0">
                  <a:buNone/>
                </a:pPr>
                <a:r>
                  <a:rPr lang="ja-JP" altLang="ja-JP" sz="2800" dirty="0">
                    <a:cs typeface="ＭＳ 明朝" panose="02020609040205080304" pitchFamily="17" charset="-128"/>
                  </a:rPr>
                  <a:t>そのため</a:t>
                </a:r>
                <a:r>
                  <a:rPr lang="ja-JP" altLang="en-US" sz="2800" dirty="0">
                    <a:cs typeface="ＭＳ 明朝" panose="02020609040205080304" pitchFamily="17" charset="-128"/>
                  </a:rPr>
                  <a:t>，</a:t>
                </a:r>
                <a:r>
                  <a:rPr lang="ja-JP" altLang="ja-JP" sz="2800" b="1" dirty="0">
                    <a:cs typeface="ＭＳ 明朝" panose="02020609040205080304" pitchFamily="17" charset="-128"/>
                  </a:rPr>
                  <a:t>限界代替率（</a:t>
                </a:r>
                <a:r>
                  <a:rPr lang="en-US" altLang="ja-JP" sz="2800" b="1" dirty="0">
                    <a:cs typeface="ＭＳ 明朝" panose="02020609040205080304" pitchFamily="17" charset="-128"/>
                  </a:rPr>
                  <a:t>MRS</a:t>
                </a:r>
                <a:r>
                  <a:rPr lang="ja-JP" altLang="ja-JP" sz="2800" b="1" dirty="0">
                    <a:cs typeface="ＭＳ 明朝" panose="02020609040205080304" pitchFamily="17" charset="-128"/>
                  </a:rPr>
                  <a:t>）</a:t>
                </a:r>
                <a:r>
                  <a:rPr lang="ja-JP" altLang="ja-JP" sz="2800" dirty="0">
                    <a:cs typeface="ＭＳ 明朝" panose="02020609040205080304" pitchFamily="17" charset="-128"/>
                  </a:rPr>
                  <a:t>は</a:t>
                </a:r>
                <a14:m>
                  <m:oMath xmlns:m="http://schemas.openxmlformats.org/officeDocument/2006/math">
                    <m:r>
                      <a:rPr lang="en-US" altLang="ja-JP" sz="2800" i="1">
                        <a:latin typeface="Cambria Math" panose="02040503050406030204" pitchFamily="18" charset="0"/>
                        <a:cs typeface="ＭＳ 明朝" panose="02020609040205080304" pitchFamily="17" charset="-128"/>
                      </a:rPr>
                      <m:t>𝑀𝑅𝑆</m:t>
                    </m:r>
                    <m:r>
                      <a:rPr lang="en-US" altLang="ja-JP" sz="2800" i="1">
                        <a:latin typeface="Cambria Math" panose="02040503050406030204" pitchFamily="18" charset="0"/>
                        <a:cs typeface="ＭＳ 明朝" panose="02020609040205080304" pitchFamily="17" charset="-128"/>
                      </a:rPr>
                      <m:t>=</m:t>
                    </m:r>
                    <m:f>
                      <m:fPr>
                        <m:ctrlPr>
                          <a:rPr lang="ja-JP" altLang="ja-JP" sz="2800" i="1">
                            <a:latin typeface="Cambria Math" panose="02040503050406030204" pitchFamily="18" charset="0"/>
                            <a:cs typeface="ＭＳ 明朝" panose="02020609040205080304" pitchFamily="17" charset="-128"/>
                          </a:rPr>
                        </m:ctrlPr>
                      </m:fPr>
                      <m:num>
                        <m:sSub>
                          <m:sSubPr>
                            <m:ctrlPr>
                              <a:rPr lang="ja-JP" altLang="ja-JP" sz="2800" i="1">
                                <a:latin typeface="Cambria Math" panose="02040503050406030204" pitchFamily="18" charset="0"/>
                                <a:cs typeface="ＭＳ 明朝" panose="02020609040205080304" pitchFamily="17" charset="-128"/>
                              </a:rPr>
                            </m:ctrlPr>
                          </m:sSubPr>
                          <m:e>
                            <m:r>
                              <a:rPr lang="en-US" altLang="ja-JP" sz="2800" i="1">
                                <a:latin typeface="Cambria Math" panose="02040503050406030204" pitchFamily="18" charset="0"/>
                                <a:cs typeface="ＭＳ 明朝" panose="02020609040205080304" pitchFamily="17" charset="-128"/>
                              </a:rPr>
                              <m:t>𝑀𝑈</m:t>
                            </m:r>
                          </m:e>
                          <m:sub>
                            <m:r>
                              <a:rPr lang="en-US" altLang="ja-JP" sz="2800" i="1">
                                <a:latin typeface="Cambria Math" panose="02040503050406030204" pitchFamily="18" charset="0"/>
                                <a:cs typeface="ＭＳ 明朝" panose="02020609040205080304" pitchFamily="17" charset="-128"/>
                              </a:rPr>
                              <m:t>𝑥</m:t>
                            </m:r>
                          </m:sub>
                        </m:sSub>
                      </m:num>
                      <m:den>
                        <m:sSub>
                          <m:sSubPr>
                            <m:ctrlPr>
                              <a:rPr lang="ja-JP" altLang="ja-JP" sz="2800" i="1">
                                <a:latin typeface="Cambria Math" panose="02040503050406030204" pitchFamily="18" charset="0"/>
                                <a:cs typeface="ＭＳ 明朝" panose="02020609040205080304" pitchFamily="17" charset="-128"/>
                              </a:rPr>
                            </m:ctrlPr>
                          </m:sSubPr>
                          <m:e>
                            <m:r>
                              <a:rPr lang="en-US" altLang="ja-JP" sz="2800" i="1">
                                <a:latin typeface="Cambria Math" panose="02040503050406030204" pitchFamily="18" charset="0"/>
                                <a:cs typeface="ＭＳ 明朝" panose="02020609040205080304" pitchFamily="17" charset="-128"/>
                              </a:rPr>
                              <m:t>𝑀𝑈</m:t>
                            </m:r>
                          </m:e>
                          <m:sub>
                            <m:r>
                              <a:rPr lang="en-US" altLang="ja-JP" sz="2800" i="1">
                                <a:latin typeface="Cambria Math" panose="02040503050406030204" pitchFamily="18" charset="0"/>
                                <a:cs typeface="ＭＳ 明朝" panose="02020609040205080304" pitchFamily="17" charset="-128"/>
                              </a:rPr>
                              <m:t>𝑦</m:t>
                            </m:r>
                          </m:sub>
                        </m:sSub>
                      </m:den>
                    </m:f>
                    <m:r>
                      <a:rPr lang="en-US" altLang="ja-JP" sz="2800" i="1">
                        <a:latin typeface="Cambria Math" panose="02040503050406030204" pitchFamily="18" charset="0"/>
                        <a:cs typeface="ＭＳ 明朝" panose="02020609040205080304" pitchFamily="17" charset="-128"/>
                      </a:rPr>
                      <m:t>=</m:t>
                    </m:r>
                    <m:f>
                      <m:fPr>
                        <m:ctrlPr>
                          <a:rPr lang="ja-JP" altLang="ja-JP" sz="2800" i="1">
                            <a:latin typeface="Cambria Math" panose="02040503050406030204" pitchFamily="18" charset="0"/>
                            <a:cs typeface="ＭＳ 明朝" panose="02020609040205080304" pitchFamily="17" charset="-128"/>
                          </a:rPr>
                        </m:ctrlPr>
                      </m:fPr>
                      <m:num>
                        <m:r>
                          <a:rPr lang="en-US" altLang="ja-JP" sz="2800" i="1">
                            <a:latin typeface="Cambria Math" panose="02040503050406030204" pitchFamily="18" charset="0"/>
                            <a:cs typeface="ＭＳ 明朝" panose="02020609040205080304" pitchFamily="17" charset="-128"/>
                          </a:rPr>
                          <m:t>𝑦</m:t>
                        </m:r>
                      </m:num>
                      <m:den>
                        <m:r>
                          <a:rPr lang="en-US" altLang="ja-JP" sz="2800" i="1">
                            <a:latin typeface="Cambria Math" panose="02040503050406030204" pitchFamily="18" charset="0"/>
                            <a:cs typeface="ＭＳ 明朝" panose="02020609040205080304" pitchFamily="17" charset="-128"/>
                          </a:rPr>
                          <m:t>𝑥</m:t>
                        </m:r>
                      </m:den>
                    </m:f>
                  </m:oMath>
                </a14:m>
                <a:r>
                  <a:rPr lang="ja-JP" altLang="ja-JP" sz="2800" dirty="0">
                    <a:cs typeface="ＭＳ 明朝" panose="02020609040205080304" pitchFamily="17" charset="-128"/>
                  </a:rPr>
                  <a:t>となる。</a:t>
                </a:r>
                <a:endParaRPr kumimoji="1" lang="ja-JP" altLang="en-US" sz="2800" dirty="0"/>
              </a:p>
            </p:txBody>
          </p:sp>
        </mc:Choice>
        <mc:Fallback xmlns="">
          <p:sp>
            <p:nvSpPr>
              <p:cNvPr id="3" name="テキスト プレースホルダー 2">
                <a:extLst>
                  <a:ext uri="{FF2B5EF4-FFF2-40B4-BE49-F238E27FC236}">
                    <a16:creationId xmlns:a16="http://schemas.microsoft.com/office/drawing/2014/main" id="{7814CD89-7525-1B8C-9428-5A621379454A}"/>
                  </a:ext>
                </a:extLst>
              </p:cNvPr>
              <p:cNvSpPr>
                <a:spLocks noGrp="1" noRot="1" noChangeAspect="1" noMove="1" noResize="1" noEditPoints="1" noAdjustHandles="1" noChangeArrowheads="1" noChangeShapeType="1" noTextEdit="1"/>
              </p:cNvSpPr>
              <p:nvPr>
                <p:ph type="body" idx="1"/>
              </p:nvPr>
            </p:nvSpPr>
            <p:spPr>
              <a:blipFill>
                <a:blip r:embed="rId2"/>
                <a:stretch>
                  <a:fillRect l="-186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630D0A98-8A8D-65C2-0BA5-3CEC944BF50F}"/>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22</a:t>
            </a:fld>
            <a:endParaRPr lang="ja-JP" altLang="en-US"/>
          </a:p>
        </p:txBody>
      </p:sp>
    </p:spTree>
    <p:extLst>
      <p:ext uri="{BB962C8B-B14F-4D97-AF65-F5344CB8AC3E}">
        <p14:creationId xmlns:p14="http://schemas.microsoft.com/office/powerpoint/2010/main" val="333917598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9FE41C-1634-BB08-C917-E4805982CA64}"/>
              </a:ext>
            </a:extLst>
          </p:cNvPr>
          <p:cNvSpPr>
            <a:spLocks noGrp="1"/>
          </p:cNvSpPr>
          <p:nvPr>
            <p:ph type="title"/>
          </p:nvPr>
        </p:nvSpPr>
        <p:spPr/>
        <p:txBody>
          <a:bodyPr>
            <a:normAutofit/>
          </a:bodyPr>
          <a:lstStyle/>
          <a:p>
            <a:r>
              <a:rPr kumimoji="1" lang="ja-JP" altLang="en-US" dirty="0">
                <a:latin typeface="ＭＳ Ｐゴシック" panose="020B0600070205080204" pitchFamily="50" charset="-128"/>
                <a:ea typeface="ＭＳ Ｐゴシック" panose="020B0600070205080204" pitchFamily="50" charset="-128"/>
              </a:rPr>
              <a:t>限界代替率と相対価格</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33F68E47-9308-E8E9-4D18-CE1172477FD4}"/>
                  </a:ext>
                </a:extLst>
              </p:cNvPr>
              <p:cNvSpPr>
                <a:spLocks noGrp="1"/>
              </p:cNvSpPr>
              <p:nvPr>
                <p:ph type="body" idx="1"/>
              </p:nvPr>
            </p:nvSpPr>
            <p:spPr/>
            <p:txBody>
              <a:bodyPr>
                <a:normAutofit/>
              </a:bodyPr>
              <a:lstStyle/>
              <a:p>
                <a:r>
                  <a:rPr lang="ja-JP" altLang="ja-JP" sz="4400" dirty="0">
                    <a:cs typeface="ＭＳ 明朝" panose="02020609040205080304" pitchFamily="17" charset="-128"/>
                  </a:rPr>
                  <a:t>限界代替率は無差別曲線の傾きであり</a:t>
                </a:r>
                <a:r>
                  <a:rPr lang="ja-JP" altLang="en-US" sz="4400" dirty="0">
                    <a:cs typeface="ＭＳ 明朝" panose="02020609040205080304" pitchFamily="17" charset="-128"/>
                  </a:rPr>
                  <a:t>，</a:t>
                </a:r>
                <a:r>
                  <a:rPr lang="ja-JP" altLang="ja-JP" sz="4400" dirty="0">
                    <a:cs typeface="ＭＳ 明朝" panose="02020609040205080304" pitchFamily="17" charset="-128"/>
                  </a:rPr>
                  <a:t>各国内で自給自足している閉鎖経済において</a:t>
                </a:r>
                <a:r>
                  <a:rPr lang="ja-JP" altLang="en-US" sz="4400" dirty="0">
                    <a:cs typeface="ＭＳ 明朝" panose="02020609040205080304" pitchFamily="17" charset="-128"/>
                  </a:rPr>
                  <a:t>，</a:t>
                </a:r>
                <a:r>
                  <a:rPr lang="ja-JP" altLang="ja-JP" sz="4400" dirty="0">
                    <a:cs typeface="ＭＳ 明朝" panose="02020609040205080304" pitchFamily="17" charset="-128"/>
                  </a:rPr>
                  <a:t>各国の相対価格</a:t>
                </a:r>
                <a14:m>
                  <m:oMath xmlns:m="http://schemas.openxmlformats.org/officeDocument/2006/math">
                    <m:f>
                      <m:fPr>
                        <m:ctrlPr>
                          <a:rPr lang="ja-JP" altLang="ja-JP" sz="4400" i="1">
                            <a:latin typeface="Cambria Math" panose="02040503050406030204" pitchFamily="18" charset="0"/>
                            <a:cs typeface="ＭＳ 明朝" panose="02020609040205080304" pitchFamily="17" charset="-128"/>
                          </a:rPr>
                        </m:ctrlPr>
                      </m:fPr>
                      <m:num>
                        <m:sSub>
                          <m:sSubPr>
                            <m:ctrlPr>
                              <a:rPr lang="ja-JP" altLang="ja-JP" sz="4400" i="1">
                                <a:latin typeface="Cambria Math" panose="02040503050406030204" pitchFamily="18" charset="0"/>
                                <a:cs typeface="ＭＳ 明朝" panose="02020609040205080304" pitchFamily="17" charset="-128"/>
                              </a:rPr>
                            </m:ctrlPr>
                          </m:sSubPr>
                          <m:e>
                            <m:r>
                              <a:rPr lang="en-US" altLang="ja-JP" sz="4400" i="1">
                                <a:latin typeface="Cambria Math" panose="02040503050406030204" pitchFamily="18" charset="0"/>
                                <a:cs typeface="ＭＳ 明朝" panose="02020609040205080304" pitchFamily="17" charset="-128"/>
                              </a:rPr>
                              <m:t>𝑝</m:t>
                            </m:r>
                          </m:e>
                          <m:sub>
                            <m:r>
                              <a:rPr lang="en-US" altLang="ja-JP" sz="4400" i="1">
                                <a:latin typeface="Cambria Math" panose="02040503050406030204" pitchFamily="18" charset="0"/>
                                <a:cs typeface="ＭＳ 明朝" panose="02020609040205080304" pitchFamily="17" charset="-128"/>
                              </a:rPr>
                              <m:t>𝑥</m:t>
                            </m:r>
                          </m:sub>
                        </m:sSub>
                      </m:num>
                      <m:den>
                        <m:sSub>
                          <m:sSubPr>
                            <m:ctrlPr>
                              <a:rPr lang="ja-JP" altLang="ja-JP" sz="4400" i="1">
                                <a:latin typeface="Cambria Math" panose="02040503050406030204" pitchFamily="18" charset="0"/>
                                <a:cs typeface="ＭＳ 明朝" panose="02020609040205080304" pitchFamily="17" charset="-128"/>
                              </a:rPr>
                            </m:ctrlPr>
                          </m:sSubPr>
                          <m:e>
                            <m:r>
                              <a:rPr lang="en-US" altLang="ja-JP" sz="4400" i="1">
                                <a:latin typeface="Cambria Math" panose="02040503050406030204" pitchFamily="18" charset="0"/>
                                <a:cs typeface="ＭＳ 明朝" panose="02020609040205080304" pitchFamily="17" charset="-128"/>
                              </a:rPr>
                              <m:t>𝑝</m:t>
                            </m:r>
                          </m:e>
                          <m:sub>
                            <m:r>
                              <a:rPr lang="en-US" altLang="ja-JP" sz="4400" i="1">
                                <a:latin typeface="Cambria Math" panose="02040503050406030204" pitchFamily="18" charset="0"/>
                                <a:cs typeface="ＭＳ 明朝" panose="02020609040205080304" pitchFamily="17" charset="-128"/>
                              </a:rPr>
                              <m:t>𝑦</m:t>
                            </m:r>
                          </m:sub>
                        </m:sSub>
                      </m:den>
                    </m:f>
                  </m:oMath>
                </a14:m>
                <a:r>
                  <a:rPr lang="ja-JP" altLang="ja-JP" sz="4400" dirty="0">
                    <a:cs typeface="ＭＳ 明朝" panose="02020609040205080304" pitchFamily="17" charset="-128"/>
                  </a:rPr>
                  <a:t>と一致。</a:t>
                </a:r>
                <a:endParaRPr lang="en-US" altLang="ja-JP" sz="4400" dirty="0">
                  <a:cs typeface="ＭＳ 明朝" panose="02020609040205080304" pitchFamily="17" charset="-128"/>
                </a:endParaRPr>
              </a:p>
              <a:p>
                <a:r>
                  <a:rPr lang="ja-JP" altLang="ja-JP" sz="4400" dirty="0">
                    <a:cs typeface="ＭＳ 明朝" panose="02020609040205080304" pitchFamily="17" charset="-128"/>
                  </a:rPr>
                  <a:t>アメリカでは</a:t>
                </a:r>
                <a:r>
                  <a:rPr lang="ja-JP" altLang="en-US" sz="4400" dirty="0">
                    <a:cs typeface="ＭＳ 明朝" panose="02020609040205080304" pitchFamily="17" charset="-128"/>
                  </a:rPr>
                  <a:t>，</a:t>
                </a:r>
                <a:r>
                  <a:rPr lang="ja-JP" altLang="ja-JP" sz="4400" dirty="0">
                    <a:cs typeface="ＭＳ 明朝" panose="02020609040205080304" pitchFamily="17" charset="-128"/>
                  </a:rPr>
                  <a:t>完全雇用点において</a:t>
                </a:r>
                <a14:m>
                  <m:oMath xmlns:m="http://schemas.openxmlformats.org/officeDocument/2006/math">
                    <m:r>
                      <a:rPr lang="en-US" altLang="ja-JP" sz="4400" i="1">
                        <a:latin typeface="Cambria Math" panose="02040503050406030204" pitchFamily="18" charset="0"/>
                        <a:cs typeface="ＭＳ 明朝" panose="02020609040205080304" pitchFamily="17" charset="-128"/>
                      </a:rPr>
                      <m:t>𝑀𝑅𝑆</m:t>
                    </m:r>
                    <m:r>
                      <a:rPr lang="en-US" altLang="ja-JP" sz="4400" i="1">
                        <a:latin typeface="Cambria Math" panose="02040503050406030204" pitchFamily="18" charset="0"/>
                        <a:cs typeface="ＭＳ 明朝" panose="02020609040205080304" pitchFamily="17" charset="-128"/>
                      </a:rPr>
                      <m:t>=</m:t>
                    </m:r>
                    <m:f>
                      <m:fPr>
                        <m:ctrlPr>
                          <a:rPr lang="ja-JP" altLang="ja-JP" sz="4400" i="1">
                            <a:latin typeface="Cambria Math" panose="02040503050406030204" pitchFamily="18" charset="0"/>
                            <a:cs typeface="ＭＳ 明朝" panose="02020609040205080304" pitchFamily="17" charset="-128"/>
                          </a:rPr>
                        </m:ctrlPr>
                      </m:fPr>
                      <m:num>
                        <m:r>
                          <a:rPr lang="en-US" altLang="ja-JP" sz="4400" i="1">
                            <a:latin typeface="Cambria Math" panose="02040503050406030204" pitchFamily="18" charset="0"/>
                            <a:cs typeface="ＭＳ 明朝" panose="02020609040205080304" pitchFamily="17" charset="-128"/>
                          </a:rPr>
                          <m:t>𝑦</m:t>
                        </m:r>
                      </m:num>
                      <m:den>
                        <m:r>
                          <a:rPr lang="en-US" altLang="ja-JP" sz="4400" i="1">
                            <a:latin typeface="Cambria Math" panose="02040503050406030204" pitchFamily="18" charset="0"/>
                            <a:cs typeface="ＭＳ 明朝" panose="02020609040205080304" pitchFamily="17" charset="-128"/>
                          </a:rPr>
                          <m:t>𝑥</m:t>
                        </m:r>
                      </m:den>
                    </m:f>
                    <m:r>
                      <a:rPr lang="en-US" altLang="ja-JP" sz="4400" i="1">
                        <a:latin typeface="Cambria Math" panose="02040503050406030204" pitchFamily="18" charset="0"/>
                        <a:cs typeface="ＭＳ 明朝" panose="02020609040205080304" pitchFamily="17" charset="-128"/>
                      </a:rPr>
                      <m:t>=</m:t>
                    </m:r>
                    <m:f>
                      <m:fPr>
                        <m:ctrlPr>
                          <a:rPr lang="ja-JP" altLang="ja-JP" sz="4400" i="1">
                            <a:latin typeface="Cambria Math" panose="02040503050406030204" pitchFamily="18" charset="0"/>
                            <a:cs typeface="ＭＳ 明朝" panose="02020609040205080304" pitchFamily="17" charset="-128"/>
                          </a:rPr>
                        </m:ctrlPr>
                      </m:fPr>
                      <m:num>
                        <m:r>
                          <a:rPr lang="en-US" altLang="ja-JP" sz="4400" i="1">
                            <a:latin typeface="Cambria Math" panose="02040503050406030204" pitchFamily="18" charset="0"/>
                            <a:cs typeface="ＭＳ 明朝" panose="02020609040205080304" pitchFamily="17" charset="-128"/>
                          </a:rPr>
                          <m:t>2</m:t>
                        </m:r>
                      </m:num>
                      <m:den>
                        <m:r>
                          <a:rPr lang="en-US" altLang="ja-JP" sz="4400" i="1">
                            <a:latin typeface="Cambria Math" panose="02040503050406030204" pitchFamily="18" charset="0"/>
                            <a:cs typeface="ＭＳ 明朝" panose="02020609040205080304" pitchFamily="17" charset="-128"/>
                          </a:rPr>
                          <m:t>3</m:t>
                        </m:r>
                      </m:den>
                    </m:f>
                  </m:oMath>
                </a14:m>
                <a:r>
                  <a:rPr lang="ja-JP" altLang="ja-JP" sz="4400" dirty="0">
                    <a:cs typeface="ＭＳ 明朝" panose="02020609040205080304" pitchFamily="17" charset="-128"/>
                  </a:rPr>
                  <a:t>であるので</a:t>
                </a:r>
                <a:r>
                  <a:rPr lang="ja-JP" altLang="en-US" sz="4400" dirty="0">
                    <a:cs typeface="ＭＳ 明朝" panose="02020609040205080304" pitchFamily="17" charset="-128"/>
                  </a:rPr>
                  <a:t>，</a:t>
                </a:r>
                <a:r>
                  <a:rPr lang="en-US" altLang="ja-JP" sz="4400" dirty="0">
                    <a:cs typeface="ＭＳ 明朝" panose="02020609040205080304" pitchFamily="17" charset="-128"/>
                  </a:rPr>
                  <a:t>PC</a:t>
                </a:r>
                <a:r>
                  <a:rPr lang="ja-JP" altLang="ja-JP" sz="4400" dirty="0">
                    <a:cs typeface="ＭＳ 明朝" panose="02020609040205080304" pitchFamily="17" charset="-128"/>
                  </a:rPr>
                  <a:t>の相対価格</a:t>
                </a:r>
                <a14:m>
                  <m:oMath xmlns:m="http://schemas.openxmlformats.org/officeDocument/2006/math">
                    <m:f>
                      <m:fPr>
                        <m:ctrlPr>
                          <a:rPr lang="ja-JP" altLang="ja-JP" sz="4400" i="1">
                            <a:latin typeface="Cambria Math" panose="02040503050406030204" pitchFamily="18" charset="0"/>
                            <a:cs typeface="ＭＳ 明朝" panose="02020609040205080304" pitchFamily="17" charset="-128"/>
                          </a:rPr>
                        </m:ctrlPr>
                      </m:fPr>
                      <m:num>
                        <m:sSub>
                          <m:sSubPr>
                            <m:ctrlPr>
                              <a:rPr lang="ja-JP" altLang="ja-JP" sz="4400" i="1">
                                <a:latin typeface="Cambria Math" panose="02040503050406030204" pitchFamily="18" charset="0"/>
                                <a:cs typeface="ＭＳ 明朝" panose="02020609040205080304" pitchFamily="17" charset="-128"/>
                              </a:rPr>
                            </m:ctrlPr>
                          </m:sSubPr>
                          <m:e>
                            <m:r>
                              <a:rPr lang="en-US" altLang="ja-JP" sz="4400" i="1">
                                <a:latin typeface="Cambria Math" panose="02040503050406030204" pitchFamily="18" charset="0"/>
                                <a:cs typeface="ＭＳ 明朝" panose="02020609040205080304" pitchFamily="17" charset="-128"/>
                              </a:rPr>
                              <m:t>𝑝</m:t>
                            </m:r>
                          </m:e>
                          <m:sub>
                            <m:r>
                              <a:rPr lang="en-US" altLang="ja-JP" sz="4400" i="1">
                                <a:latin typeface="Cambria Math" panose="02040503050406030204" pitchFamily="18" charset="0"/>
                                <a:cs typeface="ＭＳ 明朝" panose="02020609040205080304" pitchFamily="17" charset="-128"/>
                              </a:rPr>
                              <m:t>𝑥</m:t>
                            </m:r>
                          </m:sub>
                        </m:sSub>
                      </m:num>
                      <m:den>
                        <m:sSub>
                          <m:sSubPr>
                            <m:ctrlPr>
                              <a:rPr lang="ja-JP" altLang="ja-JP" sz="4400" i="1">
                                <a:latin typeface="Cambria Math" panose="02040503050406030204" pitchFamily="18" charset="0"/>
                                <a:cs typeface="ＭＳ 明朝" panose="02020609040205080304" pitchFamily="17" charset="-128"/>
                              </a:rPr>
                            </m:ctrlPr>
                          </m:sSubPr>
                          <m:e>
                            <m:r>
                              <a:rPr lang="en-US" altLang="ja-JP" sz="4400" i="1">
                                <a:latin typeface="Cambria Math" panose="02040503050406030204" pitchFamily="18" charset="0"/>
                                <a:cs typeface="ＭＳ 明朝" panose="02020609040205080304" pitchFamily="17" charset="-128"/>
                              </a:rPr>
                              <m:t>𝑝</m:t>
                            </m:r>
                          </m:e>
                          <m:sub>
                            <m:r>
                              <a:rPr lang="en-US" altLang="ja-JP" sz="4400" i="1">
                                <a:latin typeface="Cambria Math" panose="02040503050406030204" pitchFamily="18" charset="0"/>
                                <a:cs typeface="ＭＳ 明朝" panose="02020609040205080304" pitchFamily="17" charset="-128"/>
                              </a:rPr>
                              <m:t>𝑦</m:t>
                            </m:r>
                          </m:sub>
                        </m:sSub>
                      </m:den>
                    </m:f>
                  </m:oMath>
                </a14:m>
                <a:r>
                  <a:rPr lang="ja-JP" altLang="ja-JP" sz="4400" dirty="0">
                    <a:cs typeface="ＭＳ 明朝" panose="02020609040205080304" pitchFamily="17" charset="-128"/>
                  </a:rPr>
                  <a:t>は</a:t>
                </a:r>
                <a:r>
                  <a:rPr lang="en-US" altLang="ja-JP" sz="4400" dirty="0">
                    <a:cs typeface="ＭＳ 明朝" panose="02020609040205080304" pitchFamily="17" charset="-128"/>
                  </a:rPr>
                  <a:t>2/3</a:t>
                </a:r>
                <a:r>
                  <a:rPr lang="ja-JP" altLang="ja-JP" sz="4400" dirty="0">
                    <a:cs typeface="ＭＳ 明朝" panose="02020609040205080304" pitchFamily="17" charset="-128"/>
                  </a:rPr>
                  <a:t>である。</a:t>
                </a:r>
                <a:r>
                  <a:rPr lang="en-US" altLang="ja-JP" sz="4400" dirty="0">
                    <a:cs typeface="ＭＳ 明朝" panose="02020609040205080304" pitchFamily="17" charset="-128"/>
                  </a:rPr>
                  <a:t>PC1</a:t>
                </a:r>
                <a:r>
                  <a:rPr lang="ja-JP" altLang="ja-JP" sz="4400" dirty="0">
                    <a:cs typeface="ＭＳ 明朝" panose="02020609040205080304" pitchFamily="17" charset="-128"/>
                  </a:rPr>
                  <a:t>単位は</a:t>
                </a:r>
                <a:r>
                  <a:rPr lang="ja-JP" altLang="en-US" sz="4400" dirty="0">
                    <a:cs typeface="ＭＳ 明朝" panose="02020609040205080304" pitchFamily="17" charset="-128"/>
                  </a:rPr>
                  <a:t>，</a:t>
                </a:r>
                <a:r>
                  <a:rPr lang="ja-JP" altLang="ja-JP" sz="4400" dirty="0">
                    <a:cs typeface="ＭＳ 明朝" panose="02020609040205080304" pitchFamily="17" charset="-128"/>
                  </a:rPr>
                  <a:t>完全雇用点において衣服</a:t>
                </a:r>
                <a:r>
                  <a:rPr lang="en-US" altLang="ja-JP" sz="4400" dirty="0">
                    <a:cs typeface="ＭＳ 明朝" panose="02020609040205080304" pitchFamily="17" charset="-128"/>
                  </a:rPr>
                  <a:t>2/3</a:t>
                </a:r>
                <a:r>
                  <a:rPr lang="ja-JP" altLang="ja-JP" sz="4400" dirty="0">
                    <a:cs typeface="ＭＳ 明朝" panose="02020609040205080304" pitchFamily="17" charset="-128"/>
                  </a:rPr>
                  <a:t>単位の価値</a:t>
                </a:r>
                <a:r>
                  <a:rPr lang="ja-JP" altLang="en-US" sz="4400" dirty="0">
                    <a:cs typeface="ＭＳ 明朝" panose="02020609040205080304" pitchFamily="17" charset="-128"/>
                  </a:rPr>
                  <a:t>。</a:t>
                </a:r>
                <a:endParaRPr lang="en-US" altLang="ja-JP" sz="4400" dirty="0">
                  <a:cs typeface="ＭＳ 明朝" panose="02020609040205080304" pitchFamily="17" charset="-128"/>
                </a:endParaRPr>
              </a:p>
            </p:txBody>
          </p:sp>
        </mc:Choice>
        <mc:Fallback xmlns="">
          <p:sp>
            <p:nvSpPr>
              <p:cNvPr id="3" name="テキスト プレースホルダー 2">
                <a:extLst>
                  <a:ext uri="{FF2B5EF4-FFF2-40B4-BE49-F238E27FC236}">
                    <a16:creationId xmlns:a16="http://schemas.microsoft.com/office/drawing/2014/main" id="{33F68E47-9308-E8E9-4D18-CE1172477FD4}"/>
                  </a:ext>
                </a:extLst>
              </p:cNvPr>
              <p:cNvSpPr>
                <a:spLocks noGrp="1" noRot="1" noChangeAspect="1" noMove="1" noResize="1" noEditPoints="1" noAdjustHandles="1" noChangeArrowheads="1" noChangeShapeType="1" noTextEdit="1"/>
              </p:cNvSpPr>
              <p:nvPr>
                <p:ph type="body" idx="1"/>
              </p:nvPr>
            </p:nvSpPr>
            <p:spPr>
              <a:blipFill>
                <a:blip r:embed="rId2"/>
                <a:stretch>
                  <a:fillRect l="-2389" r="-1565"/>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368BC45-6DD8-6BA9-64FE-A7592D1E70CA}"/>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23</a:t>
            </a:fld>
            <a:endParaRPr lang="ja-JP" altLang="en-US"/>
          </a:p>
        </p:txBody>
      </p:sp>
    </p:spTree>
    <p:extLst>
      <p:ext uri="{BB962C8B-B14F-4D97-AF65-F5344CB8AC3E}">
        <p14:creationId xmlns:p14="http://schemas.microsoft.com/office/powerpoint/2010/main" val="124039317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3C4115A-56CD-27B0-B8C4-4960DD36CD4D}"/>
              </a:ext>
            </a:extLst>
          </p:cNvPr>
          <p:cNvPicPr>
            <a:picLocks noChangeAspect="1"/>
          </p:cNvPicPr>
          <p:nvPr/>
        </p:nvPicPr>
        <p:blipFill>
          <a:blip r:embed="rId2"/>
          <a:stretch>
            <a:fillRect/>
          </a:stretch>
        </p:blipFill>
        <p:spPr>
          <a:xfrm>
            <a:off x="3050771" y="915152"/>
            <a:ext cx="11238718" cy="7923295"/>
          </a:xfrm>
          <a:prstGeom prst="rect">
            <a:avLst/>
          </a:prstGeom>
        </p:spPr>
      </p:pic>
      <p:sp>
        <p:nvSpPr>
          <p:cNvPr id="4" name="スライド番号プレースホルダー 3">
            <a:extLst>
              <a:ext uri="{FF2B5EF4-FFF2-40B4-BE49-F238E27FC236}">
                <a16:creationId xmlns:a16="http://schemas.microsoft.com/office/drawing/2014/main" id="{09DED05D-94AD-23A2-9BBB-CD058CAC3F2B}"/>
              </a:ext>
            </a:extLst>
          </p:cNvPr>
          <p:cNvSpPr>
            <a:spLocks noGrp="1"/>
          </p:cNvSpPr>
          <p:nvPr>
            <p:ph type="sldNum" sz="quarter" idx="2"/>
          </p:nvPr>
        </p:nvSpPr>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24</a:t>
            </a:fld>
            <a:endParaRPr lang="en-US" altLang="ja-JP" sz="12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47588121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F40A2C-A388-811B-7565-96DD984D280B}"/>
              </a:ext>
            </a:extLst>
          </p:cNvPr>
          <p:cNvSpPr>
            <a:spLocks noGrp="1"/>
          </p:cNvSpPr>
          <p:nvPr>
            <p:ph type="title"/>
          </p:nvPr>
        </p:nvSpPr>
        <p:spPr/>
        <p:txBody>
          <a:bodyPr>
            <a:normAutofit/>
          </a:bodyPr>
          <a:lstStyle/>
          <a:p>
            <a:r>
              <a:rPr kumimoji="1" lang="ja-JP" altLang="en-US" dirty="0">
                <a:latin typeface="ＭＳ Ｐゴシック" panose="020B0600070205080204" pitchFamily="50" charset="-128"/>
                <a:ea typeface="ＭＳ Ｐゴシック" panose="020B0600070205080204" pitchFamily="50" charset="-128"/>
              </a:rPr>
              <a:t>相対価格の違いと貿易</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C0E7F979-3BD9-2F2E-6198-C5049CD6C7C7}"/>
                  </a:ext>
                </a:extLst>
              </p:cNvPr>
              <p:cNvSpPr>
                <a:spLocks noGrp="1"/>
              </p:cNvSpPr>
              <p:nvPr>
                <p:ph type="body" idx="1"/>
              </p:nvPr>
            </p:nvSpPr>
            <p:spPr/>
            <p:txBody>
              <a:bodyPr/>
              <a:lstStyle/>
              <a:p>
                <a:r>
                  <a:rPr lang="ja-JP" altLang="en-US" dirty="0">
                    <a:cs typeface="ＭＳ 明朝" panose="02020609040205080304" pitchFamily="17" charset="-128"/>
                  </a:rPr>
                  <a:t>同様に</a:t>
                </a:r>
                <a:r>
                  <a:rPr lang="en-US" altLang="ja-JP" dirty="0">
                    <a:latin typeface="ＭＳ Ｐゴシック" panose="020B0600070205080204" pitchFamily="50" charset="-128"/>
                    <a:ea typeface="ＭＳ Ｐゴシック" panose="020B0600070205080204" pitchFamily="50" charset="-128"/>
                    <a:cs typeface="ＭＳ 明朝" panose="02020609040205080304" pitchFamily="17" charset="-128"/>
                  </a:rPr>
                  <a:t>, </a:t>
                </a:r>
                <a:r>
                  <a:rPr lang="ja-JP" altLang="ja-JP" dirty="0">
                    <a:cs typeface="ＭＳ 明朝" panose="02020609040205080304" pitchFamily="17" charset="-128"/>
                  </a:rPr>
                  <a:t>メキシコでは</a:t>
                </a:r>
                <a:r>
                  <a:rPr lang="ja-JP" altLang="en-US" dirty="0">
                    <a:cs typeface="ＭＳ 明朝" panose="02020609040205080304" pitchFamily="17" charset="-128"/>
                  </a:rPr>
                  <a:t>，</a:t>
                </a:r>
                <a14:m>
                  <m:oMath xmlns:m="http://schemas.openxmlformats.org/officeDocument/2006/math">
                    <m:r>
                      <a:rPr lang="en-US" altLang="ja-JP" i="1">
                        <a:latin typeface="Cambria Math" panose="02040503050406030204" pitchFamily="18" charset="0"/>
                        <a:cs typeface="ＭＳ 明朝" panose="02020609040205080304" pitchFamily="17" charset="-128"/>
                      </a:rPr>
                      <m:t>𝑀𝑅𝑆</m:t>
                    </m:r>
                    <m:r>
                      <a:rPr lang="en-US" altLang="ja-JP" i="1">
                        <a:latin typeface="Cambria Math" panose="02040503050406030204" pitchFamily="18" charset="0"/>
                        <a:cs typeface="ＭＳ 明朝" panose="02020609040205080304" pitchFamily="17" charset="-128"/>
                      </a:rPr>
                      <m:t>=2</m:t>
                    </m:r>
                  </m:oMath>
                </a14:m>
                <a:r>
                  <a:rPr lang="ja-JP" altLang="ja-JP" dirty="0">
                    <a:cs typeface="ＭＳ 明朝" panose="02020609040205080304" pitchFamily="17" charset="-128"/>
                  </a:rPr>
                  <a:t>であるので</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の相対価格は</a:t>
                </a:r>
                <a:r>
                  <a:rPr lang="en-US" altLang="ja-JP" dirty="0">
                    <a:cs typeface="ＭＳ 明朝" panose="02020609040205080304" pitchFamily="17" charset="-128"/>
                  </a:rPr>
                  <a:t>2</a:t>
                </a:r>
                <a:r>
                  <a:rPr lang="ja-JP" altLang="ja-JP" dirty="0">
                    <a:cs typeface="ＭＳ 明朝" panose="02020609040205080304" pitchFamily="17" charset="-128"/>
                  </a:rPr>
                  <a:t>であり</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１単位は衣服</a:t>
                </a:r>
                <a:r>
                  <a:rPr lang="en-US" altLang="ja-JP" dirty="0">
                    <a:cs typeface="ＭＳ 明朝" panose="02020609040205080304" pitchFamily="17" charset="-128"/>
                  </a:rPr>
                  <a:t>2</a:t>
                </a:r>
                <a:r>
                  <a:rPr lang="ja-JP" altLang="ja-JP" dirty="0">
                    <a:cs typeface="ＭＳ 明朝" panose="02020609040205080304" pitchFamily="17" charset="-128"/>
                  </a:rPr>
                  <a:t>単位の価値。</a:t>
                </a:r>
                <a:endParaRPr lang="en-US" altLang="ja-JP" dirty="0">
                  <a:cs typeface="ＭＳ 明朝" panose="02020609040205080304" pitchFamily="17" charset="-128"/>
                </a:endParaRPr>
              </a:p>
              <a:p>
                <a:r>
                  <a:rPr lang="ja-JP" altLang="ja-JP" dirty="0">
                    <a:cs typeface="ＭＳ 明朝" panose="02020609040205080304" pitchFamily="17" charset="-128"/>
                  </a:rPr>
                  <a:t>アメリカでは</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の生産量が相対的に多いため</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の相対的な価値が低く</a:t>
                </a:r>
                <a:r>
                  <a:rPr lang="ja-JP" altLang="en-US" dirty="0">
                    <a:cs typeface="ＭＳ 明朝" panose="02020609040205080304" pitchFamily="17" charset="-128"/>
                  </a:rPr>
                  <a:t>，</a:t>
                </a:r>
                <a:r>
                  <a:rPr lang="ja-JP" altLang="ja-JP" dirty="0">
                    <a:cs typeface="ＭＳ 明朝" panose="02020609040205080304" pitchFamily="17" charset="-128"/>
                  </a:rPr>
                  <a:t>メキシコでは</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の生産量が相対的に少ないため</a:t>
                </a:r>
                <a:r>
                  <a:rPr lang="ja-JP" altLang="en-US" dirty="0">
                    <a:cs typeface="ＭＳ 明朝" panose="02020609040205080304" pitchFamily="17" charset="-128"/>
                  </a:rPr>
                  <a:t>，</a:t>
                </a:r>
                <a:r>
                  <a:rPr lang="en-US" altLang="ja-JP" dirty="0">
                    <a:cs typeface="ＭＳ 明朝" panose="02020609040205080304" pitchFamily="17" charset="-128"/>
                  </a:rPr>
                  <a:t>PC</a:t>
                </a:r>
                <a:r>
                  <a:rPr lang="ja-JP" altLang="ja-JP" dirty="0">
                    <a:cs typeface="ＭＳ 明朝" panose="02020609040205080304" pitchFamily="17" charset="-128"/>
                  </a:rPr>
                  <a:t>の相対的な価値が低くなっている。</a:t>
                </a:r>
                <a:endParaRPr lang="en-US" altLang="ja-JP" dirty="0">
                  <a:cs typeface="ＭＳ 明朝" panose="02020609040205080304" pitchFamily="17" charset="-128"/>
                </a:endParaRPr>
              </a:p>
              <a:p>
                <a:pPr marL="0" indent="0">
                  <a:buNone/>
                </a:pPr>
                <a:r>
                  <a:rPr lang="en-US" altLang="ja-JP" dirty="0">
                    <a:cs typeface="ＭＳ 明朝" panose="02020609040205080304" pitchFamily="17" charset="-128"/>
                    <a:sym typeface="Wingdings" panose="05000000000000000000" pitchFamily="2" charset="2"/>
                  </a:rPr>
                  <a:t></a:t>
                </a:r>
                <a:r>
                  <a:rPr lang="ja-JP" altLang="en-US" dirty="0">
                    <a:cs typeface="ＭＳ 明朝" panose="02020609040205080304" pitchFamily="17" charset="-128"/>
                    <a:sym typeface="Wingdings" panose="05000000000000000000" pitchFamily="2" charset="2"/>
                  </a:rPr>
                  <a:t>アメリカとメキシコの間で相対価格の違いを利用し</a:t>
                </a:r>
                <a:r>
                  <a:rPr lang="en-US" altLang="ja-JP" dirty="0">
                    <a:cs typeface="ＭＳ 明朝" panose="02020609040205080304" pitchFamily="17" charset="-128"/>
                    <a:sym typeface="Wingdings" panose="05000000000000000000" pitchFamily="2" charset="2"/>
                  </a:rPr>
                  <a:t>, </a:t>
                </a:r>
                <a:r>
                  <a:rPr lang="ja-JP" altLang="en-US" dirty="0">
                    <a:cs typeface="ＭＳ 明朝" panose="02020609040205080304" pitchFamily="17" charset="-128"/>
                    <a:sym typeface="Wingdings" panose="05000000000000000000" pitchFamily="2" charset="2"/>
                  </a:rPr>
                  <a:t>貿易行う動機が生まれる。</a:t>
                </a:r>
                <a:endParaRPr lang="en-US" altLang="ja-JP" dirty="0">
                  <a:cs typeface="ＭＳ 明朝" panose="02020609040205080304" pitchFamily="17" charset="-128"/>
                </a:endParaRPr>
              </a:p>
              <a:p>
                <a:endParaRPr kumimoji="1" lang="ja-JP" altLang="en-US" dirty="0">
                  <a:latin typeface="ＭＳ Ｐゴシック" panose="020B0600070205080204" pitchFamily="50" charset="-128"/>
                  <a:ea typeface="ＭＳ Ｐゴシック" panose="020B0600070205080204" pitchFamily="50" charset="-128"/>
                </a:endParaRPr>
              </a:p>
            </p:txBody>
          </p:sp>
        </mc:Choice>
        <mc:Fallback xmlns="">
          <p:sp>
            <p:nvSpPr>
              <p:cNvPr id="3" name="テキスト プレースホルダー 2">
                <a:extLst>
                  <a:ext uri="{FF2B5EF4-FFF2-40B4-BE49-F238E27FC236}">
                    <a16:creationId xmlns:a16="http://schemas.microsoft.com/office/drawing/2014/main" id="{C0E7F979-3BD9-2F2E-6198-C5049CD6C7C7}"/>
                  </a:ext>
                </a:extLst>
              </p:cNvPr>
              <p:cNvSpPr>
                <a:spLocks noGrp="1" noRot="1" noChangeAspect="1" noMove="1" noResize="1" noEditPoints="1" noAdjustHandles="1" noChangeArrowheads="1" noChangeShapeType="1" noTextEdit="1"/>
              </p:cNvSpPr>
              <p:nvPr>
                <p:ph type="body" idx="1"/>
              </p:nvPr>
            </p:nvSpPr>
            <p:spPr>
              <a:blipFill>
                <a:blip r:embed="rId2"/>
                <a:stretch>
                  <a:fillRect l="-2197" r="-142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4EF8C385-83E4-0A61-8967-DAFCB2C3973E}"/>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25</a:t>
            </a:fld>
            <a:endParaRPr lang="ja-JP" altLang="en-US"/>
          </a:p>
        </p:txBody>
      </p:sp>
    </p:spTree>
    <p:extLst>
      <p:ext uri="{BB962C8B-B14F-4D97-AF65-F5344CB8AC3E}">
        <p14:creationId xmlns:p14="http://schemas.microsoft.com/office/powerpoint/2010/main" val="327705611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95A914-A903-641E-AE77-08969062CEB5}"/>
              </a:ext>
            </a:extLst>
          </p:cNvPr>
          <p:cNvSpPr>
            <a:spLocks noGrp="1"/>
          </p:cNvSpPr>
          <p:nvPr>
            <p:ph type="title"/>
          </p:nvPr>
        </p:nvSpPr>
        <p:spPr/>
        <p:txBody>
          <a:bodyPr/>
          <a:lstStyle/>
          <a:p>
            <a:r>
              <a:rPr kumimoji="1" lang="ja-JP" altLang="en-US" dirty="0">
                <a:latin typeface="ＭＳ Ｐゴシック" panose="020B0600070205080204" pitchFamily="50" charset="-128"/>
                <a:ea typeface="ＭＳ Ｐゴシック" panose="020B0600070205080204" pitchFamily="50" charset="-128"/>
              </a:rPr>
              <a:t>交易条件</a:t>
            </a:r>
          </a:p>
        </p:txBody>
      </p:sp>
      <p:sp>
        <p:nvSpPr>
          <p:cNvPr id="3" name="テキスト プレースホルダー 2">
            <a:extLst>
              <a:ext uri="{FF2B5EF4-FFF2-40B4-BE49-F238E27FC236}">
                <a16:creationId xmlns:a16="http://schemas.microsoft.com/office/drawing/2014/main" id="{3CDE88A7-87AE-E831-92AA-0313850A8074}"/>
              </a:ext>
            </a:extLst>
          </p:cNvPr>
          <p:cNvSpPr>
            <a:spLocks noGrp="1"/>
          </p:cNvSpPr>
          <p:nvPr>
            <p:ph type="body" idx="1"/>
          </p:nvPr>
        </p:nvSpPr>
        <p:spPr/>
        <p:txBody>
          <a:bodyPr/>
          <a:lstStyle/>
          <a:p>
            <a:r>
              <a:rPr lang="ja-JP" altLang="en-US" dirty="0">
                <a:latin typeface="ＭＳ Ｐゴシック" panose="020B0600070205080204" pitchFamily="50" charset="-128"/>
                <a:ea typeface="ＭＳ Ｐゴシック" panose="020B0600070205080204" pitchFamily="50" charset="-128"/>
              </a:rPr>
              <a:t>交易条件：貿易の際の交換比率のこと。</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交易条件は，</a:t>
            </a:r>
            <a:r>
              <a:rPr lang="en-US" altLang="ja-JP" dirty="0">
                <a:latin typeface="ＭＳ Ｐゴシック" panose="020B0600070205080204" pitchFamily="50" charset="-128"/>
                <a:ea typeface="ＭＳ Ｐゴシック" panose="020B0600070205080204" pitchFamily="50" charset="-128"/>
              </a:rPr>
              <a:t>PC1 </a:t>
            </a:r>
            <a:r>
              <a:rPr lang="ja-JP" altLang="en-US" dirty="0">
                <a:latin typeface="ＭＳ Ｐゴシック" panose="020B0600070205080204" pitchFamily="50" charset="-128"/>
                <a:ea typeface="ＭＳ Ｐゴシック" panose="020B0600070205080204" pitchFamily="50" charset="-128"/>
              </a:rPr>
              <a:t>単位＝衣服 </a:t>
            </a:r>
            <a:r>
              <a:rPr lang="en-US" altLang="ja-JP" dirty="0">
                <a:latin typeface="ＭＳ Ｐゴシック" panose="020B0600070205080204" pitchFamily="50" charset="-128"/>
                <a:ea typeface="ＭＳ Ｐゴシック" panose="020B0600070205080204" pitchFamily="50" charset="-128"/>
              </a:rPr>
              <a:t>2/3 </a:t>
            </a:r>
            <a:r>
              <a:rPr lang="ja-JP" altLang="en-US" dirty="0">
                <a:latin typeface="ＭＳ Ｐゴシック" panose="020B0600070205080204" pitchFamily="50" charset="-128"/>
                <a:ea typeface="ＭＳ Ｐゴシック" panose="020B0600070205080204" pitchFamily="50" charset="-128"/>
              </a:rPr>
              <a:t>単位～</a:t>
            </a:r>
            <a:r>
              <a:rPr lang="en-US" altLang="ja-JP" dirty="0">
                <a:latin typeface="ＭＳ Ｐゴシック" panose="020B0600070205080204" pitchFamily="50" charset="-128"/>
                <a:ea typeface="ＭＳ Ｐゴシック" panose="020B0600070205080204" pitchFamily="50" charset="-128"/>
              </a:rPr>
              <a:t>2 </a:t>
            </a:r>
            <a:r>
              <a:rPr lang="ja-JP" altLang="en-US" dirty="0">
                <a:latin typeface="ＭＳ Ｐゴシック" panose="020B0600070205080204" pitchFamily="50" charset="-128"/>
                <a:ea typeface="ＭＳ Ｐゴシック" panose="020B0600070205080204" pitchFamily="50" charset="-128"/>
              </a:rPr>
              <a:t>単位。</a:t>
            </a:r>
            <a:endParaRPr lang="en-US" altLang="ja-JP" dirty="0">
              <a:latin typeface="ＭＳ Ｐゴシック" panose="020B0600070205080204" pitchFamily="50" charset="-128"/>
              <a:ea typeface="ＭＳ Ｐゴシック" panose="020B0600070205080204" pitchFamily="50" charset="-128"/>
            </a:endParaRPr>
          </a:p>
          <a:p>
            <a:r>
              <a:rPr lang="ja-JP" altLang="en-US" dirty="0">
                <a:latin typeface="ＭＳ Ｐゴシック" panose="020B0600070205080204" pitchFamily="50" charset="-128"/>
                <a:ea typeface="ＭＳ Ｐゴシック" panose="020B0600070205080204" pitchFamily="50" charset="-128"/>
              </a:rPr>
              <a:t>アメリカとメキシコ両国の間で，</a:t>
            </a:r>
            <a:r>
              <a:rPr lang="en-US" altLang="ja-JP" dirty="0">
                <a:latin typeface="ＭＳ Ｐゴシック" panose="020B0600070205080204" pitchFamily="50" charset="-128"/>
                <a:ea typeface="ＭＳ Ｐゴシック" panose="020B0600070205080204" pitchFamily="50" charset="-128"/>
              </a:rPr>
              <a:t>PC1 </a:t>
            </a:r>
            <a:r>
              <a:rPr lang="ja-JP" altLang="en-US" dirty="0">
                <a:latin typeface="ＭＳ Ｐゴシック" panose="020B0600070205080204" pitchFamily="50" charset="-128"/>
                <a:ea typeface="ＭＳ Ｐゴシック" panose="020B0600070205080204" pitchFamily="50" charset="-128"/>
              </a:rPr>
              <a:t>単位に対して，たとえば </a:t>
            </a:r>
            <a:r>
              <a:rPr lang="en-US" altLang="ja-JP" dirty="0">
                <a:latin typeface="ＭＳ Ｐゴシック" panose="020B0600070205080204" pitchFamily="50" charset="-128"/>
                <a:ea typeface="ＭＳ Ｐゴシック" panose="020B0600070205080204" pitchFamily="50" charset="-128"/>
              </a:rPr>
              <a:t>1 </a:t>
            </a:r>
            <a:r>
              <a:rPr lang="ja-JP" altLang="en-US" dirty="0">
                <a:latin typeface="ＭＳ Ｐゴシック" panose="020B0600070205080204" pitchFamily="50" charset="-128"/>
                <a:ea typeface="ＭＳ Ｐゴシック" panose="020B0600070205080204" pitchFamily="50" charset="-128"/>
              </a:rPr>
              <a:t>単位の 衣服が交換されるならば，両国が貿易を行うことによる利益が生じる。</a:t>
            </a:r>
            <a:endParaRPr lang="ja-JP" altLang="ja-JP" dirty="0"/>
          </a:p>
        </p:txBody>
      </p:sp>
      <p:sp>
        <p:nvSpPr>
          <p:cNvPr id="4" name="スライド番号プレースホルダー 3">
            <a:extLst>
              <a:ext uri="{FF2B5EF4-FFF2-40B4-BE49-F238E27FC236}">
                <a16:creationId xmlns:a16="http://schemas.microsoft.com/office/drawing/2014/main" id="{CDF64EE4-7632-FCCB-C114-7CD67D7293C6}"/>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26</a:t>
            </a:fld>
            <a:endParaRPr lang="ja-JP" altLang="en-US"/>
          </a:p>
        </p:txBody>
      </p:sp>
    </p:spTree>
    <p:extLst>
      <p:ext uri="{BB962C8B-B14F-4D97-AF65-F5344CB8AC3E}">
        <p14:creationId xmlns:p14="http://schemas.microsoft.com/office/powerpoint/2010/main" val="186630560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D3FD31-C8A0-E6ED-C1C1-8EF60C43EEDC}"/>
              </a:ext>
            </a:extLst>
          </p:cNvPr>
          <p:cNvSpPr>
            <a:spLocks noGrp="1"/>
          </p:cNvSpPr>
          <p:nvPr>
            <p:ph type="title"/>
          </p:nvPr>
        </p:nvSpPr>
        <p:spPr/>
        <p:txBody>
          <a:bodyPr>
            <a:noAutofit/>
          </a:bodyPr>
          <a:lstStyle/>
          <a:p>
            <a:r>
              <a:rPr lang="ja-JP" altLang="en-US" sz="6600" dirty="0"/>
              <a:t>ヘクシャー </a:t>
            </a:r>
            <a:r>
              <a:rPr lang="en-US" altLang="ja-JP" sz="6600" dirty="0"/>
              <a:t>= </a:t>
            </a:r>
            <a:r>
              <a:rPr lang="ja-JP" altLang="en-US" sz="6600" dirty="0"/>
              <a:t>オリーン定理</a:t>
            </a:r>
            <a:endParaRPr kumimoji="1" lang="ja-JP" altLang="en-US" sz="6600" dirty="0"/>
          </a:p>
        </p:txBody>
      </p:sp>
      <p:sp>
        <p:nvSpPr>
          <p:cNvPr id="3" name="テキスト プレースホルダー 2">
            <a:extLst>
              <a:ext uri="{FF2B5EF4-FFF2-40B4-BE49-F238E27FC236}">
                <a16:creationId xmlns:a16="http://schemas.microsoft.com/office/drawing/2014/main" id="{E71A24AF-4596-A12A-9C3C-690FEE37FD44}"/>
              </a:ext>
            </a:extLst>
          </p:cNvPr>
          <p:cNvSpPr>
            <a:spLocks noGrp="1"/>
          </p:cNvSpPr>
          <p:nvPr>
            <p:ph type="body" idx="1"/>
          </p:nvPr>
        </p:nvSpPr>
        <p:spPr/>
        <p:txBody>
          <a:bodyPr/>
          <a:lstStyle/>
          <a:p>
            <a:pPr marL="0" indent="0">
              <a:buNone/>
            </a:pPr>
            <a:r>
              <a:rPr lang="ja-JP" altLang="en-US" dirty="0">
                <a:latin typeface="ＭＳ Ｐゴシック" panose="020B0600070205080204" pitchFamily="50" charset="-128"/>
                <a:ea typeface="ＭＳ Ｐゴシック" panose="020B0600070205080204" pitchFamily="50" charset="-128"/>
              </a:rPr>
              <a:t>「各国が自国に豊富に存在する生産要素を集約的に用いて生産する財を輸出し，その他の財を輸入する」</a:t>
            </a:r>
            <a:endParaRPr lang="en-US" altLang="ja-JP" dirty="0">
              <a:latin typeface="ＭＳ Ｐゴシック" panose="020B0600070205080204" pitchFamily="50" charset="-128"/>
              <a:ea typeface="ＭＳ Ｐゴシック" panose="020B0600070205080204" pitchFamily="50" charset="-128"/>
            </a:endParaRPr>
          </a:p>
          <a:p>
            <a:pPr marL="0" indent="0">
              <a:buNone/>
            </a:pPr>
            <a:r>
              <a:rPr lang="ja-JP" altLang="en-US" u="sng" dirty="0">
                <a:solidFill>
                  <a:schemeClr val="accent5"/>
                </a:solidFill>
                <a:latin typeface="ＭＳ Ｐゴシック" panose="020B0600070205080204" pitchFamily="50" charset="-128"/>
                <a:ea typeface="ＭＳ Ｐゴシック" panose="020B0600070205080204" pitchFamily="50" charset="-128"/>
              </a:rPr>
              <a:t>大卒豊富国</a:t>
            </a:r>
            <a:r>
              <a:rPr lang="ja-JP" altLang="en-US" u="sng" dirty="0">
                <a:latin typeface="ＭＳ Ｐゴシック" panose="020B0600070205080204" pitchFamily="50" charset="-128"/>
                <a:ea typeface="ＭＳ Ｐゴシック" panose="020B0600070205080204" pitchFamily="50" charset="-128"/>
              </a:rPr>
              <a:t>であるアメリカ </a:t>
            </a:r>
            <a:endParaRPr lang="en-US" altLang="ja-JP" u="sng" dirty="0">
              <a:latin typeface="ＭＳ Ｐゴシック" panose="020B0600070205080204" pitchFamily="50" charset="-128"/>
              <a:ea typeface="ＭＳ Ｐゴシック" panose="020B0600070205080204" pitchFamily="50" charset="-128"/>
            </a:endParaRPr>
          </a:p>
          <a:p>
            <a:pPr marL="0" indent="0">
              <a:buNone/>
            </a:pPr>
            <a:r>
              <a:rPr lang="ja-JP" altLang="en-US" dirty="0">
                <a:solidFill>
                  <a:schemeClr val="accent5"/>
                </a:solidFill>
                <a:latin typeface="ＭＳ Ｐゴシック" panose="020B0600070205080204" pitchFamily="50" charset="-128"/>
                <a:ea typeface="ＭＳ Ｐゴシック" panose="020B0600070205080204" pitchFamily="50" charset="-128"/>
              </a:rPr>
              <a:t>大卒集約財（</a:t>
            </a:r>
            <a:r>
              <a:rPr lang="en-US" altLang="ja-JP" dirty="0">
                <a:solidFill>
                  <a:schemeClr val="accent5"/>
                </a:solidFill>
                <a:latin typeface="ＭＳ Ｐゴシック" panose="020B0600070205080204" pitchFamily="50" charset="-128"/>
                <a:ea typeface="ＭＳ Ｐゴシック" panose="020B0600070205080204" pitchFamily="50" charset="-128"/>
              </a:rPr>
              <a:t>PC</a:t>
            </a:r>
            <a:r>
              <a:rPr lang="ja-JP" altLang="en-US" dirty="0">
                <a:solidFill>
                  <a:schemeClr val="accent5"/>
                </a:solidFill>
                <a:latin typeface="ＭＳ Ｐゴシック" panose="020B0600070205080204" pitchFamily="50" charset="-128"/>
                <a:ea typeface="ＭＳ Ｐゴシック" panose="020B0600070205080204" pitchFamily="50" charset="-128"/>
              </a:rPr>
              <a:t>）</a:t>
            </a:r>
            <a:r>
              <a:rPr lang="ja-JP" altLang="en-US" dirty="0">
                <a:latin typeface="ＭＳ Ｐゴシック" panose="020B0600070205080204" pitchFamily="50" charset="-128"/>
                <a:ea typeface="ＭＳ Ｐゴシック" panose="020B0600070205080204" pitchFamily="50" charset="-128"/>
              </a:rPr>
              <a:t>に比較優位を持ち，大卒集約財を輸出</a:t>
            </a:r>
            <a:endParaRPr lang="en-US" altLang="ja-JP" dirty="0">
              <a:latin typeface="ＭＳ Ｐゴシック" panose="020B0600070205080204" pitchFamily="50" charset="-128"/>
              <a:ea typeface="ＭＳ Ｐゴシック" panose="020B0600070205080204" pitchFamily="50" charset="-128"/>
            </a:endParaRPr>
          </a:p>
          <a:p>
            <a:pPr marL="0" indent="0">
              <a:buNone/>
            </a:pPr>
            <a:r>
              <a:rPr lang="ja-JP" altLang="en-US" u="sng" dirty="0">
                <a:solidFill>
                  <a:schemeClr val="accent3"/>
                </a:solidFill>
                <a:latin typeface="ＭＳ Ｐゴシック" panose="020B0600070205080204" pitchFamily="50" charset="-128"/>
                <a:ea typeface="ＭＳ Ｐゴシック" panose="020B0600070205080204" pitchFamily="50" charset="-128"/>
              </a:rPr>
              <a:t>高卒豊富国</a:t>
            </a:r>
            <a:r>
              <a:rPr lang="ja-JP" altLang="en-US" u="sng" dirty="0">
                <a:latin typeface="ＭＳ Ｐゴシック" panose="020B0600070205080204" pitchFamily="50" charset="-128"/>
                <a:ea typeface="ＭＳ Ｐゴシック" panose="020B0600070205080204" pitchFamily="50" charset="-128"/>
              </a:rPr>
              <a:t>であるメキシコ</a:t>
            </a:r>
            <a:endParaRPr lang="en-US" altLang="ja-JP" u="sng" dirty="0">
              <a:latin typeface="ＭＳ Ｐゴシック" panose="020B0600070205080204" pitchFamily="50" charset="-128"/>
              <a:ea typeface="ＭＳ Ｐゴシック" panose="020B0600070205080204" pitchFamily="50" charset="-128"/>
            </a:endParaRPr>
          </a:p>
          <a:p>
            <a:pPr marL="0" indent="0">
              <a:buNone/>
            </a:pPr>
            <a:r>
              <a:rPr lang="ja-JP" altLang="en-US" dirty="0">
                <a:solidFill>
                  <a:schemeClr val="accent3"/>
                </a:solidFill>
                <a:latin typeface="ＭＳ Ｐゴシック" panose="020B0600070205080204" pitchFamily="50" charset="-128"/>
                <a:ea typeface="ＭＳ Ｐゴシック" panose="020B0600070205080204" pitchFamily="50" charset="-128"/>
              </a:rPr>
              <a:t>高卒集約財（衣服）</a:t>
            </a:r>
            <a:r>
              <a:rPr lang="ja-JP" altLang="en-US" dirty="0">
                <a:latin typeface="ＭＳ Ｐゴシック" panose="020B0600070205080204" pitchFamily="50" charset="-128"/>
                <a:ea typeface="ＭＳ Ｐゴシック" panose="020B0600070205080204" pitchFamily="50" charset="-128"/>
              </a:rPr>
              <a:t>に比較優位を持ち，高卒集約財を輸出。</a:t>
            </a:r>
            <a:endParaRPr kumimoji="1" lang="en-US" altLang="ja-JP"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id="{CA3144B3-E643-CE4D-6331-8579EBB315B2}"/>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27</a:t>
            </a:fld>
            <a:endParaRPr lang="ja-JP" altLang="en-US"/>
          </a:p>
        </p:txBody>
      </p:sp>
    </p:spTree>
    <p:extLst>
      <p:ext uri="{BB962C8B-B14F-4D97-AF65-F5344CB8AC3E}">
        <p14:creationId xmlns:p14="http://schemas.microsoft.com/office/powerpoint/2010/main" val="288503468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7722B0-2052-BB5B-3F01-FEC04BAD5A55}"/>
              </a:ext>
            </a:extLst>
          </p:cNvPr>
          <p:cNvSpPr>
            <a:spLocks noGrp="1"/>
          </p:cNvSpPr>
          <p:nvPr>
            <p:ph type="title"/>
          </p:nvPr>
        </p:nvSpPr>
        <p:spPr/>
        <p:txBody>
          <a:bodyPr/>
          <a:lstStyle/>
          <a:p>
            <a:r>
              <a:rPr kumimoji="1" lang="ja-JP" altLang="en-US" dirty="0">
                <a:latin typeface="ＭＳ Ｐゴシック" panose="020B0600070205080204" pitchFamily="50" charset="-128"/>
                <a:ea typeface="ＭＳ Ｐゴシック" panose="020B0600070205080204" pitchFamily="50" charset="-128"/>
              </a:rPr>
              <a:t>貿易</a:t>
            </a:r>
          </a:p>
        </p:txBody>
      </p:sp>
      <p:sp>
        <p:nvSpPr>
          <p:cNvPr id="3" name="テキスト プレースホルダー 2">
            <a:extLst>
              <a:ext uri="{FF2B5EF4-FFF2-40B4-BE49-F238E27FC236}">
                <a16:creationId xmlns:a16="http://schemas.microsoft.com/office/drawing/2014/main" id="{4DF9B2B5-D797-6003-568C-7BE9B8B21AE0}"/>
              </a:ext>
            </a:extLst>
          </p:cNvPr>
          <p:cNvSpPr>
            <a:spLocks noGrp="1"/>
          </p:cNvSpPr>
          <p:nvPr>
            <p:ph type="body" idx="1"/>
          </p:nvPr>
        </p:nvSpPr>
        <p:spPr/>
        <p:txBody>
          <a:bodyPr/>
          <a:lstStyle/>
          <a:p>
            <a:r>
              <a:rPr kumimoji="1" lang="ja-JP" altLang="en-US" dirty="0">
                <a:latin typeface="ＭＳ Ｐゴシック" panose="020B0600070205080204" pitchFamily="50" charset="-128"/>
                <a:ea typeface="ＭＳ Ｐゴシック" panose="020B0600070205080204" pitchFamily="50" charset="-128"/>
              </a:rPr>
              <a:t>仮定：アメリカが</a:t>
            </a:r>
            <a:r>
              <a:rPr lang="ja-JP" altLang="en-US" dirty="0">
                <a:latin typeface="ＭＳ Ｐゴシック" panose="020B0600070205080204" pitchFamily="50" charset="-128"/>
                <a:ea typeface="ＭＳ Ｐゴシック" panose="020B0600070205080204" pitchFamily="50" charset="-128"/>
              </a:rPr>
              <a:t>メキシコに </a:t>
            </a:r>
            <a:r>
              <a:rPr lang="en-US" altLang="ja-JP" dirty="0">
                <a:latin typeface="ＭＳ Ｐゴシック" panose="020B0600070205080204" pitchFamily="50" charset="-128"/>
                <a:ea typeface="ＭＳ Ｐゴシック" panose="020B0600070205080204" pitchFamily="50" charset="-128"/>
              </a:rPr>
              <a:t>PC50 </a:t>
            </a:r>
            <a:r>
              <a:rPr lang="ja-JP" altLang="en-US" dirty="0">
                <a:latin typeface="ＭＳ Ｐゴシック" panose="020B0600070205080204" pitchFamily="50" charset="-128"/>
                <a:ea typeface="ＭＳ Ｐゴシック" panose="020B0600070205080204" pitchFamily="50" charset="-128"/>
              </a:rPr>
              <a:t>単位を輸出し，メキシコから衣服 </a:t>
            </a:r>
            <a:r>
              <a:rPr lang="en-US" altLang="ja-JP" dirty="0">
                <a:latin typeface="ＭＳ Ｐゴシック" panose="020B0600070205080204" pitchFamily="50" charset="-128"/>
                <a:ea typeface="ＭＳ Ｐゴシック" panose="020B0600070205080204" pitchFamily="50" charset="-128"/>
              </a:rPr>
              <a:t>50 </a:t>
            </a:r>
            <a:r>
              <a:rPr lang="ja-JP" altLang="en-US" dirty="0">
                <a:latin typeface="ＭＳ Ｐゴシック" panose="020B0600070205080204" pitchFamily="50" charset="-128"/>
                <a:ea typeface="ＭＳ Ｐゴシック" panose="020B0600070205080204" pitchFamily="50" charset="-128"/>
              </a:rPr>
              <a:t>単位を輸入</a:t>
            </a:r>
            <a:endParaRPr lang="en-US" altLang="ja-JP" dirty="0">
              <a:latin typeface="ＭＳ Ｐゴシック" panose="020B0600070205080204" pitchFamily="50" charset="-128"/>
              <a:ea typeface="ＭＳ Ｐゴシック" panose="020B0600070205080204" pitchFamily="50" charset="-128"/>
            </a:endParaRPr>
          </a:p>
          <a:p>
            <a:pPr marL="0" indent="0">
              <a:buNone/>
            </a:pPr>
            <a:r>
              <a:rPr kumimoji="1" lang="ja-JP" altLang="en-US" dirty="0">
                <a:latin typeface="ＭＳ Ｐゴシック" panose="020B0600070205080204" pitchFamily="50" charset="-128"/>
                <a:ea typeface="ＭＳ Ｐゴシック" panose="020B0600070205080204" pitchFamily="50" charset="-128"/>
              </a:rPr>
              <a:t>・・・貿易により双方が利益を得る交易条件になっている</a:t>
            </a:r>
          </a:p>
        </p:txBody>
      </p:sp>
      <p:sp>
        <p:nvSpPr>
          <p:cNvPr id="4" name="スライド番号プレースホルダー 3">
            <a:extLst>
              <a:ext uri="{FF2B5EF4-FFF2-40B4-BE49-F238E27FC236}">
                <a16:creationId xmlns:a16="http://schemas.microsoft.com/office/drawing/2014/main" id="{7D1CFA04-D3DD-4ABF-8B5A-AE97984C3B1D}"/>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28</a:t>
            </a:fld>
            <a:endParaRPr lang="ja-JP" altLang="en-US"/>
          </a:p>
        </p:txBody>
      </p:sp>
    </p:spTree>
    <p:extLst>
      <p:ext uri="{BB962C8B-B14F-4D97-AF65-F5344CB8AC3E}">
        <p14:creationId xmlns:p14="http://schemas.microsoft.com/office/powerpoint/2010/main" val="126068167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81F52B4-AA9A-9ACC-12CA-092B4BEE6611}"/>
              </a:ext>
            </a:extLst>
          </p:cNvPr>
          <p:cNvSpPr>
            <a:spLocks noGrp="1"/>
          </p:cNvSpPr>
          <p:nvPr>
            <p:ph type="sldNum" sz="quarter" idx="2"/>
          </p:nvPr>
        </p:nvSpPr>
        <p:spPr>
          <a:xfrm>
            <a:off x="11352371" y="9040143"/>
            <a:ext cx="2926080" cy="519289"/>
          </a:xfrm>
        </p:spPr>
        <p:txBody>
          <a:bodyPr vert="horz" wrap="none" lIns="91440" tIns="45720" rIns="91440" bIns="45720" rtlCol="0" anchor="ctr">
            <a:normAutofit/>
          </a:bodyPr>
          <a:lstStyle/>
          <a:p>
            <a:pPr algn="r" defTabSz="914400" hangingPunct="1">
              <a:spcAft>
                <a:spcPts val="600"/>
              </a:spcAft>
            </a:pPr>
            <a:fld id="{86CB4B4D-7CA3-9044-876B-883B54F8677D}" type="slidenum">
              <a:rPr lang="en-US" altLang="ja-JP" sz="1200" kern="1200">
                <a:solidFill>
                  <a:schemeClr val="tx1">
                    <a:tint val="75000"/>
                  </a:schemeClr>
                </a:solidFill>
                <a:latin typeface="+mn-lt"/>
                <a:ea typeface="+mn-ea"/>
                <a:cs typeface="+mn-cs"/>
              </a:rPr>
              <a:pPr algn="r" defTabSz="914400" hangingPunct="1">
                <a:spcAft>
                  <a:spcPts val="600"/>
                </a:spcAft>
              </a:pPr>
              <a:t>29</a:t>
            </a:fld>
            <a:endParaRPr lang="en-US" altLang="ja-JP" sz="1200" kern="1200">
              <a:solidFill>
                <a:schemeClr val="tx1">
                  <a:tint val="75000"/>
                </a:schemeClr>
              </a:solidFill>
              <a:latin typeface="+mn-lt"/>
              <a:ea typeface="+mn-ea"/>
              <a:cs typeface="+mn-cs"/>
            </a:endParaRPr>
          </a:p>
        </p:txBody>
      </p:sp>
      <p:pic>
        <p:nvPicPr>
          <p:cNvPr id="3" name="図 2">
            <a:extLst>
              <a:ext uri="{FF2B5EF4-FFF2-40B4-BE49-F238E27FC236}">
                <a16:creationId xmlns:a16="http://schemas.microsoft.com/office/drawing/2014/main" id="{8399F7DA-C840-D00A-724F-0B4710911BDA}"/>
              </a:ext>
            </a:extLst>
          </p:cNvPr>
          <p:cNvPicPr>
            <a:picLocks noChangeAspect="1"/>
          </p:cNvPicPr>
          <p:nvPr/>
        </p:nvPicPr>
        <p:blipFill>
          <a:blip r:embed="rId2"/>
          <a:stretch>
            <a:fillRect/>
          </a:stretch>
        </p:blipFill>
        <p:spPr>
          <a:xfrm>
            <a:off x="2711154" y="600889"/>
            <a:ext cx="11400064" cy="7667900"/>
          </a:xfrm>
          <a:prstGeom prst="rect">
            <a:avLst/>
          </a:prstGeom>
        </p:spPr>
      </p:pic>
    </p:spTree>
    <p:extLst>
      <p:ext uri="{BB962C8B-B14F-4D97-AF65-F5344CB8AC3E}">
        <p14:creationId xmlns:p14="http://schemas.microsoft.com/office/powerpoint/2010/main" val="329177965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レオンチェフの逆説"/>
          <p:cNvSpPr txBox="1">
            <a:spLocks noGrp="1"/>
          </p:cNvSpPr>
          <p:nvPr>
            <p:ph type="title"/>
          </p:nvPr>
        </p:nvSpPr>
        <p:spPr>
          <a:prstGeom prst="rect">
            <a:avLst/>
          </a:prstGeom>
        </p:spPr>
        <p:txBody>
          <a:bodyPr/>
          <a:lstStyle>
            <a:lvl1pPr>
              <a:defRPr>
                <a:solidFill>
                  <a:srgbClr val="0433FF"/>
                </a:solidFill>
              </a:defRPr>
            </a:lvl1pPr>
          </a:lstStyle>
          <a:p>
            <a:r>
              <a:rPr lang="ja-JP" altLang="en-US" dirty="0">
                <a:solidFill>
                  <a:schemeClr val="tx1"/>
                </a:solidFill>
                <a:latin typeface="ＭＳ Ｐゴシック" panose="020B0600070205080204" pitchFamily="50" charset="-128"/>
                <a:ea typeface="ＭＳ Ｐゴシック" panose="020B0600070205080204" pitchFamily="50" charset="-128"/>
              </a:rPr>
              <a:t>レオンチェフの逆説</a:t>
            </a:r>
            <a:endParaRPr dirty="0">
              <a:solidFill>
                <a:schemeClr val="tx1"/>
              </a:solidFill>
              <a:latin typeface="ＭＳ Ｐゴシック" panose="020B0600070205080204" pitchFamily="50" charset="-128"/>
              <a:ea typeface="ＭＳ Ｐゴシック" panose="020B0600070205080204" pitchFamily="50" charset="-128"/>
            </a:endParaRPr>
          </a:p>
        </p:txBody>
      </p:sp>
      <p:sp>
        <p:nvSpPr>
          <p:cNvPr id="192" name="・・・資本豊富なUSにおいて、輸出よりも輸入が…"/>
          <p:cNvSpPr txBox="1">
            <a:spLocks noGrp="1"/>
          </p:cNvSpPr>
          <p:nvPr>
            <p:ph type="body" idx="1"/>
          </p:nvPr>
        </p:nvSpPr>
        <p:spPr>
          <a:prstGeom prst="rect">
            <a:avLst/>
          </a:prstGeom>
        </p:spPr>
        <p:txBody>
          <a:bodyPr anchor="t">
            <a:normAutofit/>
          </a:bodyPr>
          <a:lstStyle/>
          <a:p>
            <a:pPr marL="0" indent="0" defTabSz="537463">
              <a:spcBef>
                <a:spcPts val="3800"/>
              </a:spcBef>
              <a:buSzTx/>
              <a:buNone/>
              <a:defRPr sz="2944"/>
            </a:pPr>
            <a:r>
              <a:rPr lang="ja-JP" altLang="en-US" dirty="0">
                <a:solidFill>
                  <a:schemeClr val="tx1"/>
                </a:solidFill>
                <a:latin typeface="ＭＳ Ｐゴシック" panose="020B0600070205080204" pitchFamily="50" charset="-128"/>
                <a:ea typeface="ＭＳ Ｐゴシック" panose="020B0600070205080204" pitchFamily="50" charset="-128"/>
              </a:rPr>
              <a:t>・・・資本豊富な</a:t>
            </a:r>
            <a:r>
              <a:rPr lang="en-US" altLang="ja-JP" dirty="0">
                <a:solidFill>
                  <a:schemeClr val="tx1"/>
                </a:solidFill>
                <a:latin typeface="ＭＳ Ｐゴシック" panose="020B0600070205080204" pitchFamily="50" charset="-128"/>
                <a:ea typeface="ＭＳ Ｐゴシック" panose="020B0600070205080204" pitchFamily="50" charset="-128"/>
              </a:rPr>
              <a:t>US</a:t>
            </a:r>
            <a:r>
              <a:rPr lang="ja-JP" altLang="en-US" dirty="0">
                <a:solidFill>
                  <a:schemeClr val="tx1"/>
                </a:solidFill>
                <a:latin typeface="ＭＳ Ｐゴシック" panose="020B0600070205080204" pitchFamily="50" charset="-128"/>
                <a:ea typeface="ＭＳ Ｐゴシック" panose="020B0600070205080204" pitchFamily="50" charset="-128"/>
              </a:rPr>
              <a:t>において，輸出よりも輸入が</a:t>
            </a:r>
          </a:p>
          <a:p>
            <a:pPr marL="0" indent="0" defTabSz="537463">
              <a:spcBef>
                <a:spcPts val="3800"/>
              </a:spcBef>
              <a:buSzTx/>
              <a:buNone/>
              <a:defRPr sz="2944"/>
            </a:pPr>
            <a:r>
              <a:rPr lang="ja-JP" altLang="en-US" dirty="0">
                <a:solidFill>
                  <a:schemeClr val="tx1"/>
                </a:solidFill>
                <a:latin typeface="ＭＳ Ｐゴシック" panose="020B0600070205080204" pitchFamily="50" charset="-128"/>
                <a:ea typeface="ＭＳ Ｐゴシック" panose="020B0600070205080204" pitchFamily="50" charset="-128"/>
              </a:rPr>
              <a:t>　　　より資本集約的であること。レオンチェフ</a:t>
            </a:r>
            <a:r>
              <a:rPr lang="en-US" altLang="ja-JP" dirty="0">
                <a:solidFill>
                  <a:schemeClr val="tx1"/>
                </a:solidFill>
                <a:latin typeface="ＭＳ Ｐゴシック" panose="020B0600070205080204" pitchFamily="50" charset="-128"/>
                <a:ea typeface="ＭＳ Ｐゴシック" panose="020B0600070205080204" pitchFamily="50" charset="-128"/>
              </a:rPr>
              <a:t>(1953)</a:t>
            </a:r>
            <a:r>
              <a:rPr lang="ja-JP" altLang="en-US" dirty="0">
                <a:solidFill>
                  <a:schemeClr val="tx1"/>
                </a:solidFill>
                <a:latin typeface="ＭＳ Ｐゴシック" panose="020B0600070205080204" pitchFamily="50" charset="-128"/>
                <a:ea typeface="ＭＳ Ｐゴシック" panose="020B0600070205080204" pitchFamily="50" charset="-128"/>
              </a:rPr>
              <a:t>が発見。</a:t>
            </a:r>
          </a:p>
          <a:p>
            <a:pPr marL="0" indent="0" defTabSz="537463">
              <a:spcBef>
                <a:spcPts val="3800"/>
              </a:spcBef>
              <a:buSzTx/>
              <a:buNone/>
              <a:defRPr sz="2944"/>
            </a:pPr>
            <a:r>
              <a:rPr lang="ja-JP" altLang="en-US" dirty="0">
                <a:solidFill>
                  <a:schemeClr val="tx1"/>
                </a:solidFill>
                <a:latin typeface="ＭＳ Ｐゴシック" panose="020B0600070205080204" pitchFamily="50" charset="-128"/>
                <a:ea typeface="ＭＳ Ｐゴシック" panose="020B0600070205080204" pitchFamily="50" charset="-128"/>
              </a:rPr>
              <a:t>　　　</a:t>
            </a:r>
            <a:r>
              <a:rPr lang="en-US" altLang="ja-JP" dirty="0">
                <a:solidFill>
                  <a:schemeClr val="tx1"/>
                </a:solidFill>
                <a:latin typeface="ＭＳ Ｐゴシック" panose="020B0600070205080204" pitchFamily="50" charset="-128"/>
                <a:ea typeface="ＭＳ Ｐゴシック" panose="020B0600070205080204" pitchFamily="50" charset="-128"/>
                <a:sym typeface="Wingdings" panose="05000000000000000000" pitchFamily="2" charset="2"/>
              </a:rPr>
              <a:t></a:t>
            </a:r>
            <a:r>
              <a:rPr lang="en-US" altLang="ja-JP" dirty="0">
                <a:solidFill>
                  <a:schemeClr val="tx1"/>
                </a:solidFill>
                <a:latin typeface="ＭＳ Ｐゴシック" panose="020B0600070205080204" pitchFamily="50" charset="-128"/>
                <a:ea typeface="ＭＳ Ｐゴシック" panose="020B0600070205080204" pitchFamily="50" charset="-128"/>
              </a:rPr>
              <a:t>HO</a:t>
            </a:r>
            <a:r>
              <a:rPr lang="ja-JP" altLang="en-US" dirty="0">
                <a:solidFill>
                  <a:schemeClr val="tx1"/>
                </a:solidFill>
                <a:latin typeface="ＭＳ Ｐゴシック" panose="020B0600070205080204" pitchFamily="50" charset="-128"/>
                <a:ea typeface="ＭＳ Ｐゴシック" panose="020B0600070205080204" pitchFamily="50" charset="-128"/>
              </a:rPr>
              <a:t>定理に反する</a:t>
            </a:r>
            <a:endParaRPr lang="en-US" altLang="ja-JP" dirty="0">
              <a:solidFill>
                <a:schemeClr val="tx1"/>
              </a:solidFill>
              <a:latin typeface="ＭＳ Ｐゴシック" panose="020B0600070205080204" pitchFamily="50" charset="-128"/>
              <a:ea typeface="ＭＳ Ｐゴシック" panose="020B0600070205080204" pitchFamily="50" charset="-128"/>
            </a:endParaRPr>
          </a:p>
          <a:p>
            <a:pPr marL="0" indent="0" defTabSz="537463">
              <a:spcBef>
                <a:spcPts val="3800"/>
              </a:spcBef>
              <a:buSzTx/>
              <a:buNone/>
              <a:defRPr sz="2944"/>
            </a:pPr>
            <a:endParaRPr lang="en-US" altLang="ja-JP" dirty="0">
              <a:latin typeface="ＭＳ Ｐゴシック" panose="020B0600070205080204" pitchFamily="50" charset="-128"/>
              <a:ea typeface="ＭＳ Ｐゴシック" panose="020B0600070205080204" pitchFamily="50" charset="-128"/>
            </a:endParaRPr>
          </a:p>
          <a:p>
            <a:pPr marL="0" indent="0" defTabSz="537463">
              <a:spcBef>
                <a:spcPts val="3800"/>
              </a:spcBef>
              <a:buSzTx/>
              <a:buNone/>
              <a:defRPr sz="2944"/>
            </a:pPr>
            <a:r>
              <a:rPr lang="ja-JP" altLang="en-US" dirty="0">
                <a:latin typeface="ＭＳ Ｐゴシック" panose="020B0600070205080204" pitchFamily="50" charset="-128"/>
                <a:ea typeface="ＭＳ Ｐゴシック" panose="020B0600070205080204" pitchFamily="50" charset="-128"/>
              </a:rPr>
              <a:t>その後，各国間の生産性格差を許容することで，モデルの説明力が高まることが明らかになっている。</a:t>
            </a:r>
            <a:endParaRPr lang="ja-JP" altLang="en-US" dirty="0">
              <a:solidFill>
                <a:schemeClr val="tx1"/>
              </a:solidFill>
              <a:latin typeface="ＭＳ Ｐゴシック" panose="020B0600070205080204" pitchFamily="50" charset="-128"/>
              <a:ea typeface="ＭＳ Ｐゴシック" panose="020B0600070205080204" pitchFamily="50" charset="-128"/>
            </a:endParaRPr>
          </a:p>
          <a:p>
            <a:pPr marL="0" indent="0" defTabSz="537463">
              <a:spcBef>
                <a:spcPts val="3800"/>
              </a:spcBef>
              <a:buSzTx/>
              <a:buNone/>
              <a:defRPr sz="2944"/>
            </a:pPr>
            <a:endParaRPr dirty="0">
              <a:solidFill>
                <a:srgbClr val="0433FF"/>
              </a:solidFill>
              <a:latin typeface="ＭＳ Ｐゴシック" panose="020B0600070205080204" pitchFamily="50" charset="-128"/>
              <a:ea typeface="ＭＳ Ｐゴシック" panose="020B0600070205080204" pitchFamily="50" charset="-128"/>
            </a:endParaRPr>
          </a:p>
        </p:txBody>
      </p:sp>
      <p:sp>
        <p:nvSpPr>
          <p:cNvPr id="19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30</a:t>
            </a:fld>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補論：ワシリー・レオンチェフ（Wassily Leontief, 1905–1999）"/>
          <p:cNvSpPr txBox="1">
            <a:spLocks noGrp="1"/>
          </p:cNvSpPr>
          <p:nvPr>
            <p:ph type="title"/>
          </p:nvPr>
        </p:nvSpPr>
        <p:spPr>
          <a:prstGeom prst="rect">
            <a:avLst/>
          </a:prstGeom>
        </p:spPr>
        <p:txBody>
          <a:bodyPr/>
          <a:lstStyle>
            <a:lvl1pPr defTabSz="379729">
              <a:defRPr sz="5200"/>
            </a:lvl1pPr>
          </a:lstStyle>
          <a:p>
            <a:r>
              <a:rPr lang="ja-JP" altLang="en-US" dirty="0">
                <a:latin typeface="ＭＳ Ｐゴシック" panose="020B0600070205080204" pitchFamily="50" charset="-128"/>
                <a:ea typeface="ＭＳ Ｐゴシック" panose="020B0600070205080204" pitchFamily="50" charset="-128"/>
              </a:rPr>
              <a:t>ワシリー・レオンチェフ</a:t>
            </a:r>
            <a:br>
              <a:rPr lang="ja-JP" altLang="en-US" dirty="0">
                <a:latin typeface="ＭＳ Ｐゴシック" panose="020B0600070205080204" pitchFamily="50" charset="-128"/>
                <a:ea typeface="ＭＳ Ｐゴシック" panose="020B0600070205080204" pitchFamily="50" charset="-128"/>
              </a:rPr>
            </a:br>
            <a:r>
              <a:rPr lang="ja-JP" altLang="en-US" dirty="0">
                <a:latin typeface="ＭＳ Ｐゴシック" panose="020B0600070205080204" pitchFamily="50" charset="-128"/>
                <a:ea typeface="ＭＳ Ｐゴシック" panose="020B0600070205080204" pitchFamily="50" charset="-128"/>
              </a:rPr>
              <a:t>（</a:t>
            </a:r>
            <a:r>
              <a:rPr lang="en-US" altLang="ja-JP" dirty="0">
                <a:latin typeface="ＭＳ Ｐゴシック" panose="020B0600070205080204" pitchFamily="50" charset="-128"/>
                <a:ea typeface="ＭＳ Ｐゴシック" panose="020B0600070205080204" pitchFamily="50" charset="-128"/>
              </a:rPr>
              <a:t>Wassily Leontief, 1905–1999</a:t>
            </a:r>
            <a:r>
              <a:rPr lang="ja-JP" altLang="en-US" dirty="0">
                <a:latin typeface="ＭＳ Ｐゴシック" panose="020B0600070205080204" pitchFamily="50" charset="-128"/>
                <a:ea typeface="ＭＳ Ｐゴシック" panose="020B0600070205080204" pitchFamily="50" charset="-128"/>
              </a:rPr>
              <a:t>）</a:t>
            </a:r>
            <a:endParaRPr dirty="0">
              <a:latin typeface="ＭＳ Ｐゴシック" panose="020B0600070205080204" pitchFamily="50" charset="-128"/>
              <a:ea typeface="ＭＳ Ｐゴシック" panose="020B0600070205080204" pitchFamily="50" charset="-128"/>
            </a:endParaRPr>
          </a:p>
        </p:txBody>
      </p:sp>
      <p:sp>
        <p:nvSpPr>
          <p:cNvPr id="218" name="ドイツ生まれ、ソビエト連邦出身のアメリカの経済学者。…"/>
          <p:cNvSpPr txBox="1">
            <a:spLocks noGrp="1"/>
          </p:cNvSpPr>
          <p:nvPr>
            <p:ph type="body" idx="1"/>
          </p:nvPr>
        </p:nvSpPr>
        <p:spPr>
          <a:prstGeom prst="rect">
            <a:avLst/>
          </a:prstGeom>
        </p:spPr>
        <p:txBody>
          <a:bodyPr anchor="t"/>
          <a:lstStyle/>
          <a:p>
            <a:pPr marL="400050" indent="-400050" defTabSz="525779">
              <a:spcBef>
                <a:spcPts val="3700"/>
              </a:spcBef>
              <a:defRPr sz="2880"/>
            </a:pPr>
            <a:r>
              <a:rPr lang="ja-JP" altLang="en-US" dirty="0">
                <a:latin typeface="ＭＳ Ｐゴシック" panose="020B0600070205080204" pitchFamily="50" charset="-128"/>
                <a:ea typeface="ＭＳ Ｐゴシック" panose="020B0600070205080204" pitchFamily="50" charset="-128"/>
              </a:rPr>
              <a:t>ドイツ生まれ，ソビエト連邦出身のアメリカの経済学者。</a:t>
            </a:r>
          </a:p>
          <a:p>
            <a:pPr marL="400050" indent="-400050" defTabSz="525779">
              <a:spcBef>
                <a:spcPts val="3700"/>
              </a:spcBef>
              <a:defRPr sz="2880"/>
            </a:pPr>
            <a:r>
              <a:rPr lang="en-US" altLang="ja-JP" dirty="0">
                <a:latin typeface="ＭＳ Ｐゴシック" panose="020B0600070205080204" pitchFamily="50" charset="-128"/>
                <a:ea typeface="ＭＳ Ｐゴシック" panose="020B0600070205080204" pitchFamily="50" charset="-128"/>
              </a:rPr>
              <a:t>1929</a:t>
            </a:r>
            <a:r>
              <a:rPr lang="ja-JP" altLang="en-US" dirty="0">
                <a:latin typeface="ＭＳ Ｐゴシック" panose="020B0600070205080204" pitchFamily="50" charset="-128"/>
                <a:ea typeface="ＭＳ Ｐゴシック" panose="020B0600070205080204" pitchFamily="50" charset="-128"/>
              </a:rPr>
              <a:t>年にベルリン・フンボルト大学で博士号取得。</a:t>
            </a:r>
          </a:p>
          <a:p>
            <a:pPr marL="400050" indent="-400050" defTabSz="525779">
              <a:spcBef>
                <a:spcPts val="3700"/>
              </a:spcBef>
              <a:defRPr sz="2880"/>
            </a:pPr>
            <a:r>
              <a:rPr lang="en-US" altLang="ja-JP" dirty="0">
                <a:latin typeface="ＭＳ Ｐゴシック" panose="020B0600070205080204" pitchFamily="50" charset="-128"/>
                <a:ea typeface="ＭＳ Ｐゴシック" panose="020B0600070205080204" pitchFamily="50" charset="-128"/>
              </a:rPr>
              <a:t>1931</a:t>
            </a:r>
            <a:r>
              <a:rPr lang="ja-JP" altLang="en-US" dirty="0">
                <a:latin typeface="ＭＳ Ｐゴシック" panose="020B0600070205080204" pitchFamily="50" charset="-128"/>
                <a:ea typeface="ＭＳ Ｐゴシック" panose="020B0600070205080204" pitchFamily="50" charset="-128"/>
              </a:rPr>
              <a:t>年に渡米。</a:t>
            </a:r>
            <a:r>
              <a:rPr lang="en-US" altLang="ja-JP" dirty="0">
                <a:latin typeface="ＭＳ Ｐゴシック" panose="020B0600070205080204" pitchFamily="50" charset="-128"/>
                <a:ea typeface="ＭＳ Ｐゴシック" panose="020B0600070205080204" pitchFamily="50" charset="-128"/>
              </a:rPr>
              <a:t>1932</a:t>
            </a:r>
            <a:r>
              <a:rPr lang="ja-JP" altLang="en-US" dirty="0">
                <a:latin typeface="ＭＳ Ｐゴシック" panose="020B0600070205080204" pitchFamily="50" charset="-128"/>
                <a:ea typeface="ＭＳ Ｐゴシック" panose="020B0600070205080204" pitchFamily="50" charset="-128"/>
              </a:rPr>
              <a:t>年にハーバード大経済学部に加わり，</a:t>
            </a:r>
            <a:r>
              <a:rPr lang="en-US" altLang="ja-JP" dirty="0">
                <a:latin typeface="ＭＳ Ｐゴシック" panose="020B0600070205080204" pitchFamily="50" charset="-128"/>
                <a:ea typeface="ＭＳ Ｐゴシック" panose="020B0600070205080204" pitchFamily="50" charset="-128"/>
              </a:rPr>
              <a:t>1946</a:t>
            </a:r>
            <a:r>
              <a:rPr lang="ja-JP" altLang="en-US" dirty="0">
                <a:latin typeface="ＭＳ Ｐゴシック" panose="020B0600070205080204" pitchFamily="50" charset="-128"/>
                <a:ea typeface="ＭＳ Ｐゴシック" panose="020B0600070205080204" pitchFamily="50" charset="-128"/>
              </a:rPr>
              <a:t>年にハーバード大教授。</a:t>
            </a:r>
          </a:p>
          <a:p>
            <a:pPr marL="400050" indent="-400050" defTabSz="525779">
              <a:spcBef>
                <a:spcPts val="3700"/>
              </a:spcBef>
              <a:defRPr sz="2880"/>
            </a:pPr>
            <a:r>
              <a:rPr lang="en-US" altLang="ja-JP" dirty="0">
                <a:latin typeface="ＭＳ Ｐゴシック" panose="020B0600070205080204" pitchFamily="50" charset="-128"/>
                <a:ea typeface="ＭＳ Ｐゴシック" panose="020B0600070205080204" pitchFamily="50" charset="-128"/>
              </a:rPr>
              <a:t>1973</a:t>
            </a:r>
            <a:r>
              <a:rPr lang="ja-JP" altLang="en-US" dirty="0">
                <a:latin typeface="ＭＳ Ｐゴシック" panose="020B0600070205080204" pitchFamily="50" charset="-128"/>
                <a:ea typeface="ＭＳ Ｐゴシック" panose="020B0600070205080204" pitchFamily="50" charset="-128"/>
              </a:rPr>
              <a:t>年にノーベル経済学賞受賞。</a:t>
            </a:r>
            <a:r>
              <a:rPr lang="en-US" altLang="ja-JP" dirty="0">
                <a:latin typeface="ＭＳ Ｐゴシック" panose="020B0600070205080204" pitchFamily="50" charset="-128"/>
                <a:ea typeface="ＭＳ Ｐゴシック" panose="020B0600070205080204" pitchFamily="50" charset="-128"/>
              </a:rPr>
              <a:t>1975</a:t>
            </a:r>
            <a:r>
              <a:rPr lang="ja-JP" altLang="en-US" dirty="0">
                <a:latin typeface="ＭＳ Ｐゴシック" panose="020B0600070205080204" pitchFamily="50" charset="-128"/>
                <a:ea typeface="ＭＳ Ｐゴシック" panose="020B0600070205080204" pitchFamily="50" charset="-128"/>
              </a:rPr>
              <a:t>年にニューヨーク大学に異動。</a:t>
            </a:r>
          </a:p>
          <a:p>
            <a:pPr marL="400050" indent="-400050" defTabSz="525779">
              <a:spcBef>
                <a:spcPts val="3700"/>
              </a:spcBef>
              <a:defRPr sz="2880"/>
            </a:pPr>
            <a:r>
              <a:rPr lang="ja-JP" altLang="en-US" dirty="0">
                <a:latin typeface="ＭＳ Ｐゴシック" panose="020B0600070205080204" pitchFamily="50" charset="-128"/>
                <a:ea typeface="ＭＳ Ｐゴシック" panose="020B0600070205080204" pitchFamily="50" charset="-128"/>
              </a:rPr>
              <a:t>レオンチェフの逆説だけではなく，投入産出分析（産業連関分析）の研究でも有名。</a:t>
            </a:r>
          </a:p>
        </p:txBody>
      </p:sp>
      <p:sp>
        <p:nvSpPr>
          <p:cNvPr id="219" name="Slide Number"/>
          <p:cNvSpPr txBox="1">
            <a:spLocks noGrp="1"/>
          </p:cNvSpPr>
          <p:nvPr>
            <p:ph type="sldNum" sz="quarter" idx="2"/>
          </p:nvPr>
        </p:nvSpPr>
        <p:spPr>
          <a:xfrm>
            <a:off x="16618070" y="9296400"/>
            <a:ext cx="330219" cy="348813"/>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B8AB697E-E582-CDC0-135D-1AF65ACC6A96}"/>
              </a:ext>
            </a:extLst>
          </p:cNvPr>
          <p:cNvPicPr>
            <a:picLocks noChangeAspect="1"/>
          </p:cNvPicPr>
          <p:nvPr/>
        </p:nvPicPr>
        <p:blipFill>
          <a:blip r:embed="rId2"/>
          <a:stretch>
            <a:fillRect/>
          </a:stretch>
        </p:blipFill>
        <p:spPr>
          <a:xfrm>
            <a:off x="2412881" y="3519259"/>
            <a:ext cx="7757664" cy="5939294"/>
          </a:xfrm>
          <a:prstGeom prst="rect">
            <a:avLst/>
          </a:prstGeom>
        </p:spPr>
      </p:pic>
      <p:sp>
        <p:nvSpPr>
          <p:cNvPr id="2" name="タイトル 1">
            <a:extLst>
              <a:ext uri="{FF2B5EF4-FFF2-40B4-BE49-F238E27FC236}">
                <a16:creationId xmlns:a16="http://schemas.microsoft.com/office/drawing/2014/main" id="{68C428A1-547C-ABD3-0D38-63B093A5D553}"/>
              </a:ext>
            </a:extLst>
          </p:cNvPr>
          <p:cNvSpPr>
            <a:spLocks noGrp="1"/>
          </p:cNvSpPr>
          <p:nvPr>
            <p:ph type="title"/>
          </p:nvPr>
        </p:nvSpPr>
        <p:spPr/>
        <p:txBody>
          <a:bodyPr/>
          <a:lstStyle/>
          <a:p>
            <a:r>
              <a:rPr kumimoji="1" lang="ja-JP" altLang="en-US" dirty="0">
                <a:latin typeface="ＭＳ Ｐゴシック" panose="020B0600070205080204" pitchFamily="50" charset="-128"/>
                <a:ea typeface="ＭＳ Ｐゴシック" panose="020B0600070205080204" pitchFamily="50" charset="-128"/>
              </a:rPr>
              <a:t>移民</a:t>
            </a:r>
          </a:p>
        </p:txBody>
      </p:sp>
      <p:sp>
        <p:nvSpPr>
          <p:cNvPr id="3" name="テキスト プレースホルダー 2">
            <a:extLst>
              <a:ext uri="{FF2B5EF4-FFF2-40B4-BE49-F238E27FC236}">
                <a16:creationId xmlns:a16="http://schemas.microsoft.com/office/drawing/2014/main" id="{0D6D4627-17FE-A2DA-7FED-B9D4279191F5}"/>
              </a:ext>
            </a:extLst>
          </p:cNvPr>
          <p:cNvSpPr>
            <a:spLocks noGrp="1"/>
          </p:cNvSpPr>
          <p:nvPr>
            <p:ph type="body" idx="1"/>
          </p:nvPr>
        </p:nvSpPr>
        <p:spPr>
          <a:xfrm>
            <a:off x="2946715" y="2042160"/>
            <a:ext cx="11099800" cy="1458686"/>
          </a:xfrm>
        </p:spPr>
        <p:txBody>
          <a:bodyPr>
            <a:normAutofit fontScale="92500" lnSpcReduction="10000"/>
          </a:bodyPr>
          <a:lstStyle/>
          <a:p>
            <a:r>
              <a:rPr kumimoji="1" lang="ja-JP" altLang="en-US" dirty="0">
                <a:latin typeface="ＭＳ Ｐゴシック" panose="020B0600070205080204" pitchFamily="50" charset="-128"/>
                <a:ea typeface="ＭＳ Ｐゴシック" panose="020B0600070205080204" pitchFamily="50" charset="-128"/>
              </a:rPr>
              <a:t> </a:t>
            </a:r>
            <a:r>
              <a:rPr kumimoji="1" lang="en-US" altLang="ja-JP" dirty="0">
                <a:latin typeface="ＭＳ Ｐゴシック" panose="020B0600070205080204" pitchFamily="50" charset="-128"/>
                <a:ea typeface="ＭＳ Ｐゴシック" panose="020B0600070205080204" pitchFamily="50" charset="-128"/>
              </a:rPr>
              <a:t>300 </a:t>
            </a:r>
            <a:r>
              <a:rPr kumimoji="1" lang="ja-JP" altLang="en-US" dirty="0">
                <a:latin typeface="ＭＳ Ｐゴシック" panose="020B0600070205080204" pitchFamily="50" charset="-128"/>
                <a:ea typeface="ＭＳ Ｐゴシック" panose="020B0600070205080204" pitchFamily="50" charset="-128"/>
              </a:rPr>
              <a:t>人の高卒労働者がアメリカに移住すると仮定</a:t>
            </a:r>
            <a:endParaRPr kumimoji="1" lang="en-US" altLang="ja-JP" dirty="0">
              <a:latin typeface="ＭＳ Ｐゴシック" panose="020B0600070205080204" pitchFamily="50" charset="-128"/>
              <a:ea typeface="ＭＳ Ｐゴシック" panose="020B0600070205080204" pitchFamily="50" charset="-128"/>
            </a:endParaRPr>
          </a:p>
          <a:p>
            <a:r>
              <a:rPr kumimoji="1" lang="en-US" altLang="ja-JP" dirty="0">
                <a:latin typeface="ＭＳ Ｐゴシック" panose="020B0600070205080204" pitchFamily="50" charset="-128"/>
                <a:ea typeface="ＭＳ Ｐゴシック" panose="020B0600070205080204" pitchFamily="50" charset="-128"/>
                <a:sym typeface="Wingdings" panose="05000000000000000000" pitchFamily="2" charset="2"/>
              </a:rPr>
              <a:t></a:t>
            </a:r>
            <a:r>
              <a:rPr kumimoji="1" lang="ja-JP" altLang="en-US" dirty="0">
                <a:latin typeface="ＭＳ Ｐゴシック" panose="020B0600070205080204" pitchFamily="50" charset="-128"/>
                <a:ea typeface="ＭＳ Ｐゴシック" panose="020B0600070205080204" pitchFamily="50" charset="-128"/>
              </a:rPr>
              <a:t>アメリカの高卒労働者は </a:t>
            </a:r>
            <a:r>
              <a:rPr kumimoji="1" lang="en-US" altLang="ja-JP" dirty="0">
                <a:latin typeface="ＭＳ Ｐゴシック" panose="020B0600070205080204" pitchFamily="50" charset="-128"/>
                <a:ea typeface="ＭＳ Ｐゴシック" panose="020B0600070205080204" pitchFamily="50" charset="-128"/>
              </a:rPr>
              <a:t>1800 </a:t>
            </a:r>
            <a:r>
              <a:rPr kumimoji="1" lang="ja-JP" altLang="en-US" dirty="0">
                <a:latin typeface="ＭＳ Ｐゴシック" panose="020B0600070205080204" pitchFamily="50" charset="-128"/>
                <a:ea typeface="ＭＳ Ｐゴシック" panose="020B0600070205080204" pitchFamily="50" charset="-128"/>
              </a:rPr>
              <a:t>人から </a:t>
            </a:r>
            <a:r>
              <a:rPr kumimoji="1" lang="en-US" altLang="ja-JP" dirty="0">
                <a:latin typeface="ＭＳ Ｐゴシック" panose="020B0600070205080204" pitchFamily="50" charset="-128"/>
                <a:ea typeface="ＭＳ Ｐゴシック" panose="020B0600070205080204" pitchFamily="50" charset="-128"/>
              </a:rPr>
              <a:t>2100 </a:t>
            </a:r>
            <a:r>
              <a:rPr kumimoji="1" lang="ja-JP" altLang="en-US" dirty="0">
                <a:latin typeface="ＭＳ Ｐゴシック" panose="020B0600070205080204" pitchFamily="50" charset="-128"/>
                <a:ea typeface="ＭＳ Ｐゴシック" panose="020B0600070205080204" pitchFamily="50" charset="-128"/>
              </a:rPr>
              <a:t>人へ増加</a:t>
            </a:r>
            <a:endParaRPr kumimoji="1" lang="en-US" altLang="ja-JP"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id="{D371E187-FA11-1F7C-B9B3-A33535D4B0DE}"/>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32</a:t>
            </a:fld>
            <a:endParaRPr lang="ja-JP" altLang="en-US"/>
          </a:p>
        </p:txBody>
      </p:sp>
      <p:sp>
        <p:nvSpPr>
          <p:cNvPr id="8" name="テキスト ボックス 7">
            <a:extLst>
              <a:ext uri="{FF2B5EF4-FFF2-40B4-BE49-F238E27FC236}">
                <a16:creationId xmlns:a16="http://schemas.microsoft.com/office/drawing/2014/main" id="{168D2D5D-6DA1-CEB3-D791-4D25DE635D20}"/>
              </a:ext>
            </a:extLst>
          </p:cNvPr>
          <p:cNvSpPr txBox="1"/>
          <p:nvPr/>
        </p:nvSpPr>
        <p:spPr>
          <a:xfrm>
            <a:off x="10444867" y="4276635"/>
            <a:ext cx="3775165"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ja-JP" altLang="en-US" dirty="0">
                <a:latin typeface="ＭＳ Ｐゴシック" panose="020B0600070205080204" pitchFamily="50" charset="-128"/>
                <a:ea typeface="ＭＳ Ｐゴシック" panose="020B0600070205080204" pitchFamily="50" charset="-128"/>
              </a:rPr>
              <a:t>衣服の生産量が増えるだけではなく，</a:t>
            </a:r>
            <a:r>
              <a:rPr lang="en-US" altLang="ja-JP" dirty="0">
                <a:latin typeface="ＭＳ Ｐゴシック" panose="020B0600070205080204" pitchFamily="50" charset="-128"/>
                <a:ea typeface="ＭＳ Ｐゴシック" panose="020B0600070205080204" pitchFamily="50" charset="-128"/>
              </a:rPr>
              <a:t>PC </a:t>
            </a:r>
            <a:r>
              <a:rPr lang="ja-JP" altLang="en-US" dirty="0">
                <a:latin typeface="ＭＳ Ｐゴシック" panose="020B0600070205080204" pitchFamily="50" charset="-128"/>
                <a:ea typeface="ＭＳ Ｐゴシック" panose="020B0600070205080204" pitchFamily="50" charset="-128"/>
              </a:rPr>
              <a:t>の生産量（</a:t>
            </a:r>
            <a:r>
              <a:rPr lang="en-US" altLang="ja-JP" dirty="0">
                <a:latin typeface="ＭＳ Ｐゴシック" panose="020B0600070205080204" pitchFamily="50" charset="-128"/>
                <a:ea typeface="ＭＳ Ｐゴシック" panose="020B0600070205080204" pitchFamily="50" charset="-128"/>
              </a:rPr>
              <a:t>x</a:t>
            </a:r>
            <a:r>
              <a:rPr lang="ja-JP" altLang="en-US" dirty="0">
                <a:latin typeface="ＭＳ Ｐゴシック" panose="020B0600070205080204" pitchFamily="50" charset="-128"/>
                <a:ea typeface="ＭＳ Ｐゴシック" panose="020B0600070205080204" pitchFamily="50" charset="-128"/>
              </a:rPr>
              <a:t>）が減る</a:t>
            </a:r>
            <a:endParaRPr lang="en-US" altLang="ja-JP" dirty="0">
              <a:latin typeface="ＭＳ Ｐゴシック" panose="020B0600070205080204" pitchFamily="50" charset="-128"/>
              <a:ea typeface="ＭＳ Ｐゴシック" panose="020B0600070205080204" pitchFamily="50" charset="-128"/>
            </a:endParaRPr>
          </a:p>
          <a:p>
            <a:pPr algn="just"/>
            <a:endParaRPr lang="en-US" altLang="ja-JP" dirty="0">
              <a:latin typeface="ＭＳ Ｐゴシック" panose="020B0600070205080204" pitchFamily="50" charset="-128"/>
              <a:ea typeface="ＭＳ Ｐゴシック" panose="020B0600070205080204" pitchFamily="50" charset="-128"/>
            </a:endParaRPr>
          </a:p>
          <a:p>
            <a:pPr algn="just"/>
            <a:r>
              <a:rPr lang="ja-JP" altLang="en-US" dirty="0">
                <a:latin typeface="ＭＳ Ｐゴシック" panose="020B0600070205080204" pitchFamily="50" charset="-128"/>
                <a:ea typeface="ＭＳ Ｐゴシック" panose="020B0600070205080204" pitchFamily="50" charset="-128"/>
              </a:rPr>
              <a:t>・・リプチンスキー定理</a:t>
            </a:r>
          </a:p>
        </p:txBody>
      </p:sp>
    </p:spTree>
    <p:extLst>
      <p:ext uri="{BB962C8B-B14F-4D97-AF65-F5344CB8AC3E}">
        <p14:creationId xmlns:p14="http://schemas.microsoft.com/office/powerpoint/2010/main" val="269614558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C65266-7724-1D80-A9E2-C6C5E492CD8B}"/>
              </a:ext>
            </a:extLst>
          </p:cNvPr>
          <p:cNvSpPr>
            <a:spLocks noGrp="1"/>
          </p:cNvSpPr>
          <p:nvPr>
            <p:ph type="title"/>
          </p:nvPr>
        </p:nvSpPr>
        <p:spPr/>
        <p:txBody>
          <a:bodyPr>
            <a:noAutofit/>
          </a:bodyPr>
          <a:lstStyle/>
          <a:p>
            <a:r>
              <a:rPr kumimoji="1" lang="ja-JP" altLang="en-US" sz="4800" dirty="0"/>
              <a:t>タデウシュ・リプチンスキー</a:t>
            </a:r>
            <a:br>
              <a:rPr kumimoji="1" lang="ja-JP" altLang="en-US" sz="4800" dirty="0"/>
            </a:br>
            <a:r>
              <a:rPr kumimoji="1" lang="en-US" altLang="ja-JP" sz="4800" dirty="0"/>
              <a:t>Tadeusz </a:t>
            </a:r>
            <a:r>
              <a:rPr kumimoji="1" lang="en-US" altLang="ja-JP" sz="4800" dirty="0" err="1"/>
              <a:t>Rybczynski</a:t>
            </a:r>
            <a:r>
              <a:rPr kumimoji="1" lang="ja-JP" altLang="en-US" sz="4800" dirty="0"/>
              <a:t>（</a:t>
            </a:r>
            <a:r>
              <a:rPr kumimoji="1" lang="en-US" altLang="ja-JP" sz="4800" dirty="0"/>
              <a:t>1923–1998</a:t>
            </a:r>
            <a:r>
              <a:rPr kumimoji="1" lang="ja-JP" altLang="en-US" sz="4800" dirty="0"/>
              <a:t>）</a:t>
            </a:r>
          </a:p>
        </p:txBody>
      </p:sp>
      <p:sp>
        <p:nvSpPr>
          <p:cNvPr id="3" name="テキスト プレースホルダー 2">
            <a:extLst>
              <a:ext uri="{FF2B5EF4-FFF2-40B4-BE49-F238E27FC236}">
                <a16:creationId xmlns:a16="http://schemas.microsoft.com/office/drawing/2014/main" id="{2CEB922E-E915-A8F4-B5E4-C1AC87AA0E95}"/>
              </a:ext>
            </a:extLst>
          </p:cNvPr>
          <p:cNvSpPr>
            <a:spLocks noGrp="1"/>
          </p:cNvSpPr>
          <p:nvPr>
            <p:ph type="body" idx="1"/>
          </p:nvPr>
        </p:nvSpPr>
        <p:spPr/>
        <p:txBody>
          <a:bodyPr/>
          <a:lstStyle/>
          <a:p>
            <a:pPr marL="0" indent="0">
              <a:buNone/>
            </a:pPr>
            <a:r>
              <a:rPr kumimoji="1" lang="ja-JP" altLang="en-US" dirty="0">
                <a:latin typeface="ＭＳ Ｐゴシック" panose="020B0600070205080204" pitchFamily="50" charset="-128"/>
                <a:ea typeface="ＭＳ Ｐゴシック" panose="020B0600070205080204" pitchFamily="50" charset="-128"/>
              </a:rPr>
              <a:t>リプチンスキー定理は，ポーランド生まれのイギリスの経済学者リプチンスキーによって，</a:t>
            </a:r>
            <a:r>
              <a:rPr kumimoji="1" lang="en-US" altLang="ja-JP" dirty="0">
                <a:latin typeface="ＭＳ Ｐゴシック" panose="020B0600070205080204" pitchFamily="50" charset="-128"/>
                <a:ea typeface="ＭＳ Ｐゴシック" panose="020B0600070205080204" pitchFamily="50" charset="-128"/>
              </a:rPr>
              <a:t>1955</a:t>
            </a:r>
            <a:r>
              <a:rPr kumimoji="1" lang="ja-JP" altLang="en-US" dirty="0">
                <a:latin typeface="ＭＳ Ｐゴシック" panose="020B0600070205080204" pitchFamily="50" charset="-128"/>
                <a:ea typeface="ＭＳ Ｐゴシック" panose="020B0600070205080204" pitchFamily="50" charset="-128"/>
              </a:rPr>
              <a:t>年に示された。</a:t>
            </a:r>
          </a:p>
          <a:p>
            <a:pPr marL="0" indent="0">
              <a:buNone/>
            </a:pPr>
            <a:r>
              <a:rPr kumimoji="1" lang="ja-JP" altLang="en-US" dirty="0">
                <a:latin typeface="ＭＳ Ｐゴシック" panose="020B0600070205080204" pitchFamily="50" charset="-128"/>
                <a:ea typeface="ＭＳ Ｐゴシック" panose="020B0600070205080204" pitchFamily="50" charset="-128"/>
              </a:rPr>
              <a:t>リプチンスキーは，ポーランドで生まれ，</a:t>
            </a:r>
            <a:r>
              <a:rPr kumimoji="1" lang="en-US" altLang="ja-JP" dirty="0">
                <a:latin typeface="ＭＳ Ｐゴシック" panose="020B0600070205080204" pitchFamily="50" charset="-128"/>
                <a:ea typeface="ＭＳ Ｐゴシック" panose="020B0600070205080204" pitchFamily="50" charset="-128"/>
              </a:rPr>
              <a:t>1942</a:t>
            </a:r>
            <a:r>
              <a:rPr kumimoji="1" lang="ja-JP" altLang="en-US" dirty="0">
                <a:latin typeface="ＭＳ Ｐゴシック" panose="020B0600070205080204" pitchFamily="50" charset="-128"/>
                <a:ea typeface="ＭＳ Ｐゴシック" panose="020B0600070205080204" pitchFamily="50" charset="-128"/>
              </a:rPr>
              <a:t>年にイギリスに移住。</a:t>
            </a:r>
            <a:r>
              <a:rPr kumimoji="1" lang="en-US" altLang="ja-JP" dirty="0">
                <a:latin typeface="ＭＳ Ｐゴシック" panose="020B0600070205080204" pitchFamily="50" charset="-128"/>
                <a:ea typeface="ＭＳ Ｐゴシック" panose="020B0600070205080204" pitchFamily="50" charset="-128"/>
              </a:rPr>
              <a:t>1952</a:t>
            </a:r>
            <a:r>
              <a:rPr kumimoji="1" lang="ja-JP" altLang="en-US" dirty="0">
                <a:latin typeface="ＭＳ Ｐゴシック" panose="020B0600070205080204" pitchFamily="50" charset="-128"/>
                <a:ea typeface="ＭＳ Ｐゴシック" panose="020B0600070205080204" pitchFamily="50" charset="-128"/>
              </a:rPr>
              <a:t>年，</a:t>
            </a:r>
            <a:r>
              <a:rPr kumimoji="1" lang="en-US" altLang="ja-JP" dirty="0">
                <a:latin typeface="ＭＳ Ｐゴシック" panose="020B0600070205080204" pitchFamily="50" charset="-128"/>
                <a:ea typeface="ＭＳ Ｐゴシック" panose="020B0600070205080204" pitchFamily="50" charset="-128"/>
              </a:rPr>
              <a:t>London School of Economics</a:t>
            </a:r>
            <a:r>
              <a:rPr kumimoji="1" lang="ja-JP" altLang="en-US" dirty="0">
                <a:latin typeface="ＭＳ Ｐゴシック" panose="020B0600070205080204" pitchFamily="50" charset="-128"/>
                <a:ea typeface="ＭＳ Ｐゴシック" panose="020B0600070205080204" pitchFamily="50" charset="-128"/>
              </a:rPr>
              <a:t>で博士号取得。</a:t>
            </a:r>
          </a:p>
          <a:p>
            <a:pPr marL="0" indent="0">
              <a:buNone/>
            </a:pPr>
            <a:r>
              <a:rPr kumimoji="1" lang="ja-JP" altLang="en-US" dirty="0">
                <a:latin typeface="ＭＳ Ｐゴシック" panose="020B0600070205080204" pitchFamily="50" charset="-128"/>
                <a:ea typeface="ＭＳ Ｐゴシック" panose="020B0600070205080204" pitchFamily="50" charset="-128"/>
              </a:rPr>
              <a:t>その後，リプチンスキーは投資銀行家として生涯を過ごしている。その一方で，</a:t>
            </a:r>
            <a:r>
              <a:rPr kumimoji="1" lang="en-US" altLang="ja-JP" dirty="0">
                <a:latin typeface="ＭＳ Ｐゴシック" panose="020B0600070205080204" pitchFamily="50" charset="-128"/>
                <a:ea typeface="ＭＳ Ｐゴシック" panose="020B0600070205080204" pitchFamily="50" charset="-128"/>
              </a:rPr>
              <a:t>1974-1998</a:t>
            </a:r>
            <a:r>
              <a:rPr kumimoji="1" lang="ja-JP" altLang="en-US" dirty="0">
                <a:latin typeface="ＭＳ Ｐゴシック" panose="020B0600070205080204" pitchFamily="50" charset="-128"/>
                <a:ea typeface="ＭＳ Ｐゴシック" panose="020B0600070205080204" pitchFamily="50" charset="-128"/>
              </a:rPr>
              <a:t>年の間，ロンドン大学客員教授も務めた。</a:t>
            </a:r>
          </a:p>
        </p:txBody>
      </p:sp>
      <p:sp>
        <p:nvSpPr>
          <p:cNvPr id="4" name="スライド番号プレースホルダー 3">
            <a:extLst>
              <a:ext uri="{FF2B5EF4-FFF2-40B4-BE49-F238E27FC236}">
                <a16:creationId xmlns:a16="http://schemas.microsoft.com/office/drawing/2014/main" id="{4D468FEC-5612-6E02-E624-1DACDC3AFE08}"/>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33</a:t>
            </a:fld>
            <a:endParaRPr lang="ja-JP" altLang="en-US"/>
          </a:p>
        </p:txBody>
      </p:sp>
    </p:spTree>
    <p:extLst>
      <p:ext uri="{BB962C8B-B14F-4D97-AF65-F5344CB8AC3E}">
        <p14:creationId xmlns:p14="http://schemas.microsoft.com/office/powerpoint/2010/main" val="298248454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AA76E0-681F-32DA-932F-72B50C2D5CE6}"/>
              </a:ext>
            </a:extLst>
          </p:cNvPr>
          <p:cNvSpPr>
            <a:spLocks noGrp="1"/>
          </p:cNvSpPr>
          <p:nvPr>
            <p:ph type="title"/>
          </p:nvPr>
        </p:nvSpPr>
        <p:spPr/>
        <p:txBody>
          <a:bodyPr/>
          <a:lstStyle/>
          <a:p>
            <a:r>
              <a:rPr kumimoji="1" lang="ja-JP" altLang="en-US" dirty="0">
                <a:latin typeface="ＭＳ Ｐゴシック" panose="020B0600070205080204" pitchFamily="50" charset="-128"/>
                <a:ea typeface="ＭＳ Ｐゴシック" panose="020B0600070205080204" pitchFamily="50" charset="-128"/>
              </a:rPr>
              <a:t>オランダ病</a:t>
            </a:r>
          </a:p>
        </p:txBody>
      </p:sp>
      <p:sp>
        <p:nvSpPr>
          <p:cNvPr id="3" name="テキスト プレースホルダー 2">
            <a:extLst>
              <a:ext uri="{FF2B5EF4-FFF2-40B4-BE49-F238E27FC236}">
                <a16:creationId xmlns:a16="http://schemas.microsoft.com/office/drawing/2014/main" id="{69BB7E02-9F76-6549-2CA9-37787C428A1F}"/>
              </a:ext>
            </a:extLst>
          </p:cNvPr>
          <p:cNvSpPr>
            <a:spLocks noGrp="1"/>
          </p:cNvSpPr>
          <p:nvPr>
            <p:ph type="body" idx="1"/>
          </p:nvPr>
        </p:nvSpPr>
        <p:spPr/>
        <p:txBody>
          <a:bodyPr/>
          <a:lstStyle/>
          <a:p>
            <a:pPr marL="0" indent="0">
              <a:buNone/>
            </a:pPr>
            <a:r>
              <a:rPr kumimoji="1" lang="ja-JP" altLang="en-US" dirty="0">
                <a:latin typeface="ＭＳ Ｐゴシック" panose="020B0600070205080204" pitchFamily="50" charset="-128"/>
                <a:ea typeface="ＭＳ Ｐゴシック" panose="020B0600070205080204" pitchFamily="50" charset="-128"/>
              </a:rPr>
              <a:t>オランダ沿岸で石油（ガス）発見</a:t>
            </a:r>
          </a:p>
          <a:p>
            <a:pPr marL="0" indent="0">
              <a:buNone/>
            </a:pPr>
            <a:r>
              <a:rPr kumimoji="1" lang="en-US" altLang="ja-JP" dirty="0">
                <a:latin typeface="ＭＳ Ｐゴシック" panose="020B0600070205080204" pitchFamily="50" charset="-128"/>
                <a:ea typeface="ＭＳ Ｐゴシック" panose="020B0600070205080204" pitchFamily="50" charset="-128"/>
                <a:sym typeface="Wingdings" panose="05000000000000000000" pitchFamily="2" charset="2"/>
              </a:rPr>
              <a:t></a:t>
            </a:r>
            <a:r>
              <a:rPr kumimoji="1" lang="ja-JP" altLang="en-US" dirty="0">
                <a:latin typeface="ＭＳ Ｐゴシック" panose="020B0600070205080204" pitchFamily="50" charset="-128"/>
                <a:ea typeface="ＭＳ Ｐゴシック" panose="020B0600070205080204" pitchFamily="50" charset="-128"/>
              </a:rPr>
              <a:t>石油</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ガス</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関連産業発展　</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人や資源集中</a:t>
            </a:r>
          </a:p>
          <a:p>
            <a:pPr marL="0" indent="0">
              <a:buNone/>
            </a:pPr>
            <a:r>
              <a:rPr kumimoji="1" lang="ja-JP" altLang="en-US" dirty="0">
                <a:latin typeface="ＭＳ Ｐゴシック" panose="020B0600070205080204" pitchFamily="50" charset="-128"/>
                <a:ea typeface="ＭＳ Ｐゴシック" panose="020B0600070205080204" pitchFamily="50" charset="-128"/>
              </a:rPr>
              <a:t>　　</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石油（ガス）を集約的に用いる産業</a:t>
            </a:r>
          </a:p>
          <a:p>
            <a:pPr marL="0" indent="0">
              <a:buNone/>
            </a:pPr>
            <a:r>
              <a:rPr kumimoji="1" lang="en-US" altLang="ja-JP" dirty="0">
                <a:latin typeface="ＭＳ Ｐゴシック" panose="020B0600070205080204" pitchFamily="50" charset="-128"/>
                <a:ea typeface="ＭＳ Ｐゴシック" panose="020B0600070205080204" pitchFamily="50" charset="-128"/>
                <a:sym typeface="Wingdings" panose="05000000000000000000" pitchFamily="2" charset="2"/>
              </a:rPr>
              <a:t></a:t>
            </a:r>
            <a:r>
              <a:rPr kumimoji="1" lang="en-US" altLang="ja-JP" dirty="0">
                <a:latin typeface="ＭＳ Ｐゴシック" panose="020B0600070205080204" pitchFamily="50" charset="-128"/>
                <a:ea typeface="ＭＳ Ｐゴシック" panose="020B0600070205080204" pitchFamily="50" charset="-128"/>
              </a:rPr>
              <a:t> </a:t>
            </a:r>
            <a:r>
              <a:rPr kumimoji="1" lang="ja-JP" altLang="en-US" dirty="0">
                <a:latin typeface="ＭＳ Ｐゴシック" panose="020B0600070205080204" pitchFamily="50" charset="-128"/>
                <a:ea typeface="ＭＳ Ｐゴシック" panose="020B0600070205080204" pitchFamily="50" charset="-128"/>
              </a:rPr>
              <a:t>伝統的な製造業衰退　</a:t>
            </a:r>
            <a:r>
              <a:rPr kumimoji="1" lang="en-US" altLang="ja-JP" dirty="0">
                <a:latin typeface="ＭＳ Ｐゴシック" panose="020B0600070205080204" pitchFamily="50" charset="-128"/>
                <a:ea typeface="ＭＳ Ｐゴシック" panose="020B0600070205080204" pitchFamily="50" charset="-128"/>
              </a:rPr>
              <a:t>…</a:t>
            </a:r>
            <a:r>
              <a:rPr kumimoji="1" lang="ja-JP" altLang="en-US" dirty="0">
                <a:latin typeface="ＭＳ Ｐゴシック" panose="020B0600070205080204" pitchFamily="50" charset="-128"/>
                <a:ea typeface="ＭＳ Ｐゴシック" panose="020B0600070205080204" pitchFamily="50" charset="-128"/>
              </a:rPr>
              <a:t>人や資源離れていく</a:t>
            </a:r>
          </a:p>
          <a:p>
            <a:pPr marL="0" indent="0">
              <a:buNone/>
            </a:pPr>
            <a:endParaRPr kumimoji="1" lang="ja-JP" altLang="en-US"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id="{69B1682D-4434-ED1A-5D5B-C8889F02C1BA}"/>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34</a:t>
            </a:fld>
            <a:endParaRPr lang="ja-JP" altLang="en-US"/>
          </a:p>
        </p:txBody>
      </p:sp>
    </p:spTree>
    <p:extLst>
      <p:ext uri="{BB962C8B-B14F-4D97-AF65-F5344CB8AC3E}">
        <p14:creationId xmlns:p14="http://schemas.microsoft.com/office/powerpoint/2010/main" val="1032793544"/>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51BDBF-D1D5-4315-A1B1-072B1FDEE7D2}"/>
              </a:ext>
            </a:extLst>
          </p:cNvPr>
          <p:cNvSpPr>
            <a:spLocks noGrp="1"/>
          </p:cNvSpPr>
          <p:nvPr>
            <p:ph type="title"/>
          </p:nvPr>
        </p:nvSpPr>
        <p:spPr/>
        <p:txBody>
          <a:bodyPr>
            <a:normAutofit/>
          </a:bodyPr>
          <a:lstStyle/>
          <a:p>
            <a:r>
              <a:rPr lang="en-US" altLang="ja-JP" dirty="0">
                <a:latin typeface="ＭＳ Ｐゴシック" panose="020B0600070205080204" pitchFamily="50" charset="-128"/>
                <a:ea typeface="ＭＳ Ｐゴシック" panose="020B0600070205080204" pitchFamily="50" charset="-128"/>
              </a:rPr>
              <a:t>3 </a:t>
            </a:r>
            <a:r>
              <a:rPr lang="ja-JP" altLang="en-US" dirty="0">
                <a:latin typeface="ＭＳ Ｐゴシック" panose="020B0600070205080204" pitchFamily="50" charset="-128"/>
                <a:ea typeface="ＭＳ Ｐゴシック" panose="020B0600070205080204" pitchFamily="50" charset="-128"/>
              </a:rPr>
              <a:t>要素価格とゼロ利潤条件</a:t>
            </a:r>
            <a:endParaRPr kumimoji="1" lang="ja-JP" altLang="en-US" dirty="0">
              <a:latin typeface="ＭＳ Ｐゴシック" panose="020B0600070205080204" pitchFamily="50" charset="-128"/>
              <a:ea typeface="ＭＳ Ｐゴシック" panose="020B0600070205080204" pitchFamily="50" charset="-128"/>
            </a:endParaRPr>
          </a:p>
        </p:txBody>
      </p:sp>
      <p:sp>
        <p:nvSpPr>
          <p:cNvPr id="3" name="テキスト プレースホルダー 2">
            <a:extLst>
              <a:ext uri="{FF2B5EF4-FFF2-40B4-BE49-F238E27FC236}">
                <a16:creationId xmlns:a16="http://schemas.microsoft.com/office/drawing/2014/main" id="{DF168B7D-3C47-D944-86E7-8575BCF71744}"/>
              </a:ext>
            </a:extLst>
          </p:cNvPr>
          <p:cNvSpPr>
            <a:spLocks noGrp="1"/>
          </p:cNvSpPr>
          <p:nvPr>
            <p:ph type="body" idx="1"/>
          </p:nvPr>
        </p:nvSpPr>
        <p:spPr/>
        <p:txBody>
          <a:bodyPr/>
          <a:lstStyle/>
          <a:p>
            <a:pPr marL="0" indent="0">
              <a:buNone/>
            </a:pPr>
            <a:r>
              <a:rPr lang="ja-JP" altLang="en-US" dirty="0">
                <a:latin typeface="ＭＳ Ｐゴシック" panose="020B0600070205080204" pitchFamily="50" charset="-128"/>
                <a:ea typeface="ＭＳ Ｐゴシック" panose="020B0600070205080204" pitchFamily="50" charset="-128"/>
              </a:rPr>
              <a:t>財価格（財価格）と生産要素価格（要素価格）の関係</a:t>
            </a:r>
            <a:endParaRPr lang="en-US" altLang="ja-JP" dirty="0">
              <a:latin typeface="ＭＳ Ｐゴシック" panose="020B0600070205080204" pitchFamily="50" charset="-128"/>
              <a:ea typeface="ＭＳ Ｐゴシック" panose="020B0600070205080204" pitchFamily="50" charset="-128"/>
            </a:endParaRPr>
          </a:p>
          <a:p>
            <a:pPr marL="0" indent="0">
              <a:buNone/>
            </a:pPr>
            <a:r>
              <a:rPr lang="en-US" altLang="ja-JP" dirty="0">
                <a:latin typeface="ＭＳ Ｐゴシック" panose="020B0600070205080204" pitchFamily="50" charset="-128"/>
                <a:ea typeface="ＭＳ Ｐゴシック" panose="020B0600070205080204" pitchFamily="50" charset="-128"/>
                <a:sym typeface="Wingdings" panose="05000000000000000000" pitchFamily="2" charset="2"/>
              </a:rPr>
              <a:t>	</a:t>
            </a:r>
            <a:r>
              <a:rPr lang="ja-JP" altLang="en-US" dirty="0">
                <a:latin typeface="ＭＳ Ｐゴシック" panose="020B0600070205080204" pitchFamily="50" charset="-128"/>
                <a:ea typeface="ＭＳ Ｐゴシック" panose="020B0600070205080204" pitchFamily="50" charset="-128"/>
                <a:sym typeface="Wingdings" panose="05000000000000000000" pitchFamily="2" charset="2"/>
              </a:rPr>
              <a:t>貿易と国内格差の関係</a:t>
            </a:r>
            <a:endParaRPr lang="en-US" altLang="ja-JP" dirty="0">
              <a:latin typeface="ＭＳ Ｐゴシック" panose="020B0600070205080204" pitchFamily="50" charset="-128"/>
              <a:ea typeface="ＭＳ Ｐゴシック" panose="020B0600070205080204" pitchFamily="50" charset="-128"/>
              <a:sym typeface="Wingdings" panose="05000000000000000000" pitchFamily="2" charset="2"/>
            </a:endParaRPr>
          </a:p>
          <a:p>
            <a:pPr marL="0" indent="0">
              <a:buNone/>
            </a:pPr>
            <a:r>
              <a:rPr lang="ja-JP" altLang="en-US" dirty="0">
                <a:latin typeface="ＭＳ Ｐゴシック" panose="020B0600070205080204" pitchFamily="50" charset="-128"/>
                <a:ea typeface="ＭＳ Ｐゴシック" panose="020B0600070205080204" pitchFamily="50" charset="-128"/>
              </a:rPr>
              <a:t>財価格についての仮定（アメリカ）</a:t>
            </a:r>
            <a:endParaRPr lang="en-US" altLang="ja-JP" dirty="0">
              <a:latin typeface="ＭＳ Ｐゴシック" panose="020B0600070205080204" pitchFamily="50" charset="-128"/>
              <a:ea typeface="ＭＳ Ｐゴシック" panose="020B0600070205080204" pitchFamily="50" charset="-128"/>
            </a:endParaRPr>
          </a:p>
          <a:p>
            <a:pPr lvl="1"/>
            <a:r>
              <a:rPr lang="ja-JP" altLang="en-US" dirty="0">
                <a:latin typeface="ＭＳ Ｐゴシック" panose="020B0600070205080204" pitchFamily="50" charset="-128"/>
                <a:ea typeface="ＭＳ Ｐゴシック" panose="020B0600070205080204" pitchFamily="50" charset="-128"/>
              </a:rPr>
              <a:t>大卒集約財（</a:t>
            </a:r>
            <a:r>
              <a:rPr lang="en-US" altLang="ja-JP" dirty="0">
                <a:latin typeface="ＭＳ Ｐゴシック" panose="020B0600070205080204" pitchFamily="50" charset="-128"/>
                <a:ea typeface="ＭＳ Ｐゴシック" panose="020B0600070205080204" pitchFamily="50" charset="-128"/>
              </a:rPr>
              <a:t>PC</a:t>
            </a:r>
            <a:r>
              <a:rPr lang="ja-JP" altLang="en-US" dirty="0">
                <a:latin typeface="ＭＳ Ｐゴシック" panose="020B0600070205080204" pitchFamily="50" charset="-128"/>
                <a:ea typeface="ＭＳ Ｐゴシック" panose="020B0600070205080204" pitchFamily="50" charset="-128"/>
              </a:rPr>
              <a:t>）の価格</a:t>
            </a:r>
            <a:r>
              <a:rPr lang="en-US" altLang="ja-JP" dirty="0">
                <a:latin typeface="ＭＳ Ｐゴシック" panose="020B0600070205080204" pitchFamily="50" charset="-128"/>
                <a:ea typeface="ＭＳ Ｐゴシック" panose="020B0600070205080204" pitchFamily="50" charset="-128"/>
              </a:rPr>
              <a:t>=400</a:t>
            </a:r>
          </a:p>
          <a:p>
            <a:pPr lvl="1"/>
            <a:r>
              <a:rPr lang="ja-JP" altLang="en-US" dirty="0">
                <a:latin typeface="ＭＳ Ｐゴシック" panose="020B0600070205080204" pitchFamily="50" charset="-128"/>
                <a:ea typeface="ＭＳ Ｐゴシック" panose="020B0600070205080204" pitchFamily="50" charset="-128"/>
              </a:rPr>
              <a:t>高卒集約財（衣服）の価格</a:t>
            </a:r>
            <a:r>
              <a:rPr lang="en-US" altLang="ja-JP" dirty="0">
                <a:latin typeface="ＭＳ Ｐゴシック" panose="020B0600070205080204" pitchFamily="50" charset="-128"/>
                <a:ea typeface="ＭＳ Ｐゴシック" panose="020B0600070205080204" pitchFamily="50" charset="-128"/>
              </a:rPr>
              <a:t>=300 </a:t>
            </a:r>
          </a:p>
          <a:p>
            <a:pPr marL="444500" lvl="1" indent="0">
              <a:buNone/>
            </a:pPr>
            <a:r>
              <a:rPr lang="ja-JP" altLang="en-US" dirty="0">
                <a:latin typeface="ＭＳ Ｐゴシック" panose="020B0600070205080204" pitchFamily="50" charset="-128"/>
                <a:ea typeface="ＭＳ Ｐゴシック" panose="020B0600070205080204" pitchFamily="50" charset="-128"/>
              </a:rPr>
              <a:t>注）計算が容易になる数値を便宜的に設定。</a:t>
            </a:r>
            <a:endParaRPr lang="en-US" altLang="ja-JP"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id="{A10B2951-78B7-6818-E210-110DBDCF6D70}"/>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35</a:t>
            </a:fld>
            <a:endParaRPr lang="ja-JP" altLang="en-US"/>
          </a:p>
        </p:txBody>
      </p:sp>
    </p:spTree>
    <p:extLst>
      <p:ext uri="{BB962C8B-B14F-4D97-AF65-F5344CB8AC3E}">
        <p14:creationId xmlns:p14="http://schemas.microsoft.com/office/powerpoint/2010/main" val="209060872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C47C613-D9A8-36A1-B7E4-9B203096AE17}"/>
              </a:ext>
            </a:extLst>
          </p:cNvPr>
          <p:cNvSpPr>
            <a:spLocks noGrp="1"/>
          </p:cNvSpPr>
          <p:nvPr>
            <p:ph type="title"/>
          </p:nvPr>
        </p:nvSpPr>
        <p:spPr/>
        <p:txBody>
          <a:bodyPr/>
          <a:lstStyle/>
          <a:p>
            <a:r>
              <a:rPr lang="ja-JP" altLang="en-US" dirty="0"/>
              <a:t>要素価格</a:t>
            </a:r>
          </a:p>
        </p:txBody>
      </p:sp>
      <p:sp>
        <p:nvSpPr>
          <p:cNvPr id="5" name="テキスト プレースホルダー 4">
            <a:extLst>
              <a:ext uri="{FF2B5EF4-FFF2-40B4-BE49-F238E27FC236}">
                <a16:creationId xmlns:a16="http://schemas.microsoft.com/office/drawing/2014/main" id="{0108143C-A4A2-5221-1675-8F8E83A86469}"/>
              </a:ext>
            </a:extLst>
          </p:cNvPr>
          <p:cNvSpPr>
            <a:spLocks noGrp="1"/>
          </p:cNvSpPr>
          <p:nvPr>
            <p:ph type="body" idx="1"/>
          </p:nvPr>
        </p:nvSpPr>
        <p:spPr/>
        <p:txBody>
          <a:bodyPr/>
          <a:lstStyle/>
          <a:p>
            <a:r>
              <a:rPr lang="ja-JP" altLang="en-US" dirty="0"/>
              <a:t>大卒労働者の </a:t>
            </a:r>
            <a:r>
              <a:rPr lang="en-US" altLang="ja-JP" dirty="0"/>
              <a:t>1 </a:t>
            </a:r>
            <a:r>
              <a:rPr lang="ja-JP" altLang="en-US" dirty="0"/>
              <a:t>日当たりの賃金</a:t>
            </a:r>
            <a:r>
              <a:rPr lang="en-US" altLang="ja-JP" dirty="0"/>
              <a:t>=</a:t>
            </a:r>
            <a:r>
              <a:rPr lang="ja-JP" altLang="en-US" dirty="0"/>
              <a:t> </a:t>
            </a:r>
            <a:r>
              <a:rPr lang="en-US" altLang="ja-JP" dirty="0"/>
              <a:t>r</a:t>
            </a:r>
          </a:p>
          <a:p>
            <a:r>
              <a:rPr lang="ja-JP" altLang="en-US" dirty="0"/>
              <a:t>高卒労働者の </a:t>
            </a:r>
            <a:r>
              <a:rPr lang="en-US" altLang="ja-JP" dirty="0"/>
              <a:t>1 </a:t>
            </a:r>
            <a:r>
              <a:rPr lang="ja-JP" altLang="en-US" dirty="0"/>
              <a:t>日当たりの賃金</a:t>
            </a:r>
            <a:r>
              <a:rPr lang="en-US" altLang="ja-JP" dirty="0"/>
              <a:t>=w</a:t>
            </a:r>
            <a:endParaRPr kumimoji="1" lang="ja-JP" altLang="en-US" dirty="0"/>
          </a:p>
          <a:p>
            <a:endParaRPr lang="ja-JP" altLang="en-US" dirty="0"/>
          </a:p>
        </p:txBody>
      </p:sp>
      <p:sp>
        <p:nvSpPr>
          <p:cNvPr id="3" name="スライド番号プレースホルダー 2">
            <a:extLst>
              <a:ext uri="{FF2B5EF4-FFF2-40B4-BE49-F238E27FC236}">
                <a16:creationId xmlns:a16="http://schemas.microsoft.com/office/drawing/2014/main" id="{FF567A7C-240D-DD80-7BD8-7E5A90032539}"/>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36</a:t>
            </a:fld>
            <a:endParaRPr lang="ja-JP" altLang="en-US"/>
          </a:p>
        </p:txBody>
      </p:sp>
    </p:spTree>
    <p:extLst>
      <p:ext uri="{BB962C8B-B14F-4D97-AF65-F5344CB8AC3E}">
        <p14:creationId xmlns:p14="http://schemas.microsoft.com/office/powerpoint/2010/main" val="29201584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5F25BD-5BA7-9067-CB5C-301767354F52}"/>
              </a:ext>
            </a:extLst>
          </p:cNvPr>
          <p:cNvSpPr>
            <a:spLocks noGrp="1"/>
          </p:cNvSpPr>
          <p:nvPr>
            <p:ph type="title"/>
          </p:nvPr>
        </p:nvSpPr>
        <p:spPr>
          <a:xfrm>
            <a:off x="3061810" y="413994"/>
            <a:ext cx="11216639" cy="1326490"/>
          </a:xfrm>
        </p:spPr>
        <p:txBody>
          <a:bodyPr vert="horz" lIns="91440" tIns="45720" rIns="91440" bIns="45720" rtlCol="0" anchor="b">
            <a:normAutofit/>
          </a:bodyPr>
          <a:lstStyle/>
          <a:p>
            <a:pPr algn="l" defTabSz="914400">
              <a:lnSpc>
                <a:spcPct val="90000"/>
              </a:lnSpc>
              <a:spcBef>
                <a:spcPct val="0"/>
              </a:spcBef>
            </a:pPr>
            <a:r>
              <a:rPr lang="zh-TW" altLang="en-US" sz="6700" kern="1200" dirty="0">
                <a:solidFill>
                  <a:schemeClr val="tx1"/>
                </a:solidFill>
                <a:cs typeface="+mj-cs"/>
              </a:rPr>
              <a:t>固定技術係数</a:t>
            </a:r>
            <a:endParaRPr kumimoji="1" lang="en-US" altLang="ja-JP" sz="6700" kern="1200" dirty="0">
              <a:solidFill>
                <a:schemeClr val="tx1"/>
              </a:solidFill>
              <a:cs typeface="+mj-cs"/>
            </a:endParaRPr>
          </a:p>
        </p:txBody>
      </p:sp>
      <p:pic>
        <p:nvPicPr>
          <p:cNvPr id="4" name="図 3" descr="テーブル&#10;&#10;自動的に生成された説明">
            <a:extLst>
              <a:ext uri="{FF2B5EF4-FFF2-40B4-BE49-F238E27FC236}">
                <a16:creationId xmlns:a16="http://schemas.microsoft.com/office/drawing/2014/main" id="{70845AAA-1010-F175-B3AA-0FB03009D55D}"/>
              </a:ext>
            </a:extLst>
          </p:cNvPr>
          <p:cNvPicPr>
            <a:picLocks noChangeAspect="1"/>
          </p:cNvPicPr>
          <p:nvPr/>
        </p:nvPicPr>
        <p:blipFill>
          <a:blip r:embed="rId2"/>
          <a:stretch>
            <a:fillRect/>
          </a:stretch>
        </p:blipFill>
        <p:spPr>
          <a:xfrm>
            <a:off x="3228555" y="2896190"/>
            <a:ext cx="11216638" cy="3757574"/>
          </a:xfrm>
          <a:prstGeom prst="rect">
            <a:avLst/>
          </a:prstGeom>
        </p:spPr>
      </p:pic>
      <p:sp>
        <p:nvSpPr>
          <p:cNvPr id="3" name="スライド番号プレースホルダー 2">
            <a:extLst>
              <a:ext uri="{FF2B5EF4-FFF2-40B4-BE49-F238E27FC236}">
                <a16:creationId xmlns:a16="http://schemas.microsoft.com/office/drawing/2014/main" id="{FEC00408-A04B-2057-8FD1-9AE903894FED}"/>
              </a:ext>
            </a:extLst>
          </p:cNvPr>
          <p:cNvSpPr>
            <a:spLocks noGrp="1"/>
          </p:cNvSpPr>
          <p:nvPr>
            <p:ph type="sldNum" sz="quarter" idx="2"/>
          </p:nvPr>
        </p:nvSpPr>
        <p:spPr>
          <a:xfrm>
            <a:off x="16457647" y="9296400"/>
            <a:ext cx="330219" cy="348813"/>
          </a:xfrm>
        </p:spPr>
        <p:txBody>
          <a:bodyPr/>
          <a:lstStyle/>
          <a:p>
            <a:fld id="{86CB4B4D-7CA3-9044-876B-883B54F8677D}" type="slidenum">
              <a:rPr lang="en-US" altLang="ja-JP" smtClean="0"/>
              <a:t>37</a:t>
            </a:fld>
            <a:endParaRPr lang="ja-JP" altLang="en-US"/>
          </a:p>
        </p:txBody>
      </p:sp>
      <p:sp>
        <p:nvSpPr>
          <p:cNvPr id="7" name="テキスト ボックス 6">
            <a:extLst>
              <a:ext uri="{FF2B5EF4-FFF2-40B4-BE49-F238E27FC236}">
                <a16:creationId xmlns:a16="http://schemas.microsoft.com/office/drawing/2014/main" id="{3E73F992-5679-826A-271A-B3914C6B1A04}"/>
              </a:ext>
            </a:extLst>
          </p:cNvPr>
          <p:cNvSpPr txBox="1"/>
          <p:nvPr/>
        </p:nvSpPr>
        <p:spPr>
          <a:xfrm>
            <a:off x="2761364" y="2087505"/>
            <a:ext cx="1104989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ja-JP" altLang="en-US" dirty="0"/>
              <a:t>各財 </a:t>
            </a:r>
            <a:r>
              <a:rPr lang="en-US" altLang="ja-JP" dirty="0"/>
              <a:t>1 </a:t>
            </a:r>
            <a:r>
              <a:rPr lang="ja-JP" altLang="en-US" dirty="0"/>
              <a:t>単位の生産に必要な大卒労働者と高卒労働者 の人数（</a:t>
            </a:r>
            <a:r>
              <a:rPr lang="en-US" altLang="ja-JP" b="1" dirty="0"/>
              <a:t>1 </a:t>
            </a:r>
            <a:r>
              <a:rPr lang="ja-JP" altLang="en-US" b="1" dirty="0"/>
              <a:t>日当たり</a:t>
            </a:r>
            <a:r>
              <a:rPr lang="ja-JP" altLang="en-US" dirty="0"/>
              <a:t>）</a:t>
            </a:r>
          </a:p>
        </p:txBody>
      </p:sp>
    </p:spTree>
    <p:extLst>
      <p:ext uri="{BB962C8B-B14F-4D97-AF65-F5344CB8AC3E}">
        <p14:creationId xmlns:p14="http://schemas.microsoft.com/office/powerpoint/2010/main" val="203296885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F1502E-4424-7034-5AAC-2D6A0F2C67FA}"/>
              </a:ext>
            </a:extLst>
          </p:cNvPr>
          <p:cNvSpPr>
            <a:spLocks noGrp="1"/>
          </p:cNvSpPr>
          <p:nvPr>
            <p:ph type="title"/>
          </p:nvPr>
        </p:nvSpPr>
        <p:spPr/>
        <p:txBody>
          <a:bodyPr/>
          <a:lstStyle/>
          <a:p>
            <a:r>
              <a:rPr lang="ja-JP" altLang="en-US" dirty="0"/>
              <a:t>完全競争</a:t>
            </a:r>
            <a:endParaRPr kumimoji="1" lang="ja-JP" altLang="en-US" dirty="0"/>
          </a:p>
        </p:txBody>
      </p:sp>
      <p:sp>
        <p:nvSpPr>
          <p:cNvPr id="3" name="テキスト プレースホルダー 2">
            <a:extLst>
              <a:ext uri="{FF2B5EF4-FFF2-40B4-BE49-F238E27FC236}">
                <a16:creationId xmlns:a16="http://schemas.microsoft.com/office/drawing/2014/main" id="{DB98D1AB-0A36-0FB1-DED6-32EF5B9436A2}"/>
              </a:ext>
            </a:extLst>
          </p:cNvPr>
          <p:cNvSpPr>
            <a:spLocks noGrp="1"/>
          </p:cNvSpPr>
          <p:nvPr>
            <p:ph type="body" idx="1"/>
          </p:nvPr>
        </p:nvSpPr>
        <p:spPr/>
        <p:txBody>
          <a:bodyPr/>
          <a:lstStyle/>
          <a:p>
            <a:pPr marL="0" indent="0">
              <a:buNone/>
            </a:pPr>
            <a:r>
              <a:rPr lang="ja-JP" altLang="en-US" dirty="0"/>
              <a:t>財市場について完全競争を仮定</a:t>
            </a:r>
            <a:endParaRPr lang="en-US" altLang="ja-JP" dirty="0"/>
          </a:p>
          <a:p>
            <a:pPr marL="0" indent="0">
              <a:buNone/>
            </a:pPr>
            <a:r>
              <a:rPr lang="en-US" altLang="ja-JP" dirty="0">
                <a:sym typeface="Wingdings" panose="05000000000000000000" pitchFamily="2" charset="2"/>
              </a:rPr>
              <a:t></a:t>
            </a:r>
            <a:r>
              <a:rPr lang="ja-JP" altLang="en-US" dirty="0"/>
              <a:t>利潤</a:t>
            </a:r>
            <a:r>
              <a:rPr lang="en-US" altLang="ja-JP" dirty="0"/>
              <a:t>=0</a:t>
            </a:r>
          </a:p>
          <a:p>
            <a:pPr marL="0" indent="0">
              <a:buNone/>
            </a:pPr>
            <a:r>
              <a:rPr lang="en-US" altLang="ja-JP" dirty="0">
                <a:sym typeface="Wingdings" panose="05000000000000000000" pitchFamily="2" charset="2"/>
              </a:rPr>
              <a:t></a:t>
            </a:r>
            <a:r>
              <a:rPr lang="ja-JP" altLang="en-US" dirty="0"/>
              <a:t>財の価格</a:t>
            </a:r>
            <a:r>
              <a:rPr lang="en-US" altLang="ja-JP" dirty="0"/>
              <a:t>=</a:t>
            </a:r>
            <a:r>
              <a:rPr lang="ja-JP" altLang="en-US" dirty="0"/>
              <a:t>財 </a:t>
            </a:r>
            <a:r>
              <a:rPr lang="en-US" altLang="ja-JP" dirty="0"/>
              <a:t>1 </a:t>
            </a:r>
            <a:r>
              <a:rPr lang="ja-JP" altLang="en-US" dirty="0"/>
              <a:t>単位当たりの単位費用</a:t>
            </a:r>
            <a:endParaRPr lang="en-US" altLang="ja-JP" dirty="0"/>
          </a:p>
          <a:p>
            <a:pPr marL="0" indent="0">
              <a:buNone/>
            </a:pPr>
            <a:r>
              <a:rPr lang="ja-JP" altLang="en-US" dirty="0"/>
              <a:t>　したがって，財価格が賃金支払額合計と一致</a:t>
            </a:r>
            <a:endParaRPr lang="en-US" altLang="ja-JP" dirty="0"/>
          </a:p>
        </p:txBody>
      </p:sp>
      <p:sp>
        <p:nvSpPr>
          <p:cNvPr id="4" name="スライド番号プレースホルダー 3">
            <a:extLst>
              <a:ext uri="{FF2B5EF4-FFF2-40B4-BE49-F238E27FC236}">
                <a16:creationId xmlns:a16="http://schemas.microsoft.com/office/drawing/2014/main" id="{BF765093-9D6A-08A0-F4BA-AB9ADA6B2BB6}"/>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38</a:t>
            </a:fld>
            <a:endParaRPr lang="ja-JP" altLang="en-US"/>
          </a:p>
        </p:txBody>
      </p:sp>
    </p:spTree>
    <p:extLst>
      <p:ext uri="{BB962C8B-B14F-4D97-AF65-F5344CB8AC3E}">
        <p14:creationId xmlns:p14="http://schemas.microsoft.com/office/powerpoint/2010/main" val="257057770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C0FEAE-A902-CDB7-C767-BD2BAE0B43FB}"/>
              </a:ext>
            </a:extLst>
          </p:cNvPr>
          <p:cNvSpPr>
            <a:spLocks noGrp="1"/>
          </p:cNvSpPr>
          <p:nvPr>
            <p:ph type="title"/>
          </p:nvPr>
        </p:nvSpPr>
        <p:spPr/>
        <p:txBody>
          <a:bodyPr/>
          <a:lstStyle/>
          <a:p>
            <a:r>
              <a:rPr kumimoji="1" lang="ja-JP" altLang="en-US" dirty="0"/>
              <a:t>ゼロ利潤条件①</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EEB9825F-21B3-6706-779B-460F507ED613}"/>
                  </a:ext>
                </a:extLst>
              </p:cNvPr>
              <p:cNvSpPr>
                <a:spLocks noGrp="1"/>
              </p:cNvSpPr>
              <p:nvPr>
                <p:ph type="body" idx="1"/>
              </p:nvPr>
            </p:nvSpPr>
            <p:spPr/>
            <p:txBody>
              <a:bodyPr>
                <a:normAutofit/>
              </a:bodyPr>
              <a:lstStyle/>
              <a:p>
                <a:pPr marL="0" indent="0">
                  <a:buNone/>
                </a:pPr>
                <a:r>
                  <a:rPr lang="ja-JP" altLang="ja-JP" sz="2800" dirty="0">
                    <a:cs typeface="ＭＳ 明朝" panose="02020609040205080304" pitchFamily="17" charset="-128"/>
                  </a:rPr>
                  <a:t>大卒集約財</a:t>
                </a:r>
                <a:r>
                  <a:rPr lang="ja-JP" altLang="en-US" sz="2800" dirty="0">
                    <a:cs typeface="ＭＳ 明朝" panose="02020609040205080304" pitchFamily="17" charset="-128"/>
                  </a:rPr>
                  <a:t>（</a:t>
                </a:r>
                <a:r>
                  <a:rPr lang="en-US" altLang="ja-JP" sz="2800" dirty="0">
                    <a:cs typeface="ＭＳ 明朝" panose="02020609040205080304" pitchFamily="17" charset="-128"/>
                  </a:rPr>
                  <a:t>PC</a:t>
                </a:r>
                <a:r>
                  <a:rPr lang="ja-JP" altLang="en-US" sz="2800" dirty="0">
                    <a:cs typeface="ＭＳ 明朝" panose="02020609040205080304" pitchFamily="17" charset="-128"/>
                  </a:rPr>
                  <a:t>）</a:t>
                </a:r>
                <a:r>
                  <a:rPr lang="ja-JP" altLang="ja-JP" sz="2800" dirty="0">
                    <a:cs typeface="ＭＳ 明朝" panose="02020609040205080304" pitchFamily="17" charset="-128"/>
                  </a:rPr>
                  <a:t>について</a:t>
                </a:r>
                <a:r>
                  <a:rPr lang="ja-JP" altLang="en-US" sz="2800" dirty="0">
                    <a:cs typeface="ＭＳ 明朝" panose="02020609040205080304" pitchFamily="17" charset="-128"/>
                  </a:rPr>
                  <a:t>，</a:t>
                </a:r>
                <a:endParaRPr lang="ja-JP" altLang="ja-JP" sz="2800" dirty="0"/>
              </a:p>
              <a:p>
                <a:pPr marL="0" indent="0">
                  <a:buNone/>
                </a:pPr>
                <a14:m>
                  <m:oMathPara xmlns:m="http://schemas.openxmlformats.org/officeDocument/2006/math">
                    <m:oMathParaPr>
                      <m:jc m:val="centerGroup"/>
                    </m:oMathParaPr>
                    <m:oMath xmlns:m="http://schemas.openxmlformats.org/officeDocument/2006/math">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2</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𝑟</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+2</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𝑤</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=400</m:t>
                      </m:r>
                    </m:oMath>
                  </m:oMathPara>
                </a14:m>
                <a:endParaRPr lang="ja-JP" altLang="ja-JP" sz="2800" dirty="0"/>
              </a:p>
              <a:p>
                <a:pPr marL="0" indent="0">
                  <a:buNone/>
                </a:pPr>
                <a:r>
                  <a:rPr lang="ja-JP" altLang="ja-JP" sz="2800" dirty="0">
                    <a:cs typeface="ＭＳ 明朝" panose="02020609040205080304" pitchFamily="17" charset="-128"/>
                  </a:rPr>
                  <a:t>が成り立つはずである。式を変形すると</a:t>
                </a:r>
                <a:r>
                  <a:rPr lang="ja-JP" altLang="en-US" sz="2800" dirty="0">
                    <a:cs typeface="ＭＳ 明朝" panose="02020609040205080304" pitchFamily="17" charset="-128"/>
                  </a:rPr>
                  <a:t>，</a:t>
                </a:r>
                <a:endParaRPr lang="en-US" altLang="ja-JP" sz="2800" dirty="0">
                  <a:cs typeface="ＭＳ 明朝" panose="02020609040205080304" pitchFamily="17" charset="-128"/>
                </a:endParaRPr>
              </a:p>
              <a:p>
                <a:pPr marL="0" indent="0">
                  <a:buNone/>
                </a:pPr>
                <a:endParaRPr lang="ja-JP" altLang="ja-JP" sz="2800" dirty="0"/>
              </a:p>
              <a:p>
                <a:pPr marL="0" indent="0">
                  <a:buNone/>
                </a:pPr>
                <a14:m>
                  <m:oMathPara xmlns:m="http://schemas.openxmlformats.org/officeDocument/2006/math">
                    <m:oMathParaPr>
                      <m:jc m:val="centerGroup"/>
                    </m:oMathParaPr>
                    <m:oMath xmlns:m="http://schemas.openxmlformats.org/officeDocument/2006/math">
                      <m:eqArr>
                        <m:eqArrPr>
                          <m:ctrlPr>
                            <a:rPr lang="ja-JP" altLang="ja-JP" sz="2800" i="1">
                              <a:latin typeface="Cambria Math" panose="02040503050406030204" pitchFamily="18" charset="0"/>
                              <a:ea typeface="Cambria Math" panose="02040503050406030204" pitchFamily="18" charset="0"/>
                              <a:cs typeface="ＭＳ 明朝" panose="02020609040205080304" pitchFamily="17" charset="-128"/>
                            </a:rPr>
                          </m:ctrlPr>
                        </m:eqArrPr>
                        <m:e>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𝑤</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𝑟</m:t>
                          </m:r>
                          <m:r>
                            <a:rPr lang="en-US" altLang="ja-JP" sz="2800" i="1">
                              <a:latin typeface="Cambria Math" panose="02040503050406030204" pitchFamily="18" charset="0"/>
                              <a:ea typeface="ＭＳ 明朝" panose="02020609040205080304" pitchFamily="17" charset="-128"/>
                              <a:cs typeface="ＭＳ 明朝" panose="02020609040205080304" pitchFamily="17" charset="-128"/>
                            </a:rPr>
                            <m:t>+200</m:t>
                          </m:r>
                        </m:e>
                      </m:eqArr>
                    </m:oMath>
                  </m:oMathPara>
                </a14:m>
                <a:endParaRPr lang="ja-JP" altLang="ja-JP" sz="2800" dirty="0"/>
              </a:p>
              <a:p>
                <a:pPr marL="0" indent="0">
                  <a:buNone/>
                </a:pPr>
                <a:r>
                  <a:rPr lang="ja-JP" altLang="ja-JP" sz="2800" dirty="0">
                    <a:cs typeface="ＭＳ 明朝" panose="02020609040205080304" pitchFamily="17" charset="-128"/>
                  </a:rPr>
                  <a:t>が得られる（</a:t>
                </a:r>
                <a:r>
                  <a:rPr lang="en-US" altLang="ja-JP" sz="2800" dirty="0">
                    <a:cs typeface="ＭＳ 明朝" panose="02020609040205080304" pitchFamily="17" charset="-128"/>
                  </a:rPr>
                  <a:t>PC</a:t>
                </a:r>
                <a:r>
                  <a:rPr lang="ja-JP" altLang="ja-JP" sz="2800" dirty="0">
                    <a:cs typeface="ＭＳ 明朝" panose="02020609040205080304" pitchFamily="17" charset="-128"/>
                  </a:rPr>
                  <a:t>のゼロ利潤条件式）</a:t>
                </a:r>
                <a:endParaRPr kumimoji="1" lang="ja-JP" altLang="en-US" sz="4400" dirty="0"/>
              </a:p>
            </p:txBody>
          </p:sp>
        </mc:Choice>
        <mc:Fallback xmlns="">
          <p:sp>
            <p:nvSpPr>
              <p:cNvPr id="3" name="テキスト プレースホルダー 2">
                <a:extLst>
                  <a:ext uri="{FF2B5EF4-FFF2-40B4-BE49-F238E27FC236}">
                    <a16:creationId xmlns:a16="http://schemas.microsoft.com/office/drawing/2014/main" id="{EEB9825F-21B3-6706-779B-460F507ED613}"/>
                  </a:ext>
                </a:extLst>
              </p:cNvPr>
              <p:cNvSpPr>
                <a:spLocks noGrp="1" noRot="1" noChangeAspect="1" noMove="1" noResize="1" noEditPoints="1" noAdjustHandles="1" noChangeArrowheads="1" noChangeShapeType="1" noTextEdit="1"/>
              </p:cNvSpPr>
              <p:nvPr>
                <p:ph type="body" idx="1"/>
              </p:nvPr>
            </p:nvSpPr>
            <p:spPr>
              <a:blipFill>
                <a:blip r:embed="rId2"/>
                <a:stretch>
                  <a:fillRect l="-1483"/>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31CAB4D-9C74-3D4E-E4D0-01B5653F5837}"/>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39</a:t>
            </a:fld>
            <a:endParaRPr lang="ja-JP" altLang="en-US"/>
          </a:p>
        </p:txBody>
      </p:sp>
    </p:spTree>
    <p:extLst>
      <p:ext uri="{BB962C8B-B14F-4D97-AF65-F5344CB8AC3E}">
        <p14:creationId xmlns:p14="http://schemas.microsoft.com/office/powerpoint/2010/main" val="164090998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C0FEAE-A902-CDB7-C767-BD2BAE0B43FB}"/>
              </a:ext>
            </a:extLst>
          </p:cNvPr>
          <p:cNvSpPr>
            <a:spLocks noGrp="1"/>
          </p:cNvSpPr>
          <p:nvPr>
            <p:ph type="title"/>
          </p:nvPr>
        </p:nvSpPr>
        <p:spPr/>
        <p:txBody>
          <a:bodyPr/>
          <a:lstStyle/>
          <a:p>
            <a:r>
              <a:rPr kumimoji="1" lang="ja-JP" altLang="en-US" dirty="0"/>
              <a:t>ゼロ利潤条件②</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EEB9825F-21B3-6706-779B-460F507ED613}"/>
                  </a:ext>
                </a:extLst>
              </p:cNvPr>
              <p:cNvSpPr>
                <a:spLocks noGrp="1"/>
              </p:cNvSpPr>
              <p:nvPr>
                <p:ph type="body" idx="1"/>
              </p:nvPr>
            </p:nvSpPr>
            <p:spPr/>
            <p:txBody>
              <a:bodyPr>
                <a:normAutofit/>
              </a:bodyPr>
              <a:lstStyle/>
              <a:p>
                <a:pPr marL="0" indent="0">
                  <a:buNone/>
                </a:pPr>
                <a:r>
                  <a:rPr lang="ja-JP" altLang="en-US" sz="3600" dirty="0">
                    <a:cs typeface="ＭＳ 明朝" panose="02020609040205080304" pitchFamily="17" charset="-128"/>
                  </a:rPr>
                  <a:t>高卒集約財（</a:t>
                </a:r>
                <a:r>
                  <a:rPr lang="ja-JP" altLang="ja-JP" sz="3600" dirty="0">
                    <a:cs typeface="ＭＳ 明朝" panose="02020609040205080304" pitchFamily="17" charset="-128"/>
                  </a:rPr>
                  <a:t>衣服</a:t>
                </a:r>
                <a:r>
                  <a:rPr lang="ja-JP" altLang="en-US" sz="3600" dirty="0">
                    <a:cs typeface="ＭＳ 明朝" panose="02020609040205080304" pitchFamily="17" charset="-128"/>
                  </a:rPr>
                  <a:t>）</a:t>
                </a:r>
                <a:r>
                  <a:rPr lang="ja-JP" altLang="ja-JP" sz="3600" dirty="0">
                    <a:cs typeface="ＭＳ 明朝" panose="02020609040205080304" pitchFamily="17" charset="-128"/>
                  </a:rPr>
                  <a:t>について</a:t>
                </a:r>
                <a:r>
                  <a:rPr lang="ja-JP" altLang="en-US" sz="3600" dirty="0">
                    <a:cs typeface="ＭＳ 明朝" panose="02020609040205080304" pitchFamily="17" charset="-128"/>
                  </a:rPr>
                  <a:t>，</a:t>
                </a:r>
                <a:endParaRPr lang="ja-JP" altLang="ja-JP" sz="3600" dirty="0"/>
              </a:p>
              <a:p>
                <a:pPr marL="0" indent="0">
                  <a:buNone/>
                </a:pPr>
                <a14:m>
                  <m:oMathPara xmlns:m="http://schemas.openxmlformats.org/officeDocument/2006/math">
                    <m:oMathParaPr>
                      <m:jc m:val="centerGroup"/>
                    </m:oMathParaPr>
                    <m:oMath xmlns:m="http://schemas.openxmlformats.org/officeDocument/2006/math">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𝑟</m:t>
                      </m:r>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+3</m:t>
                      </m:r>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𝑤</m:t>
                      </m:r>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=300</m:t>
                      </m:r>
                    </m:oMath>
                  </m:oMathPara>
                </a14:m>
                <a:endParaRPr lang="ja-JP" altLang="ja-JP" sz="3600" dirty="0"/>
              </a:p>
              <a:p>
                <a:pPr marL="0" indent="0">
                  <a:buNone/>
                </a:pPr>
                <a:r>
                  <a:rPr lang="en-US" altLang="ja-JP" sz="3600" dirty="0">
                    <a:cs typeface="ＭＳ 明朝" panose="02020609040205080304" pitchFamily="17" charset="-128"/>
                  </a:rPr>
                  <a:t> </a:t>
                </a:r>
                <a:r>
                  <a:rPr lang="ja-JP" altLang="ja-JP" sz="3600" dirty="0">
                    <a:cs typeface="ＭＳ 明朝" panose="02020609040205080304" pitchFamily="17" charset="-128"/>
                  </a:rPr>
                  <a:t>が成り立つはずである。式を変形すると</a:t>
                </a:r>
                <a:r>
                  <a:rPr lang="ja-JP" altLang="en-US" sz="3600" dirty="0">
                    <a:cs typeface="ＭＳ 明朝" panose="02020609040205080304" pitchFamily="17" charset="-128"/>
                  </a:rPr>
                  <a:t>，</a:t>
                </a:r>
                <a:endParaRPr lang="ja-JP" altLang="ja-JP" sz="3600" dirty="0"/>
              </a:p>
              <a:p>
                <a:pPr marL="0" indent="0">
                  <a:buNone/>
                </a:pPr>
                <a14:m>
                  <m:oMathPara xmlns:m="http://schemas.openxmlformats.org/officeDocument/2006/math">
                    <m:oMathParaPr>
                      <m:jc m:val="centerGroup"/>
                    </m:oMathParaPr>
                    <m:oMath xmlns:m="http://schemas.openxmlformats.org/officeDocument/2006/math">
                      <m:eqArr>
                        <m:eqArrPr>
                          <m:ctrlPr>
                            <a:rPr lang="ja-JP" altLang="ja-JP" sz="3600" i="1">
                              <a:latin typeface="Cambria Math" panose="02040503050406030204" pitchFamily="18" charset="0"/>
                              <a:ea typeface="Cambria Math" panose="02040503050406030204" pitchFamily="18" charset="0"/>
                              <a:cs typeface="ＭＳ 明朝" panose="02020609040205080304" pitchFamily="17" charset="-128"/>
                            </a:rPr>
                          </m:ctrlPr>
                        </m:eqArrPr>
                        <m:e>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𝑤</m:t>
                          </m:r>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m:t>
                          </m:r>
                          <m:f>
                            <m:fPr>
                              <m:ctrlPr>
                                <a:rPr lang="ja-JP" altLang="ja-JP" sz="3600" i="1">
                                  <a:latin typeface="Cambria Math" panose="02040503050406030204" pitchFamily="18" charset="0"/>
                                  <a:ea typeface="Cambria Math" panose="02040503050406030204" pitchFamily="18" charset="0"/>
                                  <a:cs typeface="ＭＳ 明朝" panose="02020609040205080304" pitchFamily="17" charset="-128"/>
                                </a:rPr>
                              </m:ctrlPr>
                            </m:fPr>
                            <m:num>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1</m:t>
                              </m:r>
                            </m:num>
                            <m:den>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3</m:t>
                              </m:r>
                            </m:den>
                          </m:f>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𝑟</m:t>
                          </m:r>
                          <m:r>
                            <a:rPr lang="en-US" altLang="ja-JP" sz="3600" i="1">
                              <a:latin typeface="Cambria Math" panose="02040503050406030204" pitchFamily="18" charset="0"/>
                              <a:ea typeface="ＭＳ 明朝" panose="02020609040205080304" pitchFamily="17" charset="-128"/>
                              <a:cs typeface="ＭＳ 明朝" panose="02020609040205080304" pitchFamily="17" charset="-128"/>
                            </a:rPr>
                            <m:t>+100#</m:t>
                          </m:r>
                        </m:e>
                      </m:eqArr>
                    </m:oMath>
                  </m:oMathPara>
                </a14:m>
                <a:endParaRPr lang="ja-JP" altLang="ja-JP" sz="3600" dirty="0"/>
              </a:p>
              <a:p>
                <a:pPr marL="0" indent="0">
                  <a:buNone/>
                </a:pPr>
                <a:r>
                  <a:rPr lang="en-US" altLang="ja-JP" sz="3600" dirty="0">
                    <a:cs typeface="ＭＳ 明朝" panose="02020609040205080304" pitchFamily="17" charset="-128"/>
                  </a:rPr>
                  <a:t> </a:t>
                </a:r>
                <a:r>
                  <a:rPr lang="ja-JP" altLang="ja-JP" sz="3600" dirty="0">
                    <a:cs typeface="ＭＳ 明朝" panose="02020609040205080304" pitchFamily="17" charset="-128"/>
                  </a:rPr>
                  <a:t>が得られる（衣服のゼロ利潤条件式）</a:t>
                </a:r>
                <a:endParaRPr kumimoji="1" lang="ja-JP" altLang="en-US" sz="7200" dirty="0"/>
              </a:p>
            </p:txBody>
          </p:sp>
        </mc:Choice>
        <mc:Fallback xmlns="">
          <p:sp>
            <p:nvSpPr>
              <p:cNvPr id="3" name="テキスト プレースホルダー 2">
                <a:extLst>
                  <a:ext uri="{FF2B5EF4-FFF2-40B4-BE49-F238E27FC236}">
                    <a16:creationId xmlns:a16="http://schemas.microsoft.com/office/drawing/2014/main" id="{EEB9825F-21B3-6706-779B-460F507ED613}"/>
                  </a:ext>
                </a:extLst>
              </p:cNvPr>
              <p:cNvSpPr>
                <a:spLocks noGrp="1" noRot="1" noChangeAspect="1" noMove="1" noResize="1" noEditPoints="1" noAdjustHandles="1" noChangeArrowheads="1" noChangeShapeType="1" noTextEdit="1"/>
              </p:cNvSpPr>
              <p:nvPr>
                <p:ph type="body" idx="1"/>
              </p:nvPr>
            </p:nvSpPr>
            <p:spPr>
              <a:blipFill>
                <a:blip r:embed="rId2"/>
                <a:stretch>
                  <a:fillRect l="-2032"/>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31CAB4D-9C74-3D4E-E4D0-01B5653F5837}"/>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40</a:t>
            </a:fld>
            <a:endParaRPr lang="ja-JP" altLang="en-US"/>
          </a:p>
        </p:txBody>
      </p:sp>
    </p:spTree>
    <p:extLst>
      <p:ext uri="{BB962C8B-B14F-4D97-AF65-F5344CB8AC3E}">
        <p14:creationId xmlns:p14="http://schemas.microsoft.com/office/powerpoint/2010/main" val="394315636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B724ED9-709F-DE6C-26CC-0AD00864A70F}"/>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41</a:t>
            </a:fld>
            <a:endParaRPr lang="ja-JP" altLang="en-US"/>
          </a:p>
        </p:txBody>
      </p:sp>
      <p:pic>
        <p:nvPicPr>
          <p:cNvPr id="6" name="図 5">
            <a:extLst>
              <a:ext uri="{FF2B5EF4-FFF2-40B4-BE49-F238E27FC236}">
                <a16:creationId xmlns:a16="http://schemas.microsoft.com/office/drawing/2014/main" id="{8643F66E-0649-38E4-CCCC-30BF5F928863}"/>
              </a:ext>
            </a:extLst>
          </p:cNvPr>
          <p:cNvPicPr>
            <a:picLocks noChangeAspect="1"/>
          </p:cNvPicPr>
          <p:nvPr/>
        </p:nvPicPr>
        <p:blipFill>
          <a:blip r:embed="rId2"/>
          <a:stretch>
            <a:fillRect/>
          </a:stretch>
        </p:blipFill>
        <p:spPr>
          <a:xfrm>
            <a:off x="2648100" y="641297"/>
            <a:ext cx="12010636" cy="7954063"/>
          </a:xfrm>
          <a:prstGeom prst="rect">
            <a:avLst/>
          </a:prstGeom>
        </p:spPr>
      </p:pic>
    </p:spTree>
    <p:extLst>
      <p:ext uri="{BB962C8B-B14F-4D97-AF65-F5344CB8AC3E}">
        <p14:creationId xmlns:p14="http://schemas.microsoft.com/office/powerpoint/2010/main" val="2746874757"/>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1095EE-A6DB-2AE2-84CA-D755FA79D1CA}"/>
              </a:ext>
            </a:extLst>
          </p:cNvPr>
          <p:cNvSpPr>
            <a:spLocks noGrp="1"/>
          </p:cNvSpPr>
          <p:nvPr>
            <p:ph type="title"/>
          </p:nvPr>
        </p:nvSpPr>
        <p:spPr/>
        <p:txBody>
          <a:bodyPr>
            <a:noAutofit/>
          </a:bodyPr>
          <a:lstStyle/>
          <a:p>
            <a:r>
              <a:rPr lang="ja-JP" altLang="en-US" sz="6600" dirty="0"/>
              <a:t>要素価格均等化定理の仕組み</a:t>
            </a:r>
            <a:endParaRPr kumimoji="1" lang="ja-JP" altLang="en-US" sz="6600" dirty="0"/>
          </a:p>
        </p:txBody>
      </p:sp>
      <p:sp>
        <p:nvSpPr>
          <p:cNvPr id="3" name="テキスト プレースホルダー 2">
            <a:extLst>
              <a:ext uri="{FF2B5EF4-FFF2-40B4-BE49-F238E27FC236}">
                <a16:creationId xmlns:a16="http://schemas.microsoft.com/office/drawing/2014/main" id="{D6BF1296-E423-2E3F-5A42-87503D3F7F58}"/>
              </a:ext>
            </a:extLst>
          </p:cNvPr>
          <p:cNvSpPr>
            <a:spLocks noGrp="1"/>
          </p:cNvSpPr>
          <p:nvPr>
            <p:ph type="body" idx="1"/>
          </p:nvPr>
        </p:nvSpPr>
        <p:spPr/>
        <p:txBody>
          <a:bodyPr/>
          <a:lstStyle/>
          <a:p>
            <a:pPr marL="0" indent="0">
              <a:buNone/>
            </a:pPr>
            <a:r>
              <a:rPr kumimoji="1" lang="ja-JP" altLang="en-US" dirty="0"/>
              <a:t>大卒豊富国であるアメリカは，メキシコに比べて，</a:t>
            </a:r>
            <a:endParaRPr kumimoji="1" lang="en-US" altLang="ja-JP" dirty="0"/>
          </a:p>
          <a:p>
            <a:pPr marL="0" indent="0">
              <a:buNone/>
            </a:pPr>
            <a:r>
              <a:rPr kumimoji="1" lang="ja-JP" altLang="en-US" dirty="0"/>
              <a:t>貿易前，</a:t>
            </a:r>
            <a:r>
              <a:rPr kumimoji="1" lang="en-US" altLang="ja-JP" dirty="0"/>
              <a:t>PC</a:t>
            </a:r>
            <a:r>
              <a:rPr kumimoji="1" lang="ja-JP" altLang="en-US" dirty="0"/>
              <a:t>の相対価格が低く，衣服の相対価格は高い。</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アメリカが</a:t>
            </a:r>
            <a:r>
              <a:rPr kumimoji="1" lang="ja-JP" altLang="en-US" dirty="0"/>
              <a:t>メキシコに</a:t>
            </a:r>
            <a:r>
              <a:rPr kumimoji="1" lang="en-US" altLang="ja-JP" dirty="0"/>
              <a:t>PC</a:t>
            </a:r>
            <a:r>
              <a:rPr kumimoji="1" lang="ja-JP" altLang="en-US" dirty="0"/>
              <a:t>を輸出し，</a:t>
            </a:r>
            <a:endParaRPr kumimoji="1" lang="en-US" altLang="ja-JP" dirty="0"/>
          </a:p>
          <a:p>
            <a:pPr marL="0" indent="0">
              <a:buNone/>
            </a:pPr>
            <a:r>
              <a:rPr kumimoji="1" lang="ja-JP" altLang="en-US" dirty="0"/>
              <a:t>　　メキシコがアメリカに衣服輸出</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次第に，両国の価格差は縮小。</a:t>
            </a:r>
            <a:endParaRPr kumimoji="1" lang="en-US" altLang="ja-JP" dirty="0">
              <a:sym typeface="Wingdings" panose="05000000000000000000" pitchFamily="2" charset="2"/>
            </a:endParaRPr>
          </a:p>
          <a:p>
            <a:pPr marL="0" indent="0">
              <a:buNone/>
            </a:pPr>
            <a:r>
              <a:rPr kumimoji="1" lang="ja-JP" altLang="en-US" dirty="0">
                <a:sym typeface="Wingdings" panose="05000000000000000000" pitchFamily="2" charset="2"/>
              </a:rPr>
              <a:t>輸送費など無視すれば，価格差が消滅するまで貿易が行われる。</a:t>
            </a:r>
            <a:endParaRPr kumimoji="1" lang="ja-JP" altLang="en-US" dirty="0"/>
          </a:p>
        </p:txBody>
      </p:sp>
      <p:sp>
        <p:nvSpPr>
          <p:cNvPr id="4" name="スライド番号プレースホルダー 3">
            <a:extLst>
              <a:ext uri="{FF2B5EF4-FFF2-40B4-BE49-F238E27FC236}">
                <a16:creationId xmlns:a16="http://schemas.microsoft.com/office/drawing/2014/main" id="{AF3AEB65-25AD-6972-4A4C-89C6EAC97EAE}"/>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42</a:t>
            </a:fld>
            <a:endParaRPr lang="ja-JP" altLang="en-US"/>
          </a:p>
        </p:txBody>
      </p:sp>
    </p:spTree>
    <p:extLst>
      <p:ext uri="{BB962C8B-B14F-4D97-AF65-F5344CB8AC3E}">
        <p14:creationId xmlns:p14="http://schemas.microsoft.com/office/powerpoint/2010/main" val="267938157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85EA22-817D-59E3-BB11-3FF85B28947E}"/>
              </a:ext>
            </a:extLst>
          </p:cNvPr>
          <p:cNvSpPr>
            <a:spLocks noGrp="1"/>
          </p:cNvSpPr>
          <p:nvPr>
            <p:ph type="title"/>
          </p:nvPr>
        </p:nvSpPr>
        <p:spPr/>
        <p:txBody>
          <a:bodyPr/>
          <a:lstStyle/>
          <a:p>
            <a:r>
              <a:rPr lang="ja-JP" altLang="en-US" dirty="0"/>
              <a:t>要素価格均等化定理</a:t>
            </a:r>
            <a:endParaRPr kumimoji="1" lang="ja-JP" altLang="en-US" dirty="0"/>
          </a:p>
        </p:txBody>
      </p:sp>
      <p:sp>
        <p:nvSpPr>
          <p:cNvPr id="3" name="テキスト プレースホルダー 2">
            <a:extLst>
              <a:ext uri="{FF2B5EF4-FFF2-40B4-BE49-F238E27FC236}">
                <a16:creationId xmlns:a16="http://schemas.microsoft.com/office/drawing/2014/main" id="{858C81DE-8366-A967-2E04-587C110258D8}"/>
              </a:ext>
            </a:extLst>
          </p:cNvPr>
          <p:cNvSpPr>
            <a:spLocks noGrp="1"/>
          </p:cNvSpPr>
          <p:nvPr>
            <p:ph type="body" idx="1"/>
          </p:nvPr>
        </p:nvSpPr>
        <p:spPr/>
        <p:txBody>
          <a:bodyPr>
            <a:normAutofit/>
          </a:bodyPr>
          <a:lstStyle/>
          <a:p>
            <a:pPr marL="0" indent="0">
              <a:buNone/>
            </a:pPr>
            <a:r>
              <a:rPr kumimoji="1" lang="en-US" altLang="ja-JP" dirty="0">
                <a:sym typeface="Wingdings" panose="05000000000000000000" pitchFamily="2" charset="2"/>
              </a:rPr>
              <a:t></a:t>
            </a:r>
            <a:r>
              <a:rPr kumimoji="1" lang="ja-JP" altLang="en-US" dirty="0"/>
              <a:t>貿易を通じて，アメリカとメキシコの間で財価格が均等化</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ゼロ利潤条件式が両国で同一になる</a:t>
            </a:r>
            <a:endParaRPr kumimoji="1" lang="en-US" altLang="ja-JP" dirty="0">
              <a:sym typeface="Wingdings" panose="05000000000000000000" pitchFamily="2" charset="2"/>
            </a:endParaRPr>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均衡要素価格が両国で同一になる</a:t>
            </a:r>
            <a:endParaRPr kumimoji="1" lang="en-US" altLang="ja-JP" dirty="0">
              <a:sym typeface="Wingdings" panose="05000000000000000000" pitchFamily="2" charset="2"/>
            </a:endParaRPr>
          </a:p>
          <a:p>
            <a:pPr marL="0" indent="0">
              <a:buNone/>
            </a:pPr>
            <a:endParaRPr lang="en-US" altLang="ja-JP" dirty="0"/>
          </a:p>
          <a:p>
            <a:pPr marL="0" indent="0">
              <a:buNone/>
            </a:pPr>
            <a:r>
              <a:rPr lang="ja-JP" altLang="en-US" b="1" dirty="0"/>
              <a:t>要素価格均等化定理</a:t>
            </a:r>
            <a:endParaRPr lang="en-US" altLang="ja-JP" b="1" dirty="0"/>
          </a:p>
          <a:p>
            <a:pPr marL="0" indent="0">
              <a:buNone/>
            </a:pPr>
            <a:r>
              <a:rPr lang="ja-JP" altLang="en-US" dirty="0"/>
              <a:t>「財の貿易が行われると，生産要素価格も各国間で均等化する」</a:t>
            </a:r>
            <a:endParaRPr kumimoji="1" lang="ja-JP" altLang="en-US" dirty="0"/>
          </a:p>
        </p:txBody>
      </p:sp>
      <p:sp>
        <p:nvSpPr>
          <p:cNvPr id="4" name="スライド番号プレースホルダー 3">
            <a:extLst>
              <a:ext uri="{FF2B5EF4-FFF2-40B4-BE49-F238E27FC236}">
                <a16:creationId xmlns:a16="http://schemas.microsoft.com/office/drawing/2014/main" id="{671C129B-F985-3B83-6BAE-119C03C46962}"/>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43</a:t>
            </a:fld>
            <a:endParaRPr lang="ja-JP" altLang="en-US"/>
          </a:p>
        </p:txBody>
      </p:sp>
    </p:spTree>
    <p:extLst>
      <p:ext uri="{BB962C8B-B14F-4D97-AF65-F5344CB8AC3E}">
        <p14:creationId xmlns:p14="http://schemas.microsoft.com/office/powerpoint/2010/main" val="456729714"/>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E3325E-7CD6-23BC-FD01-BB9A1A8E5DA9}"/>
              </a:ext>
            </a:extLst>
          </p:cNvPr>
          <p:cNvSpPr>
            <a:spLocks noGrp="1"/>
          </p:cNvSpPr>
          <p:nvPr>
            <p:ph type="title"/>
          </p:nvPr>
        </p:nvSpPr>
        <p:spPr/>
        <p:txBody>
          <a:bodyPr>
            <a:noAutofit/>
          </a:bodyPr>
          <a:lstStyle/>
          <a:p>
            <a:r>
              <a:rPr kumimoji="1" lang="ja-JP" altLang="en-US" sz="6000" dirty="0"/>
              <a:t>財価格の変化とゼロ利潤条件</a:t>
            </a:r>
          </a:p>
        </p:txBody>
      </p:sp>
      <p:sp>
        <p:nvSpPr>
          <p:cNvPr id="3" name="テキスト プレースホルダー 2">
            <a:extLst>
              <a:ext uri="{FF2B5EF4-FFF2-40B4-BE49-F238E27FC236}">
                <a16:creationId xmlns:a16="http://schemas.microsoft.com/office/drawing/2014/main" id="{4E11C998-10F5-6A69-A625-4D53F72C7776}"/>
              </a:ext>
            </a:extLst>
          </p:cNvPr>
          <p:cNvSpPr>
            <a:spLocks noGrp="1"/>
          </p:cNvSpPr>
          <p:nvPr>
            <p:ph type="body" idx="1"/>
          </p:nvPr>
        </p:nvSpPr>
        <p:spPr>
          <a:xfrm>
            <a:off x="3120231" y="2590800"/>
            <a:ext cx="11099800" cy="1184366"/>
          </a:xfrm>
        </p:spPr>
        <p:txBody>
          <a:bodyPr/>
          <a:lstStyle/>
          <a:p>
            <a:pPr marL="0" indent="0">
              <a:buNone/>
            </a:pPr>
            <a:r>
              <a:rPr kumimoji="1" lang="en-US" altLang="ja-JP" dirty="0"/>
              <a:t>PC</a:t>
            </a:r>
            <a:r>
              <a:rPr kumimoji="1" lang="ja-JP" altLang="en-US" dirty="0"/>
              <a:t>をメキシコに輸出することで，アメリカにおける</a:t>
            </a:r>
            <a:r>
              <a:rPr kumimoji="1" lang="en-US" altLang="ja-JP" dirty="0"/>
              <a:t>PC</a:t>
            </a:r>
            <a:r>
              <a:rPr kumimoji="1" lang="ja-JP" altLang="en-US" dirty="0"/>
              <a:t>の価格が</a:t>
            </a:r>
            <a:r>
              <a:rPr lang="en-US" altLang="ja-JP" dirty="0"/>
              <a:t>400 </a:t>
            </a:r>
            <a:r>
              <a:rPr lang="ja-JP" altLang="en-US" dirty="0"/>
              <a:t>から </a:t>
            </a:r>
            <a:r>
              <a:rPr lang="en-US" altLang="ja-JP" dirty="0"/>
              <a:t>500 </a:t>
            </a:r>
            <a:r>
              <a:rPr lang="ja-JP" altLang="en-US" dirty="0"/>
              <a:t>へ</a:t>
            </a:r>
            <a:r>
              <a:rPr kumimoji="1" lang="ja-JP" altLang="en-US" dirty="0"/>
              <a:t>上昇すると仮定</a:t>
            </a:r>
            <a:endParaRPr kumimoji="1" lang="en-US" altLang="ja-JP" dirty="0"/>
          </a:p>
        </p:txBody>
      </p:sp>
      <p:sp>
        <p:nvSpPr>
          <p:cNvPr id="4" name="スライド番号プレースホルダー 3">
            <a:extLst>
              <a:ext uri="{FF2B5EF4-FFF2-40B4-BE49-F238E27FC236}">
                <a16:creationId xmlns:a16="http://schemas.microsoft.com/office/drawing/2014/main" id="{7B4AAFC0-48D1-326C-1B8E-074ED48DB7EA}"/>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44</a:t>
            </a:fld>
            <a:endParaRPr lang="ja-JP" altLang="en-US"/>
          </a:p>
        </p:txBody>
      </p:sp>
      <p:pic>
        <p:nvPicPr>
          <p:cNvPr id="8" name="図 7">
            <a:extLst>
              <a:ext uri="{FF2B5EF4-FFF2-40B4-BE49-F238E27FC236}">
                <a16:creationId xmlns:a16="http://schemas.microsoft.com/office/drawing/2014/main" id="{65320DD1-17F2-85A1-B3A0-6BFCDC9BC4DF}"/>
              </a:ext>
            </a:extLst>
          </p:cNvPr>
          <p:cNvPicPr>
            <a:picLocks noChangeAspect="1"/>
          </p:cNvPicPr>
          <p:nvPr/>
        </p:nvPicPr>
        <p:blipFill>
          <a:blip r:embed="rId2"/>
          <a:stretch>
            <a:fillRect/>
          </a:stretch>
        </p:blipFill>
        <p:spPr>
          <a:xfrm>
            <a:off x="3302859" y="3955856"/>
            <a:ext cx="8034998" cy="5164777"/>
          </a:xfrm>
          <a:prstGeom prst="rect">
            <a:avLst/>
          </a:prstGeom>
        </p:spPr>
      </p:pic>
    </p:spTree>
    <p:extLst>
      <p:ext uri="{BB962C8B-B14F-4D97-AF65-F5344CB8AC3E}">
        <p14:creationId xmlns:p14="http://schemas.microsoft.com/office/powerpoint/2010/main" val="51257397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E3325E-7CD6-23BC-FD01-BB9A1A8E5DA9}"/>
              </a:ext>
            </a:extLst>
          </p:cNvPr>
          <p:cNvSpPr>
            <a:spLocks noGrp="1"/>
          </p:cNvSpPr>
          <p:nvPr>
            <p:ph type="title"/>
          </p:nvPr>
        </p:nvSpPr>
        <p:spPr/>
        <p:txBody>
          <a:bodyPr>
            <a:noAutofit/>
          </a:bodyPr>
          <a:lstStyle/>
          <a:p>
            <a:r>
              <a:rPr lang="ja-JP" altLang="en-US" sz="6000" dirty="0"/>
              <a:t>ストルパー ＝ サミュエルソン定理</a:t>
            </a:r>
            <a:endParaRPr kumimoji="1" lang="ja-JP" altLang="en-US" sz="6000" dirty="0"/>
          </a:p>
        </p:txBody>
      </p:sp>
      <p:sp>
        <p:nvSpPr>
          <p:cNvPr id="3" name="テキスト プレースホルダー 2">
            <a:extLst>
              <a:ext uri="{FF2B5EF4-FFF2-40B4-BE49-F238E27FC236}">
                <a16:creationId xmlns:a16="http://schemas.microsoft.com/office/drawing/2014/main" id="{4E11C998-10F5-6A69-A625-4D53F72C7776}"/>
              </a:ext>
            </a:extLst>
          </p:cNvPr>
          <p:cNvSpPr>
            <a:spLocks noGrp="1"/>
          </p:cNvSpPr>
          <p:nvPr>
            <p:ph type="body" idx="1"/>
          </p:nvPr>
        </p:nvSpPr>
        <p:spPr/>
        <p:txBody>
          <a:bodyPr/>
          <a:lstStyle/>
          <a:p>
            <a:pPr marL="0" indent="0">
              <a:buNone/>
            </a:pPr>
            <a:r>
              <a:rPr kumimoji="1" lang="en-US" altLang="ja-JP" dirty="0"/>
              <a:t>PC</a:t>
            </a:r>
            <a:r>
              <a:rPr kumimoji="1" lang="ja-JP" altLang="en-US" dirty="0"/>
              <a:t>をメキシコに輸出することで，アメリカにおける</a:t>
            </a:r>
            <a:r>
              <a:rPr kumimoji="1" lang="en-US" altLang="ja-JP" dirty="0"/>
              <a:t>PC</a:t>
            </a:r>
            <a:r>
              <a:rPr kumimoji="1" lang="ja-JP" altLang="en-US" dirty="0"/>
              <a:t>の価格が</a:t>
            </a:r>
            <a:r>
              <a:rPr lang="en-US" altLang="ja-JP" dirty="0"/>
              <a:t>400 </a:t>
            </a:r>
            <a:r>
              <a:rPr lang="ja-JP" altLang="en-US" dirty="0"/>
              <a:t>から </a:t>
            </a:r>
            <a:r>
              <a:rPr lang="en-US" altLang="ja-JP" dirty="0"/>
              <a:t>500 </a:t>
            </a:r>
            <a:r>
              <a:rPr lang="ja-JP" altLang="en-US" dirty="0"/>
              <a:t>へ</a:t>
            </a:r>
            <a:r>
              <a:rPr kumimoji="1" lang="ja-JP" altLang="en-US" dirty="0"/>
              <a:t>上昇すると仮定</a:t>
            </a:r>
            <a:endParaRPr kumimoji="1" lang="en-US" altLang="ja-JP" dirty="0"/>
          </a:p>
          <a:p>
            <a:pPr marL="0" indent="0">
              <a:buNone/>
            </a:pPr>
            <a:r>
              <a:rPr kumimoji="1" lang="en-US" altLang="ja-JP" dirty="0">
                <a:sym typeface="Wingdings" panose="05000000000000000000" pitchFamily="2" charset="2"/>
              </a:rPr>
              <a:t></a:t>
            </a:r>
            <a:r>
              <a:rPr lang="en-US" altLang="ja-JP" dirty="0"/>
              <a:t>PC </a:t>
            </a:r>
            <a:r>
              <a:rPr lang="ja-JP" altLang="en-US" dirty="0"/>
              <a:t>のゼロ利潤式が上にシフト</a:t>
            </a:r>
            <a:endParaRPr lang="en-US" altLang="ja-JP" dirty="0"/>
          </a:p>
          <a:p>
            <a:pPr marL="0" indent="0">
              <a:buNone/>
            </a:pPr>
            <a:r>
              <a:rPr kumimoji="1" lang="en-US" altLang="ja-JP" dirty="0">
                <a:sym typeface="Wingdings" panose="05000000000000000000" pitchFamily="2" charset="2"/>
              </a:rPr>
              <a:t></a:t>
            </a:r>
            <a:r>
              <a:rPr lang="ja-JP" altLang="en-US" dirty="0"/>
              <a:t>大卒賃金が </a:t>
            </a:r>
            <a:r>
              <a:rPr lang="en-US" altLang="ja-JP" dirty="0"/>
              <a:t>150 </a:t>
            </a:r>
            <a:r>
              <a:rPr lang="ja-JP" altLang="en-US" dirty="0"/>
              <a:t>から </a:t>
            </a:r>
            <a:r>
              <a:rPr lang="en-US" altLang="ja-JP" dirty="0"/>
              <a:t>225 </a:t>
            </a:r>
            <a:r>
              <a:rPr lang="ja-JP" altLang="en-US" dirty="0"/>
              <a:t>へ上昇</a:t>
            </a:r>
            <a:endParaRPr lang="en-US" altLang="ja-JP" dirty="0"/>
          </a:p>
          <a:p>
            <a:pPr marL="0" indent="0">
              <a:buNone/>
            </a:pPr>
            <a:r>
              <a:rPr lang="ja-JP" altLang="en-US" dirty="0"/>
              <a:t>　　高卒賃金は </a:t>
            </a:r>
            <a:r>
              <a:rPr lang="en-US" altLang="ja-JP" dirty="0"/>
              <a:t>50 </a:t>
            </a:r>
            <a:r>
              <a:rPr lang="ja-JP" altLang="en-US" dirty="0"/>
              <a:t>から </a:t>
            </a:r>
            <a:r>
              <a:rPr lang="en-US" altLang="ja-JP" dirty="0"/>
              <a:t>25 </a:t>
            </a:r>
            <a:r>
              <a:rPr lang="ja-JP" altLang="en-US" dirty="0"/>
              <a:t>へ下落</a:t>
            </a:r>
            <a:endParaRPr kumimoji="1" lang="en-US" altLang="ja-JP" dirty="0"/>
          </a:p>
          <a:p>
            <a:pPr marL="0" indent="0">
              <a:buNone/>
            </a:pPr>
            <a:r>
              <a:rPr kumimoji="1" lang="en-US" altLang="ja-JP" dirty="0">
                <a:sym typeface="Wingdings" panose="05000000000000000000" pitchFamily="2" charset="2"/>
              </a:rPr>
              <a:t></a:t>
            </a:r>
            <a:r>
              <a:rPr kumimoji="1" lang="ja-JP" altLang="en-US" dirty="0">
                <a:sym typeface="Wingdings" panose="05000000000000000000" pitchFamily="2" charset="2"/>
              </a:rPr>
              <a:t>大卒と高卒の賃金格差拡大</a:t>
            </a:r>
            <a:endParaRPr kumimoji="1" lang="ja-JP" altLang="en-US" dirty="0"/>
          </a:p>
        </p:txBody>
      </p:sp>
      <p:sp>
        <p:nvSpPr>
          <p:cNvPr id="4" name="スライド番号プレースホルダー 3">
            <a:extLst>
              <a:ext uri="{FF2B5EF4-FFF2-40B4-BE49-F238E27FC236}">
                <a16:creationId xmlns:a16="http://schemas.microsoft.com/office/drawing/2014/main" id="{7B4AAFC0-48D1-326C-1B8E-074ED48DB7EA}"/>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45</a:t>
            </a:fld>
            <a:endParaRPr lang="ja-JP" altLang="en-US"/>
          </a:p>
        </p:txBody>
      </p:sp>
    </p:spTree>
    <p:extLst>
      <p:ext uri="{BB962C8B-B14F-4D97-AF65-F5344CB8AC3E}">
        <p14:creationId xmlns:p14="http://schemas.microsoft.com/office/powerpoint/2010/main" val="262770999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0C90D3-A7A1-4566-04DF-AE2F3A7380E0}"/>
              </a:ext>
            </a:extLst>
          </p:cNvPr>
          <p:cNvSpPr>
            <a:spLocks noGrp="1"/>
          </p:cNvSpPr>
          <p:nvPr>
            <p:ph type="title"/>
          </p:nvPr>
        </p:nvSpPr>
        <p:spPr/>
        <p:txBody>
          <a:bodyPr/>
          <a:lstStyle/>
          <a:p>
            <a:r>
              <a:rPr lang="ja-JP" altLang="en-US" dirty="0"/>
              <a:t>本章の問いの答え</a:t>
            </a:r>
            <a:endParaRPr kumimoji="1" lang="ja-JP" altLang="en-US" dirty="0"/>
          </a:p>
        </p:txBody>
      </p:sp>
      <p:sp>
        <p:nvSpPr>
          <p:cNvPr id="3" name="テキスト プレースホルダー 2">
            <a:extLst>
              <a:ext uri="{FF2B5EF4-FFF2-40B4-BE49-F238E27FC236}">
                <a16:creationId xmlns:a16="http://schemas.microsoft.com/office/drawing/2014/main" id="{6775FAF1-0E50-5E70-E3D4-EC7CBCE3AFDF}"/>
              </a:ext>
            </a:extLst>
          </p:cNvPr>
          <p:cNvSpPr>
            <a:spLocks noGrp="1"/>
          </p:cNvSpPr>
          <p:nvPr>
            <p:ph type="body" idx="1"/>
          </p:nvPr>
        </p:nvSpPr>
        <p:spPr/>
        <p:txBody>
          <a:bodyPr/>
          <a:lstStyle/>
          <a:p>
            <a:pPr marL="0" indent="0">
              <a:buNone/>
            </a:pPr>
            <a:r>
              <a:rPr lang="ja-JP" altLang="en-US" dirty="0"/>
              <a:t>ヘクシャー＝オリーン・モデルでは，貿易により，先進国の国内の賃金格差が拡大することを予測する（ストルパー </a:t>
            </a:r>
            <a:r>
              <a:rPr lang="en-US" altLang="ja-JP" dirty="0"/>
              <a:t>= </a:t>
            </a:r>
            <a:r>
              <a:rPr lang="ja-JP" altLang="en-US" dirty="0"/>
              <a:t>サミュエルソン定理）</a:t>
            </a:r>
            <a:endParaRPr lang="en-US" altLang="ja-JP" dirty="0"/>
          </a:p>
          <a:p>
            <a:pPr marL="0" indent="0">
              <a:buNone/>
            </a:pPr>
            <a:r>
              <a:rPr lang="ja-JP" altLang="en-US" dirty="0"/>
              <a:t>しかし，貿易がアメリカの国内の賃金格差の主原因ではないという実証研究が多数出されている。</a:t>
            </a:r>
            <a:endParaRPr lang="en-US" altLang="ja-JP" dirty="0"/>
          </a:p>
          <a:p>
            <a:pPr marL="0" indent="0">
              <a:buNone/>
            </a:pPr>
            <a:r>
              <a:rPr lang="ja-JP" altLang="en-US" dirty="0"/>
              <a:t>むしろ大卒労働者に有利に働く技術変化 （</a:t>
            </a:r>
            <a:r>
              <a:rPr lang="en-US" altLang="ja-JP" dirty="0"/>
              <a:t>IT</a:t>
            </a:r>
            <a:r>
              <a:rPr lang="ja-JP" altLang="en-US" dirty="0"/>
              <a:t>技術の普及など）がアメリカ国内の賃金格差の大きな要因</a:t>
            </a:r>
            <a:r>
              <a:rPr lang="ja-JP" altLang="en-US"/>
              <a:t>である</a:t>
            </a:r>
            <a:r>
              <a:rPr lang="ja-JP" altLang="en-US" dirty="0"/>
              <a:t>と指摘されてきた。</a:t>
            </a:r>
            <a:endParaRPr kumimoji="1" lang="ja-JP" altLang="en-US" dirty="0"/>
          </a:p>
        </p:txBody>
      </p:sp>
      <p:sp>
        <p:nvSpPr>
          <p:cNvPr id="4" name="スライド番号プレースホルダー 3">
            <a:extLst>
              <a:ext uri="{FF2B5EF4-FFF2-40B4-BE49-F238E27FC236}">
                <a16:creationId xmlns:a16="http://schemas.microsoft.com/office/drawing/2014/main" id="{875FBAE5-A95E-DFEA-18EC-5245D4BE02FD}"/>
              </a:ext>
            </a:extLst>
          </p:cNvPr>
          <p:cNvSpPr>
            <a:spLocks noGrp="1"/>
          </p:cNvSpPr>
          <p:nvPr>
            <p:ph type="sldNum" sz="quarter" idx="2"/>
          </p:nvPr>
        </p:nvSpPr>
        <p:spPr>
          <a:xfrm>
            <a:off x="16618070" y="9296400"/>
            <a:ext cx="330219" cy="348813"/>
          </a:xfrm>
        </p:spPr>
        <p:txBody>
          <a:bodyPr/>
          <a:lstStyle/>
          <a:p>
            <a:fld id="{86CB4B4D-7CA3-9044-876B-883B54F8677D}" type="slidenum">
              <a:rPr lang="en-US" altLang="ja-JP" smtClean="0"/>
              <a:t>46</a:t>
            </a:fld>
            <a:endParaRPr lang="ja-JP" altLang="en-US"/>
          </a:p>
        </p:txBody>
      </p:sp>
    </p:spTree>
    <p:extLst>
      <p:ext uri="{BB962C8B-B14F-4D97-AF65-F5344CB8AC3E}">
        <p14:creationId xmlns:p14="http://schemas.microsoft.com/office/powerpoint/2010/main" val="109305119"/>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ヒラギノ角ゴ ProN W3"/>
        <a:ea typeface="ヒラギノ角ゴ ProN W3"/>
        <a:cs typeface="ヒラギノ角ゴ ProN W3"/>
      </a:majorFont>
      <a:minorFont>
        <a:latin typeface="ヒラギノ角ゴ ProN W3"/>
        <a:ea typeface="ヒラギノ角ゴ ProN W3"/>
        <a:cs typeface="ヒラギノ角ゴ ProN W3"/>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ヒラギノ角ゴ ProN W6"/>
            <a:ea typeface="ヒラギノ角ゴ ProN W6"/>
            <a:cs typeface="ヒラギノ角ゴ ProN W6"/>
            <a:sym typeface="ヒラギノ角ゴ ProN W6"/>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318</TotalTime>
  <Words>2221</Words>
  <Application>Microsoft Macintosh PowerPoint</Application>
  <PresentationFormat>Custom</PresentationFormat>
  <Paragraphs>272</Paragraphs>
  <Slides>46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ＭＳ 明朝</vt:lpstr>
      <vt:lpstr>ＭＳ Ｐゴシック</vt:lpstr>
      <vt:lpstr>ヒラギノ角ゴ ProN W3</vt:lpstr>
      <vt:lpstr>ヒラギノ角ゴ ProN W6</vt:lpstr>
      <vt:lpstr>Cambria Math</vt:lpstr>
      <vt:lpstr>Helvetica Neue Light</vt:lpstr>
      <vt:lpstr>Helvetica Neue Thin</vt:lpstr>
      <vt:lpstr>Wingdings</vt:lpstr>
      <vt:lpstr>White</vt:lpstr>
      <vt:lpstr>第5章 生産要素が貿易を決める</vt:lpstr>
      <vt:lpstr>PowerPoint Presentation</vt:lpstr>
      <vt:lpstr>本章の問い</vt:lpstr>
      <vt:lpstr>1 ヘクシャー ＝ オリーン・モデル</vt:lpstr>
      <vt:lpstr>産業内貿易</vt:lpstr>
      <vt:lpstr>ヘクシャー＝オリーン・モデル </vt:lpstr>
      <vt:lpstr>エリ・ヘクシャー （Eli Heckscher, 1879–1952）</vt:lpstr>
      <vt:lpstr>ベルティル・オリーン （Bertil Ohlin, 1899 –1979）</vt:lpstr>
      <vt:lpstr>生産要素</vt:lpstr>
      <vt:lpstr>2 生産要素と完全雇用条件</vt:lpstr>
      <vt:lpstr>固定技術係数</vt:lpstr>
      <vt:lpstr>資源（生産要素賦存）</vt:lpstr>
      <vt:lpstr>PowerPoint Presentation</vt:lpstr>
      <vt:lpstr>PowerPoint Presentation</vt:lpstr>
      <vt:lpstr>大卒労働者の完全雇用条件</vt:lpstr>
      <vt:lpstr>高卒労働者の完全雇用条件</vt:lpstr>
      <vt:lpstr>アメリカの生産可能性フロンティア</vt:lpstr>
      <vt:lpstr>PowerPoint Presentation</vt:lpstr>
      <vt:lpstr>PowerPoint Presentation</vt:lpstr>
      <vt:lpstr>メキシコの生産可能性フロンティア</vt:lpstr>
      <vt:lpstr>各国の生産量</vt:lpstr>
      <vt:lpstr>限界代替率</vt:lpstr>
      <vt:lpstr>限界代替率と相対価格</vt:lpstr>
      <vt:lpstr>PowerPoint Presentation</vt:lpstr>
      <vt:lpstr>相対価格の違いと貿易</vt:lpstr>
      <vt:lpstr>交易条件</vt:lpstr>
      <vt:lpstr>ヘクシャー = オリーン定理</vt:lpstr>
      <vt:lpstr>貿易</vt:lpstr>
      <vt:lpstr>PowerPoint Presentation</vt:lpstr>
      <vt:lpstr>レオンチェフの逆説</vt:lpstr>
      <vt:lpstr>ワシリー・レオンチェフ （Wassily Leontief, 1905–1999）</vt:lpstr>
      <vt:lpstr>移民</vt:lpstr>
      <vt:lpstr>タデウシュ・リプチンスキー Tadeusz Rybczynski（1923–1998）</vt:lpstr>
      <vt:lpstr>オランダ病</vt:lpstr>
      <vt:lpstr>3 要素価格とゼロ利潤条件</vt:lpstr>
      <vt:lpstr>要素価格</vt:lpstr>
      <vt:lpstr>固定技術係数</vt:lpstr>
      <vt:lpstr>完全競争</vt:lpstr>
      <vt:lpstr>ゼロ利潤条件①</vt:lpstr>
      <vt:lpstr>ゼロ利潤条件②</vt:lpstr>
      <vt:lpstr>PowerPoint Presentation</vt:lpstr>
      <vt:lpstr>要素価格均等化定理の仕組み</vt:lpstr>
      <vt:lpstr>要素価格均等化定理</vt:lpstr>
      <vt:lpstr>財価格の変化とゼロ利潤条件</vt:lpstr>
      <vt:lpstr>ストルパー ＝ サミュエルソン定理</vt:lpstr>
      <vt:lpstr>本章の問いの答え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ヘクシャー=オリーン・モデル</dc:title>
  <cp:lastModifiedBy>Ayumu Tanaka</cp:lastModifiedBy>
  <cp:revision>202</cp:revision>
  <dcterms:modified xsi:type="dcterms:W3CDTF">2026-05-18T23:30:34Z</dcterms:modified>
</cp:coreProperties>
</file>